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【建议用时 0.5 分钟】</a:t>
            </a:r>
          </a:p>
          <a:p>
            <a:r>
              <a:t>自我介绍、报告背景。说明报告面向学术同行，侧重科学问题与技术路线，而非产品介绍。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【建议用时 1 分钟】</a:t>
            </a:r>
          </a:p>
          <a:p>
            <a:r>
              <a:t>简述五部分逻辑：从宏观背景到具体零部件，再到共性技术与前沿，最后给出趋势与研究建议。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【建议用时 0.5 分钟】</a:t>
            </a:r>
          </a:p>
          <a:p>
            <a:r>
              <a:t>本部分回答三个问题：什么是先进制造装备与关键零部件？为什么零部件决定装备？我们处于什么位置？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【建议用时 1.5 分钟】</a:t>
            </a:r>
          </a:p>
          <a:p>
            <a:r>
              <a:t>强调装备的层次性：整机—功能部件—基础零部件。举例说明不同装备门类对零部件需求的差异（机床重精度刚度，机器人重减速器，半导体装备重超精密运动与真空）。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【建议用时 1.5 分钟】</a:t>
            </a:r>
          </a:p>
          <a:p>
            <a:r>
              <a:t>解释“四基”概念（核心基础零部件/元器件、关键基础材料、先进基础工艺、产业技术基础），说明本报告聚焦零部件，但材料与工艺是研发不可分割的部分。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【建议用时 1.5 分钟】</a:t>
            </a:r>
          </a:p>
          <a:p>
            <a:r>
              <a:t>以机床为例讲误差传递：轴承跳动→主轴回转误差→加工表面质量；丝杠导程误差→定位误差。用木桶效应解释可靠性。成本占比数据为行业调研的大致区间。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【建议用时 2 分钟】</a:t>
            </a:r>
          </a:p>
          <a:p>
            <a:r>
              <a:t>逐行讲解。强调：差距主要不在“做不出来”，而在于“精度保持性、批量一致性、寿命”——这些背后是材料、工艺与工程数据积累。数据为公开行业报告区间，提醒听众自行核实最新数据。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【建议用时 1.5 分钟】</a:t>
            </a:r>
          </a:p>
          <a:p>
            <a:r>
              <a:t>快速过时间轴，重点说明04专项和产业基础再造工程的定位差异：前者以整机带动部件，后者直接针对“四基”。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【建议用时 1.5 分钟】</a:t>
            </a:r>
          </a:p>
          <a:p>
            <a:r>
              <a:t>强调多目标耦合：高速与长寿命矛盾、高刚度与低发热矛盾、高精度与低成本矛盾。研发本质是在约束下寻优。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【建议用时 1.5 分钟】</a:t>
            </a:r>
          </a:p>
          <a:p>
            <a:r>
              <a:t>讲 V 模型左侧（需求分解到零件设计）和右侧（零件验证到整机验证）。强调试验数据库与设计知识库的闭环是国外企业最大的壁垒。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【建议用时 0.5 分钟】</a:t>
            </a:r>
          </a:p>
          <a:p>
            <a:r>
              <a:t>本部分逐类剖析八大类零部件：原理与关键指标 → 研发难点 → 国内外水平 → 研究方向。每类 3–4 分钟。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【建议用时 1.5 分钟】</a:t>
            </a:r>
          </a:p>
          <a:p>
            <a:r>
              <a:t>轴承是最典型的“看似简单实则极难”的零部件。先讲分类，再讲为什么难：几十个微米级公差要素同时保证，且要批量一致。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【建议用时 2 分钟】</a:t>
            </a:r>
          </a:p>
          <a:p>
            <a:r>
              <a:t>重点讲三件事：材料（轴承钢纯净度、陶瓷球）、工艺（超精研与波纹度控制）、润滑（油气润滑）。说明为何国产轴承“装上能转”但“跑不长、精度掉得快”。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【建议用时 1.5 分钟】</a:t>
            </a:r>
          </a:p>
          <a:p>
            <a:r>
              <a:t>对比两种非接触支承。气浮：精度极高但刚度低、需洁净气源；磁悬浮：可主动控制但系统复杂。半导体装备（光刻机工件台）大量采用气浮。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【建议用时 1.5 分钟】</a:t>
            </a:r>
          </a:p>
          <a:p>
            <a:r>
              <a:t>用链条图说明每一环节与国际先进水平的差距点，强调它们是乘法关系而不是加法。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【建议用时 2 分钟】</a:t>
            </a:r>
          </a:p>
          <a:p>
            <a:r>
              <a:t>先讲指标体系（精度等级、预压、刚度、DN 值），再讲工艺难点（螺纹磨削、滚道型面、热伸长）。强调国产在中档已有竞争力，高档长行程、大导程、高速是难点。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【建议用时 1.5 分钟】</a:t>
            </a:r>
          </a:p>
          <a:p>
            <a:r>
              <a:t>讲三类减速器的性能特点与应用分工。RV 用于大负载基座关节，谐波用于腕部和协作机器人。强调回差、传动精度、刚度、寿命是核心指标。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【建议用时 2 分钟】</a:t>
            </a:r>
          </a:p>
          <a:p>
            <a:r>
              <a:t>重点讲摆线轮修形、柔轮齿形和疲劳、以及精密装配检测。说明谐波减速器国产替代已较成功，RV 仍有差距，原因在于零件数量多、公差链长、装配选配要求高。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【建议用时 2 分钟】</a:t>
            </a:r>
          </a:p>
          <a:p>
            <a:r>
              <a:t>讲结构组成、主要指标（转速—功率—刚度三角）、研发难点（热、动平衡、轴承寿命、拉刀）。可以结合图示说明电机内置带来的热问题。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【建议用时 1.5 分钟】</a:t>
            </a:r>
          </a:p>
          <a:p>
            <a:r>
              <a:t>对比直驱与传统传动的优劣。直驱的核心挑战是推力波动（齿槽力）、发热、刚度（无减速比放大）与对控制的高要求。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【建议用时 2 分钟】</a:t>
            </a:r>
          </a:p>
          <a:p>
            <a:r>
              <a:t>讲架构、核心算法与生态。强调高端数控系统的差距在工艺软件生态、五轴高端功能可靠性以及用户信任，而不仅是插补算法。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【建议用时 1.5 分钟】</a:t>
            </a:r>
          </a:p>
          <a:p>
            <a:r>
              <a:t>简要讲伺服指标和趋势：高分辨率编码器、高带宽、SiC 功率器件、多轴一体化。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【建议用时 1.5 分钟】</a:t>
            </a:r>
          </a:p>
          <a:p>
            <a:r>
              <a:t>讲电液伺服阀、高压柱塞泵、精密气动元件的指标与难点。强调摩擦副材料、配磨工艺与污染控制是难点所在。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【建议用时 1.5 分钟】</a:t>
            </a:r>
          </a:p>
          <a:p>
            <a:r>
              <a:t>讲光栅、激光干涉、编码器、测头、力传感器。强调光栅制造（刻划、全息）与信号细分是难点，高端几乎被 Heidenhain、Renishaw 垄断。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【建议用时 1.5 分钟】</a:t>
            </a:r>
          </a:p>
          <a:p>
            <a:r>
              <a:t>刀具是消耗品但技术含量极高。讲材料（硬质合金、PCD/CBN、陶瓷）、涂层、几何与国内外格局。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【建议用时 1.5 分钟】</a:t>
            </a:r>
          </a:p>
          <a:p>
            <a:r>
              <a:t>简短但强调重要性。主轴密封失效、润滑不良、冷却不均是现场故障的高频原因。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【建议用时 1.5 分钟】</a:t>
            </a:r>
          </a:p>
          <a:p>
            <a:r>
              <a:t>介绍半导体装备特有的零部件（工件台、真空机械手、静电卡盘等）和机器人新需求（关节模组、灵巧手、触觉）。这是未来十年需求增长最快的方向。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【建议用时 1.5 分钟】</a:t>
            </a:r>
          </a:p>
          <a:p>
            <a:r>
              <a:t>总结第二部分。用表格引导听众看到：不同零部件的瓶颈类型不同（材料主导/工艺主导/软件生态主导），对应的学术介入方式也不同。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【建议用时 0.5 分钟】</a:t>
            </a:r>
          </a:p>
          <a:p>
            <a:r>
              <a:t>本部分抽取第二部分反复出现的共性技术：超精密加工、精密装配、材料与热处理、表面工程、多场耦合设计、可靠性、测试评价、数字化研发。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【建议用时 2 分钟】</a:t>
            </a:r>
          </a:p>
          <a:p>
            <a:r>
              <a:t>讲 Taniguchi 曲线式的精度演进，各类超精密加工方法的适用范围。强调“母机精度决定零件精度”的递归关系。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【建议用时 2 分钟】</a:t>
            </a:r>
          </a:p>
          <a:p>
            <a:r>
              <a:t>强调装配不是简单组合。讲选配、预紧控制、装配误差建模、装配过程监测。举例：成组轴承预紧、减速器回差装配、主轴整体动平衡。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【建议用时 2 分钟】</a:t>
            </a:r>
          </a:p>
          <a:p>
            <a:r>
              <a:t>讲几类关键材料体系与热处理工艺。重点：轴承钢纯净度，渗碳钢的组织控制，陶瓷材料，以及真空热处理与深冷处理。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【建议用时 1.5 分钟】</a:t>
            </a:r>
          </a:p>
          <a:p>
            <a:r>
              <a:t>表面工程是提升零部件寿命的有效途径。讲涂层、表面强化和摩擦学设计。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【建议用时 2 分钟】</a:t>
            </a:r>
          </a:p>
          <a:p>
            <a:r>
              <a:t>讲热—结构—动力学耦合建模、拓扑优化、误差建模与补偿方法。热误差是机床最大误差源，介绍补偿思路。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【建议用时 2 分钟】</a:t>
            </a:r>
          </a:p>
          <a:p>
            <a:r>
              <a:t>讲可靠性设计、试验与评估方法，以 04 专项推动国产数控机床 MTBF 提升为例。强调失效物理与加速试验的重要性。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【建议用时 1.5 分钟】</a:t>
            </a:r>
          </a:p>
          <a:p>
            <a:r>
              <a:t>讲零部件和整机测试手段与标准体系。强调测试能力建设和标准话语权。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【建议用时 1.5 分钟】</a:t>
            </a:r>
          </a:p>
          <a:p>
            <a:r>
              <a:t>简述数字化研发工具链。强调仿真可信度（V&amp;V）和知识库是关键。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【建议用时 0.5 分钟】</a:t>
            </a:r>
          </a:p>
          <a:p>
            <a:r>
              <a:t>本部分面向未来 5–15 年，介绍八大前沿方向。每个方向：技术内涵 → 典型进展 → 科学问题。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【建议用时 1.5 分钟】</a:t>
            </a:r>
          </a:p>
          <a:p>
            <a:r>
              <a:t>总览八大前沿方向，说明它们之间的关联：智能化与AI是横向贯穿，材料与增材是纵向支撑，极端制造是牵引。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【建议用时 2 分钟】</a:t>
            </a:r>
          </a:p>
          <a:p>
            <a:r>
              <a:t>讲智能轴承、智能主轴、智能丝杠、智能刀具的概念与进展（如 SKF 传感轴承、Schaeffler 智能轴承、工业界的智能刀柄）。强调嵌入式传感的空间、供能、信号传输难题。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【建议用时 2 分钟】</a:t>
            </a:r>
          </a:p>
          <a:p>
            <a:r>
              <a:t>讲增材制造对零部件设计的改变：拓扑优化、点阵结构、随形冷却流道、一体化成形、多材料。举例：增材轻量化机器人臂、随形冷却主轴壳体、增材刀体。也要讲局限：精度、表面、疲劳性能、成本。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【建议用时 2 分钟】</a:t>
            </a:r>
          </a:p>
          <a:p>
            <a:r>
              <a:t>讲磁悬浮电主轴、磁悬浮转台、磁悬浮平面电机、超导磁悬浮以及气磁混合支承。重点是半导体与超高速领域的牵引。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【建议用时 2 分钟】</a:t>
            </a:r>
          </a:p>
          <a:p>
            <a:r>
              <a:t>介绍几类有潜力的新材料及其在零部件中的应用前景。也提醒材料从实验室到工程应用的周期长（10–20 年）。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【建议用时 2 分钟】</a:t>
            </a:r>
          </a:p>
          <a:p>
            <a:r>
              <a:t>讲 AI 在设计（生成式、代理模型、PINN）、工艺（参数优化、过程监控）和运维中的应用。强调小样本、可解释、物理一致性是学术难点。谨慎提醒：AI 不能替代机理与试验。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【建议用时 2 分钟】</a:t>
            </a:r>
          </a:p>
          <a:p>
            <a:r>
              <a:t>讲 PHM 技术路线（数据驱动、模型驱动、混合）、数字孪生架构、边缘计算。零部件（轴承、丝杠、减速器）是 PHM 的主要对象。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【建议用时 2 分钟】</a:t>
            </a:r>
          </a:p>
          <a:p>
            <a:r>
              <a:t>讲纳米定位台（压电 + 柔性铰链）、音圈电机、磁致伸缩、形状记忆合金、介电弹性体等新型驱动，以及 MEMS 传感器与微执行器。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【建议用时 2 分钟】</a:t>
            </a:r>
          </a:p>
          <a:p>
            <a:r>
              <a:t>讲光刻机双工件台、EUV 光学、极端环境（真空、低温、辐射）部件。这是最能体现“零部件决定装备”的例子，也是前沿研究的焦点。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【建议用时 1.5 分钟】</a:t>
            </a:r>
          </a:p>
          <a:p>
            <a:r>
              <a:t>讲先进运动控制方法及其在零部件/装备中的应用。强调控制与机械设计协同（机电一体化设计）。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【建议用时 1.5 分钟】</a:t>
            </a:r>
          </a:p>
          <a:p>
            <a:r>
              <a:t>简述绿色制造对零部件的新要求：效率、寿命、再制造、材料回收。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【建议用时 1.5 分钟】</a:t>
            </a:r>
          </a:p>
          <a:p>
            <a:r>
              <a:t>简要展望，明确这些属于远期、不确定性大的方向。鼓励学术界关注。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【建议用时 0.5 分钟】</a:t>
            </a:r>
          </a:p>
          <a:p>
            <a:r>
              <a:t>收束全篇：趋势总结、技术路线图、科学问题清单、产学研建议、总结与讨论。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【建议用时 1.5 分钟】</a:t>
            </a:r>
          </a:p>
          <a:p>
            <a:r>
              <a:t>总结六大趋势，并说明它们如何相互强化（如智能化支撑精密化与可靠性；极端化牵引材料与工艺）。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【建议用时 1.5 分钟】</a:t>
            </a:r>
          </a:p>
          <a:p>
            <a:r>
              <a:t>路线图为报告人基于公开资料的综合判断，供讨论。强调三阶段的不同重点。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【建议用时 2.5 分钟】</a:t>
            </a:r>
          </a:p>
          <a:p>
            <a:r>
              <a:t>这是面向学术听众最重要的一页。逐条简述，鼓励听众从中寻找与自身方向的结合点。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【建议用时 1.5 分钟】</a:t>
            </a:r>
          </a:p>
          <a:p>
            <a:r>
              <a:t>讨论产学研合作的几种有效模式和常见问题，结合国内外经验（如德国 Fraunhofer、WZL 模式；国内创新中心、04 专项“一条龙”）。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【建议用时 1.5 分钟】</a:t>
            </a:r>
          </a:p>
          <a:p>
            <a:r>
              <a:t>以同行视角分享建议，语气平实。强调“顶天立地”：既要科学问题，也要工程落地；重视测试平台与数据积累；重视交叉。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【建议用时 1.5 分钟】</a:t>
            </a:r>
          </a:p>
          <a:p>
            <a:r>
              <a:t>总结三个核心观点。给听众留下清晰印象。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【建议用时 0.5 分钟】</a:t>
            </a:r>
          </a:p>
          <a:p>
            <a:r>
              <a:t>不必逐条讲，告知听众资料类型与获取途径。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【建议用时 10 分钟】</a:t>
            </a:r>
          </a:p>
          <a:p>
            <a:r>
              <a:t>进入讨论环节。可用上述四个议题引导。总结讨论要点并致谢。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8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9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0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1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3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4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5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6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8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754880"/>
            <a:ext cx="12191695" cy="2103120"/>
          </a:xfrm>
          <a:prstGeom prst="rect">
            <a:avLst/>
          </a:prstGeom>
          <a:solidFill>
            <a:srgbClr val="122E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265615" y="457200"/>
            <a:ext cx="274320" cy="274320"/>
          </a:xfrm>
          <a:prstGeom prst="ellipse">
            <a:avLst/>
          </a:prstGeom>
          <a:solidFill>
            <a:srgbClr val="009E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677095" y="731520"/>
            <a:ext cx="274320" cy="274320"/>
          </a:xfrm>
          <a:prstGeom prst="ellipse">
            <a:avLst/>
          </a:prstGeom>
          <a:solidFill>
            <a:srgbClr val="F2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088575" y="1005840"/>
            <a:ext cx="274320" cy="274320"/>
          </a:xfrm>
          <a:prstGeom prst="ellipse">
            <a:avLst/>
          </a:prstGeom>
          <a:solidFill>
            <a:srgbClr val="009E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00055" y="1280160"/>
            <a:ext cx="274320" cy="274320"/>
          </a:xfrm>
          <a:prstGeom prst="ellipse">
            <a:avLst/>
          </a:prstGeom>
          <a:solidFill>
            <a:srgbClr val="F2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911535" y="1554480"/>
            <a:ext cx="274320" cy="274320"/>
          </a:xfrm>
          <a:prstGeom prst="ellipse">
            <a:avLst/>
          </a:prstGeom>
          <a:solidFill>
            <a:srgbClr val="009E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323015" y="1828800"/>
            <a:ext cx="274320" cy="274320"/>
          </a:xfrm>
          <a:prstGeom prst="ellipse">
            <a:avLst/>
          </a:prstGeom>
          <a:solidFill>
            <a:srgbClr val="F2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097280"/>
            <a:ext cx="822960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600" b="0" i="0">
                <a:solidFill>
                  <a:srgbClr val="009EB8"/>
                </a:solidFill>
                <a:latin typeface="Microsoft YaHei"/>
                <a:ea typeface="Microsoft YaHei"/>
                <a:cs typeface="Microsoft YaHei"/>
              </a:rPr>
              <a:t>学术报告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1600200"/>
            <a:ext cx="10972800" cy="1463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44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先进制造装备关键零部件</a:t>
            </a:r>
          </a:p>
          <a:p>
            <a:pPr algn="l">
              <a:lnSpc>
                <a:spcPct val="110000"/>
              </a:lnSpc>
            </a:pPr>
            <a:r>
              <a:rPr sz="44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研发及前沿技术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3429000"/>
            <a:ext cx="1097280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500" b="0" i="1">
                <a:solidFill>
                  <a:srgbClr val="8D99AE"/>
                </a:solidFill>
                <a:latin typeface="Microsoft YaHei"/>
                <a:ea typeface="Microsoft YaHei"/>
                <a:cs typeface="Microsoft YaHei"/>
              </a:rPr>
              <a:t>Key Components of Advanced Manufacturing Equipment: R&amp;D Status and Frontier Technologies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4069080"/>
            <a:ext cx="1463040" cy="54864"/>
          </a:xfrm>
          <a:prstGeom prst="rect">
            <a:avLst/>
          </a:prstGeom>
          <a:solidFill>
            <a:srgbClr val="F2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5074920"/>
            <a:ext cx="731520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报告人：________        单位：________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5532120"/>
            <a:ext cx="731520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0" i="0">
                <a:solidFill>
                  <a:srgbClr val="DDF4F8"/>
                </a:solidFill>
                <a:latin typeface="Microsoft YaHei"/>
                <a:ea typeface="Microsoft YaHei"/>
                <a:cs typeface="Microsoft YaHei"/>
              </a:rPr>
              <a:t>时长约 100 分钟（含 10 分钟讨论）    面向：高校与科研院所研究人员、研究生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5989320"/>
            <a:ext cx="73152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0" i="0">
                <a:solidFill>
                  <a:srgbClr val="8D99AE"/>
                </a:solidFill>
                <a:latin typeface="Microsoft YaHei"/>
                <a:ea typeface="Microsoft YaHei"/>
                <a:cs typeface="Microsoft YaHei"/>
              </a:rPr>
              <a:t>2026 年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5720"/>
          </a:xfrm>
          <a:prstGeom prst="rect">
            <a:avLst/>
          </a:prstGeom>
          <a:solidFill>
            <a:srgbClr val="009E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950976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报告提纲与时间安排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21792"/>
            <a:ext cx="969264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0" i="0">
                <a:solidFill>
                  <a:srgbClr val="DDF4F8"/>
                </a:solidFill>
                <a:latin typeface="Microsoft YaHei"/>
                <a:ea typeface="Microsoft YaHei"/>
                <a:cs typeface="Microsoft YaHei"/>
              </a:rPr>
              <a:t>五个部分 · 约 90 分钟报告 + 10 分钟讨论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419088"/>
            <a:ext cx="11185855" cy="0"/>
          </a:xfrm>
          <a:prstGeom prst="line">
            <a:avLst/>
          </a:prstGeom>
          <a:ln w="9525">
            <a:solidFill>
              <a:srgbClr val="D9DE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6446520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000" b="0" i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先进制造装备关键零部件研发及前沿技术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17175" y="6446520"/>
            <a:ext cx="13716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1000" b="0" i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325880"/>
            <a:ext cx="822960" cy="731520"/>
          </a:xfrm>
          <a:prstGeom prst="rect">
            <a:avLst/>
          </a:prstGeom>
          <a:solidFill>
            <a:srgbClr val="009E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325880"/>
            <a:ext cx="822960" cy="7315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一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325880" y="1325880"/>
            <a:ext cx="7863840" cy="73152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508760" y="1325880"/>
            <a:ext cx="7589520" cy="7315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900" b="1" i="0">
                <a:solidFill>
                  <a:srgbClr val="122E55"/>
                </a:solidFill>
                <a:latin typeface="Microsoft YaHei"/>
                <a:ea typeface="Microsoft YaHei"/>
                <a:cs typeface="Microsoft YaHei"/>
              </a:rPr>
              <a:t>绪论：先进制造装备与关键零部件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189720" y="1325880"/>
            <a:ext cx="246888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89720" y="1325880"/>
            <a:ext cx="2468880" cy="7315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600" b="1" i="0">
                <a:solidFill>
                  <a:srgbClr val="F2A31D"/>
                </a:solidFill>
                <a:latin typeface="Microsoft YaHei"/>
                <a:ea typeface="Microsoft YaHei"/>
                <a:cs typeface="Microsoft YaHei"/>
              </a:rPr>
              <a:t>约 10 分钟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2221992"/>
            <a:ext cx="822960" cy="731520"/>
          </a:xfrm>
          <a:prstGeom prst="rect">
            <a:avLst/>
          </a:prstGeom>
          <a:solidFill>
            <a:srgbClr val="122E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2221992"/>
            <a:ext cx="822960" cy="7315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325880" y="2221992"/>
            <a:ext cx="7863840" cy="73152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508760" y="2221992"/>
            <a:ext cx="7589520" cy="7315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900" b="1" i="0">
                <a:solidFill>
                  <a:srgbClr val="122E55"/>
                </a:solidFill>
                <a:latin typeface="Microsoft YaHei"/>
                <a:ea typeface="Microsoft YaHei"/>
                <a:cs typeface="Microsoft YaHei"/>
              </a:rPr>
              <a:t>核心基础零部件研发现状与关键技术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189720" y="2221992"/>
            <a:ext cx="246888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89720" y="2221992"/>
            <a:ext cx="2468880" cy="7315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600" b="1" i="0">
                <a:solidFill>
                  <a:srgbClr val="F2A31D"/>
                </a:solidFill>
                <a:latin typeface="Microsoft YaHei"/>
                <a:ea typeface="Microsoft YaHei"/>
                <a:cs typeface="Microsoft YaHei"/>
              </a:rPr>
              <a:t>约 30 分钟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3118104"/>
            <a:ext cx="822960" cy="731520"/>
          </a:xfrm>
          <a:prstGeom prst="rect">
            <a:avLst/>
          </a:prstGeom>
          <a:solidFill>
            <a:srgbClr val="009E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3118104"/>
            <a:ext cx="822960" cy="7315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三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325880" y="3118104"/>
            <a:ext cx="7863840" cy="73152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508760" y="3118104"/>
            <a:ext cx="7589520" cy="7315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900" b="1" i="0">
                <a:solidFill>
                  <a:srgbClr val="122E55"/>
                </a:solidFill>
                <a:latin typeface="Microsoft YaHei"/>
                <a:ea typeface="Microsoft YaHei"/>
                <a:cs typeface="Microsoft YaHei"/>
              </a:rPr>
              <a:t>关键零部件研发的共性使能技术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189720" y="3118104"/>
            <a:ext cx="246888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89720" y="3118104"/>
            <a:ext cx="2468880" cy="7315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600" b="1" i="0">
                <a:solidFill>
                  <a:srgbClr val="F2A31D"/>
                </a:solidFill>
                <a:latin typeface="Microsoft YaHei"/>
                <a:ea typeface="Microsoft YaHei"/>
                <a:cs typeface="Microsoft YaHei"/>
              </a:rPr>
              <a:t>约 15 分钟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4014216"/>
            <a:ext cx="822960" cy="731520"/>
          </a:xfrm>
          <a:prstGeom prst="rect">
            <a:avLst/>
          </a:prstGeom>
          <a:solidFill>
            <a:srgbClr val="122E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2920" y="4014216"/>
            <a:ext cx="822960" cy="7315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四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325880" y="4014216"/>
            <a:ext cx="7863840" cy="73152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508760" y="4014216"/>
            <a:ext cx="7589520" cy="7315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900" b="1" i="0">
                <a:solidFill>
                  <a:srgbClr val="122E55"/>
                </a:solidFill>
                <a:latin typeface="Microsoft YaHei"/>
                <a:ea typeface="Microsoft YaHei"/>
                <a:cs typeface="Microsoft YaHei"/>
              </a:rPr>
              <a:t>前沿技术与颠覆性方向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189720" y="4014216"/>
            <a:ext cx="246888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89720" y="4014216"/>
            <a:ext cx="2468880" cy="7315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600" b="1" i="0">
                <a:solidFill>
                  <a:srgbClr val="F2A31D"/>
                </a:solidFill>
                <a:latin typeface="Microsoft YaHei"/>
                <a:ea typeface="Microsoft YaHei"/>
                <a:cs typeface="Microsoft YaHei"/>
              </a:rPr>
              <a:t>约 25 分钟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2920" y="4910328"/>
            <a:ext cx="822960" cy="731520"/>
          </a:xfrm>
          <a:prstGeom prst="rect">
            <a:avLst/>
          </a:prstGeom>
          <a:solidFill>
            <a:srgbClr val="009E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2920" y="4910328"/>
            <a:ext cx="822960" cy="7315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五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325880" y="4910328"/>
            <a:ext cx="7863840" cy="73152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508760" y="4910328"/>
            <a:ext cx="7589520" cy="7315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900" b="1" i="0">
                <a:solidFill>
                  <a:srgbClr val="122E55"/>
                </a:solidFill>
                <a:latin typeface="Microsoft YaHei"/>
                <a:ea typeface="Microsoft YaHei"/>
                <a:cs typeface="Microsoft YaHei"/>
              </a:rPr>
              <a:t>发展趋势、研究建议与总结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189720" y="4910328"/>
            <a:ext cx="246888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89720" y="4910328"/>
            <a:ext cx="2468880" cy="7315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600" b="1" i="0">
                <a:solidFill>
                  <a:srgbClr val="F2A31D"/>
                </a:solidFill>
                <a:latin typeface="Microsoft YaHei"/>
                <a:ea typeface="Microsoft YaHei"/>
                <a:cs typeface="Microsoft YaHei"/>
              </a:rPr>
              <a:t>约 10 分钟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02920" y="5806440"/>
            <a:ext cx="11185855" cy="457200"/>
          </a:xfrm>
          <a:prstGeom prst="rect">
            <a:avLst/>
          </a:prstGeom>
          <a:solidFill>
            <a:srgbClr val="FDF1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02920" y="5806440"/>
            <a:ext cx="73152" cy="457200"/>
          </a:xfrm>
          <a:prstGeom prst="rect">
            <a:avLst/>
          </a:prstGeom>
          <a:solidFill>
            <a:srgbClr val="F2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67512" y="5806440"/>
            <a:ext cx="10957255" cy="4572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350" b="1" i="0">
                <a:solidFill>
                  <a:srgbClr val="122E55"/>
                </a:solidFill>
                <a:latin typeface="Microsoft YaHei"/>
                <a:ea typeface="Microsoft YaHei"/>
                <a:cs typeface="Microsoft YaHei"/>
              </a:rPr>
              <a:t>报告约定：聚焦共性科学问题与技术路线；数据为公开资料整理，具体数值请以最新统计为准。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122E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103120"/>
            <a:ext cx="3200400" cy="18288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1000" b="1" i="0">
                <a:solidFill>
                  <a:srgbClr val="009EB8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3931920"/>
            <a:ext cx="320040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800" b="0" i="0">
                <a:solidFill>
                  <a:srgbClr val="8D99AE"/>
                </a:solidFill>
                <a:latin typeface="Microsoft YaHei"/>
                <a:ea typeface="Microsoft YaHei"/>
                <a:cs typeface="Microsoft YaHei"/>
              </a:rPr>
              <a:t>第一部分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46320" y="2194560"/>
            <a:ext cx="6949440" cy="15544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绪论：先进制造装备与关键零部件</a:t>
            </a:r>
          </a:p>
        </p:txBody>
      </p:sp>
      <p:sp>
        <p:nvSpPr>
          <p:cNvPr id="7" name="Rectangle 6"/>
          <p:cNvSpPr/>
          <p:nvPr/>
        </p:nvSpPr>
        <p:spPr>
          <a:xfrm>
            <a:off x="4846320" y="3840480"/>
            <a:ext cx="1097280" cy="54864"/>
          </a:xfrm>
          <a:prstGeom prst="rect">
            <a:avLst/>
          </a:prstGeom>
          <a:solidFill>
            <a:srgbClr val="F2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846320" y="4023360"/>
            <a:ext cx="640080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800" b="0" i="0">
                <a:solidFill>
                  <a:srgbClr val="DDF4F8"/>
                </a:solidFill>
                <a:latin typeface="Microsoft YaHei"/>
                <a:ea typeface="Microsoft YaHei"/>
                <a:cs typeface="Microsoft YaHei"/>
              </a:rPr>
              <a:t>约 10 分钟</a:t>
            </a:r>
          </a:p>
        </p:txBody>
      </p:sp>
      <p:sp>
        <p:nvSpPr>
          <p:cNvPr id="9" name="Rectangle 8"/>
          <p:cNvSpPr/>
          <p:nvPr/>
        </p:nvSpPr>
        <p:spPr>
          <a:xfrm>
            <a:off x="4846320" y="5760720"/>
            <a:ext cx="1234440" cy="91440"/>
          </a:xfrm>
          <a:prstGeom prst="rect">
            <a:avLst/>
          </a:prstGeom>
          <a:solidFill>
            <a:srgbClr val="009E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46320" y="5897880"/>
            <a:ext cx="123444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000" b="0" i="0">
                <a:solidFill>
                  <a:srgbClr val="DDF4F8"/>
                </a:solidFill>
                <a:latin typeface="Microsoft YaHei"/>
                <a:ea typeface="Microsoft YaHei"/>
                <a:cs typeface="Microsoft YaHei"/>
              </a:rPr>
              <a:t>绪论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5760720"/>
            <a:ext cx="1234440" cy="91440"/>
          </a:xfrm>
          <a:prstGeom prst="rect">
            <a:avLst/>
          </a:prstGeom>
          <a:solidFill>
            <a:srgbClr val="8D99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0" y="5897880"/>
            <a:ext cx="123444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000" b="0" i="0">
                <a:solidFill>
                  <a:srgbClr val="8D99AE"/>
                </a:solidFill>
                <a:latin typeface="Microsoft YaHei"/>
                <a:ea typeface="Microsoft YaHei"/>
                <a:cs typeface="Microsoft YaHei"/>
              </a:rPr>
              <a:t>核心零部件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589520" y="5760720"/>
            <a:ext cx="1234440" cy="91440"/>
          </a:xfrm>
          <a:prstGeom prst="rect">
            <a:avLst/>
          </a:prstGeom>
          <a:solidFill>
            <a:srgbClr val="8D99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89520" y="5897880"/>
            <a:ext cx="123444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000" b="0" i="0">
                <a:solidFill>
                  <a:srgbClr val="8D99AE"/>
                </a:solidFill>
                <a:latin typeface="Microsoft YaHei"/>
                <a:ea typeface="Microsoft YaHei"/>
                <a:cs typeface="Microsoft YaHei"/>
              </a:rPr>
              <a:t>共性技术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961120" y="5760720"/>
            <a:ext cx="1234440" cy="91440"/>
          </a:xfrm>
          <a:prstGeom prst="rect">
            <a:avLst/>
          </a:prstGeom>
          <a:solidFill>
            <a:srgbClr val="8D99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0" y="5897880"/>
            <a:ext cx="123444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000" b="0" i="0">
                <a:solidFill>
                  <a:srgbClr val="8D99AE"/>
                </a:solidFill>
                <a:latin typeface="Microsoft YaHei"/>
                <a:ea typeface="Microsoft YaHei"/>
                <a:cs typeface="Microsoft YaHei"/>
              </a:rPr>
              <a:t>前沿技术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332720" y="5760720"/>
            <a:ext cx="1234440" cy="91440"/>
          </a:xfrm>
          <a:prstGeom prst="rect">
            <a:avLst/>
          </a:prstGeom>
          <a:solidFill>
            <a:srgbClr val="8D99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332720" y="5897880"/>
            <a:ext cx="123444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000" b="0" i="0">
                <a:solidFill>
                  <a:srgbClr val="8D99AE"/>
                </a:solidFill>
                <a:latin typeface="Microsoft YaHei"/>
                <a:ea typeface="Microsoft YaHei"/>
                <a:cs typeface="Microsoft YaHei"/>
              </a:rPr>
              <a:t>趋势与建议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5720"/>
          </a:xfrm>
          <a:prstGeom prst="rect">
            <a:avLst/>
          </a:prstGeom>
          <a:solidFill>
            <a:srgbClr val="009E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950976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先进制造装备的内涵与谱系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21792"/>
            <a:ext cx="969264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0" i="0">
                <a:solidFill>
                  <a:srgbClr val="DDF4F8"/>
                </a:solidFill>
                <a:latin typeface="Microsoft YaHei"/>
                <a:ea typeface="Microsoft YaHei"/>
                <a:cs typeface="Microsoft YaHei"/>
              </a:rPr>
              <a:t>装备是制造业的“工作母机”，决定一个国家制造能力的上限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82735" y="201168"/>
            <a:ext cx="265176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1200" b="0" i="0">
                <a:solidFill>
                  <a:srgbClr val="8D99AE"/>
                </a:solidFill>
                <a:latin typeface="Microsoft YaHei"/>
                <a:ea typeface="Microsoft YaHei"/>
                <a:cs typeface="Microsoft YaHei"/>
              </a:rPr>
              <a:t>第一部分 · 绪论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6419088"/>
            <a:ext cx="11185855" cy="0"/>
          </a:xfrm>
          <a:prstGeom prst="line">
            <a:avLst/>
          </a:prstGeom>
          <a:ln w="9525">
            <a:solidFill>
              <a:srgbClr val="D9DE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2920" y="6446520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000" b="0" i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先进制造装备关键零部件研发及前沿技术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17175" y="6446520"/>
            <a:ext cx="13716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1000" b="0" i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234440"/>
            <a:ext cx="3606698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1234440"/>
            <a:ext cx="3606698" cy="457200"/>
          </a:xfrm>
          <a:prstGeom prst="rect">
            <a:avLst/>
          </a:prstGeom>
          <a:solidFill>
            <a:srgbClr val="009E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高档数控机床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6072" y="1764792"/>
            <a:ext cx="3460394" cy="139903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五轴联动加工中心、精密磨床、超精密车床</a:t>
            </a:r>
          </a:p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核心：主轴、丝杠导轨、转台、数控系统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92498" y="1234440"/>
            <a:ext cx="3606698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92498" y="1234440"/>
            <a:ext cx="3606698" cy="457200"/>
          </a:xfrm>
          <a:prstGeom prst="rect">
            <a:avLst/>
          </a:prstGeom>
          <a:solidFill>
            <a:srgbClr val="122E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工业机器人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65650" y="1764792"/>
            <a:ext cx="3460394" cy="139903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六轴串联、SCARA、协作机器人</a:t>
            </a:r>
          </a:p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核心：减速器、伺服电机、控制器、力传感器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82076" y="1234440"/>
            <a:ext cx="3606698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82076" y="1234440"/>
            <a:ext cx="3606698" cy="457200"/>
          </a:xfrm>
          <a:prstGeom prst="rect">
            <a:avLst/>
          </a:prstGeom>
          <a:solidFill>
            <a:srgbClr val="F2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半导体与泛半导体装备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55228" y="1764792"/>
            <a:ext cx="3460394" cy="139903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光刻机、刻蚀机、薄膜沉积、检测设备</a:t>
            </a:r>
          </a:p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核心：超精密工件台、真空机械手、静电卡盘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3383280"/>
            <a:ext cx="3606698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2920" y="3383280"/>
            <a:ext cx="3606698" cy="457200"/>
          </a:xfrm>
          <a:prstGeom prst="rect">
            <a:avLst/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增材制造装备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6072" y="3913632"/>
            <a:ext cx="3460394" cy="139903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激光选区熔化、电子束熔融、定向能量沉积</a:t>
            </a:r>
          </a:p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核心：振镜、激光器、铺粉系统、过程监测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92498" y="3383280"/>
            <a:ext cx="3606698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292498" y="3383280"/>
            <a:ext cx="3606698" cy="457200"/>
          </a:xfrm>
          <a:prstGeom prst="rect">
            <a:avLst/>
          </a:prstGeom>
          <a:solidFill>
            <a:srgbClr val="8D99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航空航天专用装备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65650" y="3913632"/>
            <a:ext cx="3460394" cy="139903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大型蒙皮镜像铣、复材铺放、精密装配</a:t>
            </a:r>
          </a:p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核心：大行程高刚度运动系统、测量定位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82076" y="3383280"/>
            <a:ext cx="3606698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82076" y="3383280"/>
            <a:ext cx="3606698" cy="457200"/>
          </a:xfrm>
          <a:prstGeom prst="rect">
            <a:avLst/>
          </a:prstGeom>
          <a:solidFill>
            <a:srgbClr val="D64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智能产线与检测装备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55228" y="3913632"/>
            <a:ext cx="3460394" cy="139903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柔性产线、在线检测、物流AGV</a:t>
            </a:r>
          </a:p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核心：传感器、视觉系统、工业总线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2920" y="5577840"/>
            <a:ext cx="11185855" cy="548640"/>
          </a:xfrm>
          <a:prstGeom prst="rect">
            <a:avLst/>
          </a:prstGeom>
          <a:solidFill>
            <a:srgbClr val="FDF1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02920" y="5577840"/>
            <a:ext cx="73152" cy="548640"/>
          </a:xfrm>
          <a:prstGeom prst="rect">
            <a:avLst/>
          </a:prstGeom>
          <a:solidFill>
            <a:srgbClr val="F2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7512" y="5577840"/>
            <a:ext cx="10957255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350" b="1" i="0">
                <a:solidFill>
                  <a:srgbClr val="122E55"/>
                </a:solidFill>
                <a:latin typeface="Microsoft YaHei"/>
                <a:ea typeface="Microsoft YaHei"/>
                <a:cs typeface="Microsoft YaHei"/>
              </a:rPr>
              <a:t>共性特征：高精度 · 高速高动态 · 高可靠 · 高集成 · 极端工况 —— 均最终落脚于关键零部件的性能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5720"/>
          </a:xfrm>
          <a:prstGeom prst="rect">
            <a:avLst/>
          </a:prstGeom>
          <a:solidFill>
            <a:srgbClr val="009E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950976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关键零部件：定义、分类与“工业四基”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21792"/>
            <a:ext cx="969264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0" i="0">
                <a:solidFill>
                  <a:srgbClr val="DDF4F8"/>
                </a:solidFill>
                <a:latin typeface="Microsoft YaHei"/>
                <a:ea typeface="Microsoft YaHei"/>
                <a:cs typeface="Microsoft YaHei"/>
              </a:rPr>
              <a:t>核心基础零部件是“四基”之首，是装备性能与可靠性的物理载体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82735" y="201168"/>
            <a:ext cx="265176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1200" b="0" i="0">
                <a:solidFill>
                  <a:srgbClr val="8D99AE"/>
                </a:solidFill>
                <a:latin typeface="Microsoft YaHei"/>
                <a:ea typeface="Microsoft YaHei"/>
                <a:cs typeface="Microsoft YaHei"/>
              </a:rPr>
              <a:t>第一部分 · 绪论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6419088"/>
            <a:ext cx="11185855" cy="0"/>
          </a:xfrm>
          <a:prstGeom prst="line">
            <a:avLst/>
          </a:prstGeom>
          <a:ln w="9525">
            <a:solidFill>
              <a:srgbClr val="D9DE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2920" y="6446520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000" b="0" i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先进制造装备关键零部件研发及前沿技术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17175" y="6446520"/>
            <a:ext cx="13716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1000" b="0" i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234440"/>
            <a:ext cx="5669280" cy="4846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900" b="0" i="0">
                <a:solidFill>
                  <a:srgbClr val="009EB8"/>
                </a:solidFill>
                <a:latin typeface="Microsoft YaHei"/>
                <a:ea typeface="Microsoft YaHei"/>
                <a:cs typeface="Microsoft YaHei"/>
              </a:rPr>
              <a:t>■ </a:t>
            </a:r>
            <a:r>
              <a:rPr sz="1600" b="1" i="0">
                <a:solidFill>
                  <a:srgbClr val="122E55"/>
                </a:solidFill>
                <a:latin typeface="Microsoft YaHei"/>
                <a:ea typeface="Microsoft YaHei"/>
                <a:cs typeface="Microsoft YaHei"/>
              </a:rPr>
              <a:t>定义</a:t>
            </a:r>
            <a:r>
              <a:rPr sz="160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：对装备的精度、速度、可靠性、寿命起决定作用，且技术门槛高、替代困难的基础部件</a:t>
            </a:r>
          </a:p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900" b="0" i="0">
                <a:solidFill>
                  <a:srgbClr val="009EB8"/>
                </a:solidFill>
                <a:latin typeface="Microsoft YaHei"/>
                <a:ea typeface="Microsoft YaHei"/>
                <a:cs typeface="Microsoft YaHei"/>
              </a:rPr>
              <a:t>■ </a:t>
            </a:r>
            <a:r>
              <a:rPr sz="1600" b="1" i="0">
                <a:solidFill>
                  <a:srgbClr val="122E55"/>
                </a:solidFill>
                <a:latin typeface="Microsoft YaHei"/>
                <a:ea typeface="Microsoft YaHei"/>
                <a:cs typeface="Microsoft YaHei"/>
              </a:rPr>
              <a:t>分类（按功能）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00" b="0" i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      – </a:t>
            </a:r>
            <a:r>
              <a:rPr sz="1400" b="0" i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支承类：精密轴承、气浮/磁悬浮支承、导轨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00" b="0" i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      – </a:t>
            </a:r>
            <a:r>
              <a:rPr sz="1400" b="0" i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传动类：滚珠丝杠、精密减速器、联轴器、丝杠螺母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00" b="0" i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      – </a:t>
            </a:r>
            <a:r>
              <a:rPr sz="1400" b="0" i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驱动类：电主轴、伺服电机、直线/力矩电机、液压气动元件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00" b="0" i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      – </a:t>
            </a:r>
            <a:r>
              <a:rPr sz="1400" b="0" i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控制类：数控系统、伺服驱动器、运动控制器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00" b="0" i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      – </a:t>
            </a:r>
            <a:r>
              <a:rPr sz="1400" b="0" i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感知类：光栅、编码器、测头、力/力矩传感器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00" b="0" i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      – </a:t>
            </a:r>
            <a:r>
              <a:rPr sz="1400" b="0" i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工艺执行类：刀具、夹具、密封、润滑与冷却单元</a:t>
            </a:r>
          </a:p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900" b="0" i="0">
                <a:solidFill>
                  <a:srgbClr val="009EB8"/>
                </a:solidFill>
                <a:latin typeface="Microsoft YaHei"/>
                <a:ea typeface="Microsoft YaHei"/>
                <a:cs typeface="Microsoft YaHei"/>
              </a:rPr>
              <a:t>■ </a:t>
            </a:r>
            <a:r>
              <a:rPr sz="1600" b="1" i="0">
                <a:solidFill>
                  <a:srgbClr val="122E55"/>
                </a:solidFill>
                <a:latin typeface="Microsoft YaHei"/>
                <a:ea typeface="Microsoft YaHei"/>
                <a:cs typeface="Microsoft YaHei"/>
              </a:rPr>
              <a:t>特点</a:t>
            </a:r>
            <a:r>
              <a:rPr sz="160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：多学科交叉（材料—力学—摩擦学—控制—测量），研发周期长、试错成本高、依赖工程积累</a:t>
            </a:r>
          </a:p>
        </p:txBody>
      </p:sp>
      <p:sp>
        <p:nvSpPr>
          <p:cNvPr id="11" name="Trapezoid 10"/>
          <p:cNvSpPr/>
          <p:nvPr/>
        </p:nvSpPr>
        <p:spPr>
          <a:xfrm>
            <a:off x="7772400" y="1417320"/>
            <a:ext cx="2560320" cy="822960"/>
          </a:xfrm>
          <a:prstGeom prst="trapezoid">
            <a:avLst/>
          </a:prstGeom>
          <a:solidFill>
            <a:srgbClr val="009E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核心基础零部件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406640" y="2377440"/>
            <a:ext cx="3291840" cy="822960"/>
          </a:xfrm>
          <a:prstGeom prst="rect">
            <a:avLst/>
          </a:prstGeom>
          <a:solidFill>
            <a:srgbClr val="F2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关键基础材料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040880" y="3337560"/>
            <a:ext cx="4023360" cy="822960"/>
          </a:xfrm>
          <a:prstGeom prst="rect">
            <a:avLst/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先进基础工艺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675120" y="4297680"/>
            <a:ext cx="4754880" cy="822960"/>
          </a:xfrm>
          <a:prstGeom prst="rect">
            <a:avLst/>
          </a:prstGeom>
          <a:solidFill>
            <a:srgbClr val="8D99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产业技术基础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5394959"/>
            <a:ext cx="475488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1200" b="0" i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“工业四基”：中国制造2025 工业强基工程</a:t>
            </a:r>
          </a:p>
          <a:p>
            <a:pPr algn="ctr"/>
            <a:r>
              <a:rPr sz="1200" b="0" i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产业基础再造工程（2021—）延续并深化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5720"/>
          </a:xfrm>
          <a:prstGeom prst="rect">
            <a:avLst/>
          </a:prstGeom>
          <a:solidFill>
            <a:srgbClr val="009E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950976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为什么零部件决定装备？—— 性能传递链与成本结构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21792"/>
            <a:ext cx="969264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0" i="0">
                <a:solidFill>
                  <a:srgbClr val="DDF4F8"/>
                </a:solidFill>
                <a:latin typeface="Microsoft YaHei"/>
                <a:ea typeface="Microsoft YaHei"/>
                <a:cs typeface="Microsoft YaHei"/>
              </a:rPr>
              <a:t>零部件误差经运动链放大、叠加，整机精度和可靠性由“短板”决定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82735" y="201168"/>
            <a:ext cx="265176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1200" b="0" i="0">
                <a:solidFill>
                  <a:srgbClr val="8D99AE"/>
                </a:solidFill>
                <a:latin typeface="Microsoft YaHei"/>
                <a:ea typeface="Microsoft YaHei"/>
                <a:cs typeface="Microsoft YaHei"/>
              </a:rPr>
              <a:t>第一部分 · 绪论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6419088"/>
            <a:ext cx="11185855" cy="0"/>
          </a:xfrm>
          <a:prstGeom prst="line">
            <a:avLst/>
          </a:prstGeom>
          <a:ln w="9525">
            <a:solidFill>
              <a:srgbClr val="D9DE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2920" y="6446520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000" b="0" i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先进制造装备关键零部件研发及前沿技术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17175" y="6446520"/>
            <a:ext cx="13716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1000" b="0" i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10" name="Pentagon 9"/>
          <p:cNvSpPr/>
          <p:nvPr/>
        </p:nvSpPr>
        <p:spPr>
          <a:xfrm>
            <a:off x="502920" y="1234440"/>
            <a:ext cx="2310323" cy="777240"/>
          </a:xfrm>
          <a:prstGeom prst="homePlate">
            <a:avLst/>
          </a:prstGeom>
          <a:solidFill>
            <a:srgbClr val="122E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36576" bIns="36576"/>
          <a:lstStyle/>
          <a:p>
            <a:pPr algn="ctr"/>
            <a:r>
              <a:rPr sz="13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材料与热处理</a:t>
            </a:r>
          </a:p>
        </p:txBody>
      </p:sp>
      <p:sp>
        <p:nvSpPr>
          <p:cNvPr id="11" name="Chevron 10"/>
          <p:cNvSpPr/>
          <p:nvPr/>
        </p:nvSpPr>
        <p:spPr>
          <a:xfrm>
            <a:off x="2740091" y="1234440"/>
            <a:ext cx="2310323" cy="777240"/>
          </a:xfrm>
          <a:prstGeom prst="chevron">
            <a:avLst/>
          </a:prstGeom>
          <a:solidFill>
            <a:srgbClr val="009E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36576" bIns="36576"/>
          <a:lstStyle/>
          <a:p>
            <a:pPr algn="ctr"/>
            <a:r>
              <a:rPr sz="13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零件精度</a:t>
            </a:r>
          </a:p>
        </p:txBody>
      </p:sp>
      <p:sp>
        <p:nvSpPr>
          <p:cNvPr id="12" name="Chevron 11"/>
          <p:cNvSpPr/>
          <p:nvPr/>
        </p:nvSpPr>
        <p:spPr>
          <a:xfrm>
            <a:off x="4977262" y="1234440"/>
            <a:ext cx="2310323" cy="777240"/>
          </a:xfrm>
          <a:prstGeom prst="chevron">
            <a:avLst/>
          </a:prstGeom>
          <a:solidFill>
            <a:srgbClr val="122E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36576" bIns="36576"/>
          <a:lstStyle/>
          <a:p>
            <a:pPr algn="ctr"/>
            <a:r>
              <a:rPr sz="13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部件装配精度</a:t>
            </a:r>
          </a:p>
        </p:txBody>
      </p:sp>
      <p:sp>
        <p:nvSpPr>
          <p:cNvPr id="13" name="Chevron 12"/>
          <p:cNvSpPr/>
          <p:nvPr/>
        </p:nvSpPr>
        <p:spPr>
          <a:xfrm>
            <a:off x="7214433" y="1234440"/>
            <a:ext cx="2310323" cy="777240"/>
          </a:xfrm>
          <a:prstGeom prst="chevron">
            <a:avLst/>
          </a:prstGeom>
          <a:solidFill>
            <a:srgbClr val="009E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36576" bIns="36576"/>
          <a:lstStyle/>
          <a:p>
            <a:pPr algn="ctr"/>
            <a:r>
              <a:rPr sz="13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整机几何/动态精度</a:t>
            </a:r>
          </a:p>
        </p:txBody>
      </p:sp>
      <p:sp>
        <p:nvSpPr>
          <p:cNvPr id="14" name="Chevron 13"/>
          <p:cNvSpPr/>
          <p:nvPr/>
        </p:nvSpPr>
        <p:spPr>
          <a:xfrm>
            <a:off x="9451604" y="1234440"/>
            <a:ext cx="2310323" cy="777240"/>
          </a:xfrm>
          <a:prstGeom prst="chevron">
            <a:avLst/>
          </a:prstGeom>
          <a:solidFill>
            <a:srgbClr val="122E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36576" bIns="36576"/>
          <a:lstStyle/>
          <a:p>
            <a:pPr algn="ctr"/>
            <a:r>
              <a:rPr sz="13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加工件精度与一致性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2057400"/>
            <a:ext cx="11185855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1250" b="0" i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误差源  →  传递与放大（阿贝误差、热变形、刚度链）  →  整机表现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2560320"/>
            <a:ext cx="3606698" cy="1417320"/>
          </a:xfrm>
          <a:prstGeom prst="rect">
            <a:avLst/>
          </a:prstGeom>
          <a:solidFill>
            <a:srgbClr val="DD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2920" y="2560320"/>
            <a:ext cx="73152" cy="1417320"/>
          </a:xfrm>
          <a:prstGeom prst="rect">
            <a:avLst/>
          </a:prstGeom>
          <a:solidFill>
            <a:srgbClr val="009E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2615184"/>
            <a:ext cx="3423818" cy="6400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2800" b="1" i="0">
                <a:solidFill>
                  <a:srgbClr val="122E55"/>
                </a:solidFill>
                <a:latin typeface="Microsoft YaHei"/>
                <a:ea typeface="Microsoft YaHei"/>
                <a:cs typeface="Microsoft YaHei"/>
              </a:rPr>
              <a:t>60–70%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3246120"/>
            <a:ext cx="3423818" cy="6858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高档数控机床中，功能部件（数控系统、主轴、丝杠导轨、转台、刀库等）占整机成本比例的大致区间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92498" y="2560320"/>
            <a:ext cx="3606698" cy="1417320"/>
          </a:xfrm>
          <a:prstGeom prst="rect">
            <a:avLst/>
          </a:prstGeom>
          <a:solidFill>
            <a:srgbClr val="DD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292498" y="2560320"/>
            <a:ext cx="73152" cy="1417320"/>
          </a:xfrm>
          <a:prstGeom prst="rect">
            <a:avLst/>
          </a:prstGeom>
          <a:solidFill>
            <a:srgbClr val="009E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29658" y="2615184"/>
            <a:ext cx="3423818" cy="6400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2800" b="1" i="0">
                <a:solidFill>
                  <a:srgbClr val="122E55"/>
                </a:solidFill>
                <a:latin typeface="Microsoft YaHei"/>
                <a:ea typeface="Microsoft YaHei"/>
                <a:cs typeface="Microsoft YaHei"/>
              </a:rPr>
              <a:t>~70%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29658" y="3246120"/>
            <a:ext cx="3423818" cy="6858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工业机器人成本中减速器、伺服系统、控制器三大核心部件合计占比（行业调研常见区间）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082076" y="2560320"/>
            <a:ext cx="3606698" cy="1417320"/>
          </a:xfrm>
          <a:prstGeom prst="rect">
            <a:avLst/>
          </a:prstGeom>
          <a:solidFill>
            <a:srgbClr val="DD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082076" y="2560320"/>
            <a:ext cx="73152" cy="1417320"/>
          </a:xfrm>
          <a:prstGeom prst="rect">
            <a:avLst/>
          </a:prstGeom>
          <a:solidFill>
            <a:srgbClr val="009E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19236" y="2615184"/>
            <a:ext cx="3423818" cy="6400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2800" b="1" i="0">
                <a:solidFill>
                  <a:srgbClr val="122E55"/>
                </a:solidFill>
                <a:latin typeface="Microsoft YaHei"/>
                <a:ea typeface="Microsoft YaHei"/>
                <a:cs typeface="Microsoft YaHei"/>
              </a:rPr>
              <a:t>1/R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19236" y="3246120"/>
            <a:ext cx="3423818" cy="6858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可靠性串联模型：整机 MTBF 受最薄弱部件制约，任一环节失效率上升都会显著拉低整机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4206240"/>
            <a:ext cx="11185855" cy="20116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800" b="0" i="0">
                <a:solidFill>
                  <a:srgbClr val="009EB8"/>
                </a:solidFill>
                <a:latin typeface="Microsoft YaHei"/>
                <a:ea typeface="Microsoft YaHei"/>
                <a:cs typeface="Microsoft YaHei"/>
              </a:rPr>
              <a:t>■ </a:t>
            </a:r>
            <a:r>
              <a:rPr sz="1500" b="1" i="0">
                <a:solidFill>
                  <a:srgbClr val="122E55"/>
                </a:solidFill>
                <a:latin typeface="Microsoft YaHei"/>
                <a:ea typeface="Microsoft YaHei"/>
                <a:cs typeface="Microsoft YaHei"/>
              </a:rPr>
              <a:t>精度</a:t>
            </a:r>
            <a:r>
              <a:rPr sz="150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：主轴回转误差、滚珠丝杠导程误差、导轨直线度直接映射为工件形位误差</a:t>
            </a:r>
          </a:p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800" b="0" i="0">
                <a:solidFill>
                  <a:srgbClr val="009EB8"/>
                </a:solidFill>
                <a:latin typeface="Microsoft YaHei"/>
                <a:ea typeface="Microsoft YaHei"/>
                <a:cs typeface="Microsoft YaHei"/>
              </a:rPr>
              <a:t>■ </a:t>
            </a:r>
            <a:r>
              <a:rPr sz="1500" b="1" i="0">
                <a:solidFill>
                  <a:srgbClr val="122E55"/>
                </a:solidFill>
                <a:latin typeface="Microsoft YaHei"/>
                <a:ea typeface="Microsoft YaHei"/>
                <a:cs typeface="Microsoft YaHei"/>
              </a:rPr>
              <a:t>动态性能</a:t>
            </a:r>
            <a:r>
              <a:rPr sz="150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：主轴/进给系统刚度与阻尼决定颤振边界与可达材料去除率</a:t>
            </a:r>
          </a:p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800" b="0" i="0">
                <a:solidFill>
                  <a:srgbClr val="009EB8"/>
                </a:solidFill>
                <a:latin typeface="Microsoft YaHei"/>
                <a:ea typeface="Microsoft YaHei"/>
                <a:cs typeface="Microsoft YaHei"/>
              </a:rPr>
              <a:t>■ </a:t>
            </a:r>
            <a:r>
              <a:rPr sz="1500" b="1" i="0">
                <a:solidFill>
                  <a:srgbClr val="122E55"/>
                </a:solidFill>
                <a:latin typeface="Microsoft YaHei"/>
                <a:ea typeface="Microsoft YaHei"/>
                <a:cs typeface="Microsoft YaHei"/>
              </a:rPr>
              <a:t>可靠性</a:t>
            </a:r>
            <a:r>
              <a:rPr sz="150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：轴承疲劳、密封失效、电子元件退化是机床与机器人现场故障的主要来源</a:t>
            </a:r>
          </a:p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800" b="0" i="0">
                <a:solidFill>
                  <a:srgbClr val="009EB8"/>
                </a:solidFill>
                <a:latin typeface="Microsoft YaHei"/>
                <a:ea typeface="Microsoft YaHei"/>
                <a:cs typeface="Microsoft YaHei"/>
              </a:rPr>
              <a:t>■ </a:t>
            </a:r>
            <a:r>
              <a:rPr sz="1500" b="1" i="0">
                <a:solidFill>
                  <a:srgbClr val="122E55"/>
                </a:solidFill>
                <a:latin typeface="Microsoft YaHei"/>
                <a:ea typeface="Microsoft YaHei"/>
                <a:cs typeface="Microsoft YaHei"/>
              </a:rPr>
              <a:t>一致性</a:t>
            </a:r>
            <a:r>
              <a:rPr sz="150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：批量零部件的性能离散度决定整机“标称性能”能否稳定复现 —— 这是产业化最大难点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5720"/>
          </a:xfrm>
          <a:prstGeom prst="rect">
            <a:avLst/>
          </a:prstGeom>
          <a:solidFill>
            <a:srgbClr val="009E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950976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现状与差距：高端零部件仍是“卡脖子”集中区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21792"/>
            <a:ext cx="969264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0" i="0">
                <a:solidFill>
                  <a:srgbClr val="DDF4F8"/>
                </a:solidFill>
                <a:latin typeface="Microsoft YaHei"/>
                <a:ea typeface="Microsoft YaHei"/>
                <a:cs typeface="Microsoft YaHei"/>
              </a:rPr>
              <a:t>中低端基本实现自主，高端产品在精度保持性、寿命与一致性上仍存在代差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82735" y="201168"/>
            <a:ext cx="265176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1200" b="0" i="0">
                <a:solidFill>
                  <a:srgbClr val="8D99AE"/>
                </a:solidFill>
                <a:latin typeface="Microsoft YaHei"/>
                <a:ea typeface="Microsoft YaHei"/>
                <a:cs typeface="Microsoft YaHei"/>
              </a:rPr>
              <a:t>第一部分 · 绪论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6419088"/>
            <a:ext cx="11185855" cy="0"/>
          </a:xfrm>
          <a:prstGeom prst="line">
            <a:avLst/>
          </a:prstGeom>
          <a:ln w="9525">
            <a:solidFill>
              <a:srgbClr val="D9DE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2920" y="6446520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000" b="0" i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先进制造装备关键零部件研发及前沿技术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17175" y="6446520"/>
            <a:ext cx="13716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1000" b="0" i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7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02920" y="1234440"/>
          <a:ext cx="11185853" cy="40965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34083"/>
                <a:gridCol w="3250590"/>
                <a:gridCol w="2485745"/>
                <a:gridCol w="4015435"/>
              </a:tblGrid>
              <a:tr h="512064">
                <a:tc>
                  <a:txBody>
                    <a:bodyPr wrap="square"/>
                    <a:lstStyle/>
                    <a:p>
                      <a:pPr algn="ctr"/>
                      <a:r>
                        <a:rPr sz="11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零部件</a:t>
                      </a:r>
                    </a:p>
                  </a:txBody>
                  <a:tcPr marL="64008" marR="64008" marT="27432" marB="27432" anchor="ctr">
                    <a:solidFill>
                      <a:srgbClr val="0B1F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国际领先企业</a:t>
                      </a:r>
                    </a:p>
                  </a:txBody>
                  <a:tcPr marL="64008" marR="64008" marT="27432" marB="27432" anchor="ctr">
                    <a:solidFill>
                      <a:srgbClr val="0B1F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国内代表</a:t>
                      </a:r>
                    </a:p>
                  </a:txBody>
                  <a:tcPr marL="64008" marR="64008" marT="27432" marB="27432" anchor="ctr">
                    <a:solidFill>
                      <a:srgbClr val="0B1F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主要差距（高端段）</a:t>
                      </a:r>
                    </a:p>
                  </a:txBody>
                  <a:tcPr marL="64008" marR="64008" marT="27432" marB="27432" anchor="ctr">
                    <a:solidFill>
                      <a:srgbClr val="0B1F3A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122E5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精密轴承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SKF、Schaeffler、NSK、NTN、JTEKT、Timken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洛轴、瓦轴、哈轴、人本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钢材纯净度、热处理一致性、超精研、寿命与噪声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122E5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滚珠丝杠/导轨</a:t>
                      </a:r>
                    </a:p>
                  </a:txBody>
                  <a:tcPr marL="64008" marR="64008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THK、NSK、HIWIN、Bosch Rexroth、Schneeberger</a:t>
                      </a:r>
                    </a:p>
                  </a:txBody>
                  <a:tcPr marL="64008" marR="64008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南京工艺、汉江机床、博特精工</a:t>
                      </a:r>
                    </a:p>
                  </a:txBody>
                  <a:tcPr marL="64008" marR="64008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C0–C3 级大导程/长行程产品，精度保持性</a:t>
                      </a:r>
                    </a:p>
                  </a:txBody>
                  <a:tcPr marL="64008" marR="64008" marT="27432" marB="27432" anchor="ctr">
                    <a:solidFill>
                      <a:srgbClr val="F2F4F7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122E5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精密减速器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Nabtesco（RV）、Harmonic Drive（谐波）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绿的谐波、双环传动、中大力德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RV 寿命与回差稳定性；谐波已形成一定替代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122E5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数控系统</a:t>
                      </a:r>
                    </a:p>
                  </a:txBody>
                  <a:tcPr marL="64008" marR="64008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FANUC、Siemens、Heidenhain、Mitsubishi</a:t>
                      </a:r>
                    </a:p>
                  </a:txBody>
                  <a:tcPr marL="64008" marR="64008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华中数控、广州数控、科德数控</a:t>
                      </a:r>
                    </a:p>
                  </a:txBody>
                  <a:tcPr marL="64008" marR="64008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五轴高端系统生态、工艺软件、可靠性口碑</a:t>
                      </a:r>
                    </a:p>
                  </a:txBody>
                  <a:tcPr marL="64008" marR="64008" marT="27432" marB="27432" anchor="ctr">
                    <a:solidFill>
                      <a:srgbClr val="F2F4F7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122E5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电主轴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Kessler、Fischer、IBAG、Step-Tec、GMN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洛阳轴研、昊志机电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高速大功率段、热稳定性、寿命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122E5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液压元件</a:t>
                      </a:r>
                    </a:p>
                  </a:txBody>
                  <a:tcPr marL="64008" marR="64008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Bosch Rexroth、Moog、Parker、Kawasaki</a:t>
                      </a:r>
                    </a:p>
                  </a:txBody>
                  <a:tcPr marL="64008" marR="64008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恒立液压、艾迪精密、航空工业609所</a:t>
                      </a:r>
                    </a:p>
                  </a:txBody>
                  <a:tcPr marL="64008" marR="64008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高压柱塞泵、电液伺服阀的寿命与污染敏感性</a:t>
                      </a:r>
                    </a:p>
                  </a:txBody>
                  <a:tcPr marL="64008" marR="64008" marT="27432" marB="27432" anchor="ctr">
                    <a:solidFill>
                      <a:srgbClr val="F2F4F7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122E5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光栅/编码器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Heidenhain、Renishaw、Magnescale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禹衡光学、长春光机所体系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纳米级绝对式光栅、高速高分辨率绝对编码器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502920" y="5760720"/>
            <a:ext cx="11185855" cy="457200"/>
          </a:xfrm>
          <a:prstGeom prst="rect">
            <a:avLst/>
          </a:prstGeom>
          <a:solidFill>
            <a:srgbClr val="FDF1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5760720"/>
            <a:ext cx="73152" cy="457200"/>
          </a:xfrm>
          <a:prstGeom prst="rect">
            <a:avLst/>
          </a:prstGeom>
          <a:solidFill>
            <a:srgbClr val="F2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" y="5760720"/>
            <a:ext cx="10957255" cy="4572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300" b="1" i="0">
                <a:solidFill>
                  <a:srgbClr val="122E55"/>
                </a:solidFill>
                <a:latin typeface="Microsoft YaHei"/>
                <a:ea typeface="Microsoft YaHei"/>
                <a:cs typeface="Microsoft YaHei"/>
              </a:rPr>
              <a:t>结论：差距的本质是“材料—工艺—检测—数据”的工程积累不足，而非单点原理突破 —— 这恰恰是学术界可以系统发力之处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5720"/>
          </a:xfrm>
          <a:prstGeom prst="rect">
            <a:avLst/>
          </a:prstGeom>
          <a:solidFill>
            <a:srgbClr val="009E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950976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战略背景与政策脉络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21792"/>
            <a:ext cx="969264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0" i="0">
                <a:solidFill>
                  <a:srgbClr val="DDF4F8"/>
                </a:solidFill>
                <a:latin typeface="Microsoft YaHei"/>
                <a:ea typeface="Microsoft YaHei"/>
                <a:cs typeface="Microsoft YaHei"/>
              </a:rPr>
              <a:t>国家层面持续、系统地支持基础零部件攻关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82735" y="201168"/>
            <a:ext cx="265176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1200" b="0" i="0">
                <a:solidFill>
                  <a:srgbClr val="8D99AE"/>
                </a:solidFill>
                <a:latin typeface="Microsoft YaHei"/>
                <a:ea typeface="Microsoft YaHei"/>
                <a:cs typeface="Microsoft YaHei"/>
              </a:rPr>
              <a:t>第一部分 · 绪论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6419088"/>
            <a:ext cx="11185855" cy="0"/>
          </a:xfrm>
          <a:prstGeom prst="line">
            <a:avLst/>
          </a:prstGeom>
          <a:ln w="9525">
            <a:solidFill>
              <a:srgbClr val="D9DE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2920" y="6446520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000" b="0" i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先进制造装备关键零部件研发及前沿技术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17175" y="6446520"/>
            <a:ext cx="13716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1000" b="0" i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8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02920" y="2697480"/>
            <a:ext cx="11185855" cy="0"/>
          </a:xfrm>
          <a:prstGeom prst="line">
            <a:avLst/>
          </a:prstGeom>
          <a:ln w="38100">
            <a:solidFill>
              <a:srgbClr val="009E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1307058" y="2569464"/>
            <a:ext cx="256032" cy="256032"/>
          </a:xfrm>
          <a:prstGeom prst="ellipse">
            <a:avLst/>
          </a:prstGeom>
          <a:solidFill>
            <a:srgbClr val="009E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1920240"/>
            <a:ext cx="1864309" cy="54864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ctr"/>
            <a:r>
              <a:rPr sz="2000" b="1" i="0">
                <a:solidFill>
                  <a:srgbClr val="122E55"/>
                </a:solidFill>
                <a:latin typeface="Microsoft YaHei"/>
                <a:ea typeface="Microsoft YaHei"/>
                <a:cs typeface="Microsoft YaHei"/>
              </a:rPr>
              <a:t>2009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76072" y="3017520"/>
            <a:ext cx="1718005" cy="219456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6" y="3081528"/>
            <a:ext cx="1608277" cy="21031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“高档数控机床与基础制造装备”科技重大专项（04 专项）启动，2009—2020</a:t>
            </a:r>
          </a:p>
        </p:txBody>
      </p:sp>
      <p:sp>
        <p:nvSpPr>
          <p:cNvPr id="15" name="Oval 14"/>
          <p:cNvSpPr/>
          <p:nvPr/>
        </p:nvSpPr>
        <p:spPr>
          <a:xfrm>
            <a:off x="3171367" y="2569464"/>
            <a:ext cx="256032" cy="256032"/>
          </a:xfrm>
          <a:prstGeom prst="ellipse">
            <a:avLst/>
          </a:prstGeom>
          <a:solidFill>
            <a:srgbClr val="F2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367229" y="1920240"/>
            <a:ext cx="1864309" cy="54864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ctr"/>
            <a:r>
              <a:rPr sz="2000" b="1" i="0">
                <a:solidFill>
                  <a:srgbClr val="122E55"/>
                </a:solidFill>
                <a:latin typeface="Microsoft YaHei"/>
                <a:ea typeface="Microsoft YaHei"/>
                <a:cs typeface="Microsoft YaHei"/>
              </a:rPr>
              <a:t>2015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440381" y="3017520"/>
            <a:ext cx="1718005" cy="219456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495245" y="3081528"/>
            <a:ext cx="1608277" cy="21031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《中国制造 2025》发布，“工业强基工程”列为五大工程之一，提出核心基础零部件自主保障目标</a:t>
            </a:r>
          </a:p>
        </p:txBody>
      </p:sp>
      <p:sp>
        <p:nvSpPr>
          <p:cNvPr id="19" name="Oval 18"/>
          <p:cNvSpPr/>
          <p:nvPr/>
        </p:nvSpPr>
        <p:spPr>
          <a:xfrm>
            <a:off x="5035676" y="2569464"/>
            <a:ext cx="256032" cy="256032"/>
          </a:xfrm>
          <a:prstGeom prst="ellipse">
            <a:avLst/>
          </a:prstGeom>
          <a:solidFill>
            <a:srgbClr val="009E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31538" y="1920240"/>
            <a:ext cx="1864309" cy="54864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ctr"/>
            <a:r>
              <a:rPr sz="2000" b="1" i="0">
                <a:solidFill>
                  <a:srgbClr val="122E55"/>
                </a:solidFill>
                <a:latin typeface="Microsoft YaHei"/>
                <a:ea typeface="Microsoft YaHei"/>
                <a:cs typeface="Microsoft YaHei"/>
              </a:rPr>
              <a:t>2016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304690" y="3017520"/>
            <a:ext cx="1718005" cy="219456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359554" y="3081528"/>
            <a:ext cx="1608277" cy="21031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工信部等发布《工业强基工程实施指南（2016—2020）》，“一揽子”突破与“一条龙”应用</a:t>
            </a:r>
          </a:p>
        </p:txBody>
      </p:sp>
      <p:sp>
        <p:nvSpPr>
          <p:cNvPr id="23" name="Oval 22"/>
          <p:cNvSpPr/>
          <p:nvPr/>
        </p:nvSpPr>
        <p:spPr>
          <a:xfrm>
            <a:off x="6899986" y="2569464"/>
            <a:ext cx="256032" cy="256032"/>
          </a:xfrm>
          <a:prstGeom prst="ellipse">
            <a:avLst/>
          </a:prstGeom>
          <a:solidFill>
            <a:srgbClr val="F2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095847" y="1920240"/>
            <a:ext cx="1864309" cy="54864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ctr"/>
            <a:r>
              <a:rPr sz="2000" b="1" i="0">
                <a:solidFill>
                  <a:srgbClr val="122E55"/>
                </a:solidFill>
                <a:latin typeface="Microsoft YaHei"/>
                <a:ea typeface="Microsoft YaHei"/>
                <a:cs typeface="Microsoft YaHei"/>
              </a:rPr>
              <a:t>2021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68999" y="3017520"/>
            <a:ext cx="1718005" cy="219456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23863" y="3081528"/>
            <a:ext cx="1608277" cy="21031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“十四五”规划提出实施产业基础再造工程；《“十四五”智能制造发展规划》发布</a:t>
            </a:r>
          </a:p>
        </p:txBody>
      </p:sp>
      <p:sp>
        <p:nvSpPr>
          <p:cNvPr id="27" name="Oval 26"/>
          <p:cNvSpPr/>
          <p:nvPr/>
        </p:nvSpPr>
        <p:spPr>
          <a:xfrm>
            <a:off x="8764295" y="2569464"/>
            <a:ext cx="256032" cy="256032"/>
          </a:xfrm>
          <a:prstGeom prst="ellipse">
            <a:avLst/>
          </a:prstGeom>
          <a:solidFill>
            <a:srgbClr val="009E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60156" y="1920240"/>
            <a:ext cx="1864309" cy="54864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ctr"/>
            <a:r>
              <a:rPr sz="2000" b="1" i="0">
                <a:solidFill>
                  <a:srgbClr val="122E55"/>
                </a:solidFill>
                <a:latin typeface="Microsoft YaHei"/>
                <a:ea typeface="Microsoft YaHei"/>
                <a:cs typeface="Microsoft YaHei"/>
              </a:rPr>
              <a:t>2023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033308" y="3017520"/>
            <a:ext cx="1718005" cy="219456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88172" y="3081528"/>
            <a:ext cx="1608277" cy="21031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新一轮大规模设备更新与高端装备自主可控政策，强调核心零部件补短板</a:t>
            </a:r>
          </a:p>
        </p:txBody>
      </p:sp>
      <p:sp>
        <p:nvSpPr>
          <p:cNvPr id="31" name="Oval 30"/>
          <p:cNvSpPr/>
          <p:nvPr/>
        </p:nvSpPr>
        <p:spPr>
          <a:xfrm>
            <a:off x="10628604" y="2569464"/>
            <a:ext cx="256032" cy="256032"/>
          </a:xfrm>
          <a:prstGeom prst="ellipse">
            <a:avLst/>
          </a:prstGeom>
          <a:solidFill>
            <a:srgbClr val="F2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824465" y="1920240"/>
            <a:ext cx="1864309" cy="54864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ctr"/>
            <a:r>
              <a:rPr sz="2000" b="1" i="0">
                <a:solidFill>
                  <a:srgbClr val="122E55"/>
                </a:solidFill>
                <a:latin typeface="Microsoft YaHei"/>
                <a:ea typeface="Microsoft YaHei"/>
                <a:cs typeface="Microsoft YaHei"/>
              </a:rPr>
              <a:t>2025+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897617" y="3017520"/>
            <a:ext cx="1718005" cy="219456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952481" y="3081528"/>
            <a:ext cx="1608277" cy="21031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“十五五”时期：从补短板走向锻长板，前沿技术布局（智能零部件、极端制造）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02920" y="5577840"/>
            <a:ext cx="11185855" cy="548640"/>
          </a:xfrm>
          <a:prstGeom prst="rect">
            <a:avLst/>
          </a:prstGeom>
          <a:solidFill>
            <a:srgbClr val="FDF1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02920" y="5577840"/>
            <a:ext cx="73152" cy="548640"/>
          </a:xfrm>
          <a:prstGeom prst="rect">
            <a:avLst/>
          </a:prstGeom>
          <a:solidFill>
            <a:srgbClr val="F2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67512" y="5577840"/>
            <a:ext cx="10957255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350" b="1" i="0">
                <a:solidFill>
                  <a:srgbClr val="122E55"/>
                </a:solidFill>
                <a:latin typeface="Microsoft YaHei"/>
                <a:ea typeface="Microsoft YaHei"/>
                <a:cs typeface="Microsoft YaHei"/>
              </a:rPr>
              <a:t>政策共识：以应用牵引（整机—部件“一条龙”）+ 基础研究（材料、工艺、可靠性）双轮驱动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5720"/>
          </a:xfrm>
          <a:prstGeom prst="rect">
            <a:avLst/>
          </a:prstGeom>
          <a:solidFill>
            <a:srgbClr val="009E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950976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关键零部件的共性技术特征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21792"/>
            <a:ext cx="969264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0" i="0">
                <a:solidFill>
                  <a:srgbClr val="DDF4F8"/>
                </a:solidFill>
                <a:latin typeface="Microsoft YaHei"/>
                <a:ea typeface="Microsoft YaHei"/>
                <a:cs typeface="Microsoft YaHei"/>
              </a:rPr>
              <a:t>六个维度构成零部件研发的“目标函数”，彼此耦合甚至矛盾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82735" y="201168"/>
            <a:ext cx="265176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1200" b="0" i="0">
                <a:solidFill>
                  <a:srgbClr val="8D99AE"/>
                </a:solidFill>
                <a:latin typeface="Microsoft YaHei"/>
                <a:ea typeface="Microsoft YaHei"/>
                <a:cs typeface="Microsoft YaHei"/>
              </a:rPr>
              <a:t>第一部分 · 绪论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6419088"/>
            <a:ext cx="11185855" cy="0"/>
          </a:xfrm>
          <a:prstGeom prst="line">
            <a:avLst/>
          </a:prstGeom>
          <a:ln w="9525">
            <a:solidFill>
              <a:srgbClr val="D9DE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2920" y="6446520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000" b="0" i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先进制造装备关键零部件研发及前沿技术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17175" y="6446520"/>
            <a:ext cx="13716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1000" b="0" i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9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234440"/>
            <a:ext cx="3606698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1234440"/>
            <a:ext cx="3606698" cy="457200"/>
          </a:xfrm>
          <a:prstGeom prst="rect">
            <a:avLst/>
          </a:prstGeom>
          <a:solidFill>
            <a:srgbClr val="009E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精度与精度保持性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6072" y="1764792"/>
            <a:ext cx="3460394" cy="144475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μm → sub-μm → nm 量级</a:t>
            </a:r>
          </a:p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几何精度 / 运动精度 / 重复精度</a:t>
            </a:r>
          </a:p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关键：精度随时间、温度、载荷的保持能力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92498" y="1234440"/>
            <a:ext cx="3606698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92498" y="1234440"/>
            <a:ext cx="3606698" cy="457200"/>
          </a:xfrm>
          <a:prstGeom prst="rect">
            <a:avLst/>
          </a:prstGeom>
          <a:solidFill>
            <a:srgbClr val="122E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刚度与动态特性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65650" y="1764792"/>
            <a:ext cx="3460394" cy="144475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静刚度、动刚度、阻尼、固有频率</a:t>
            </a:r>
          </a:p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决定颤振边界、轨迹跟踪误差</a:t>
            </a:r>
          </a:p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关键：轻量化与高刚度的权衡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82076" y="1234440"/>
            <a:ext cx="3606698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82076" y="1234440"/>
            <a:ext cx="3606698" cy="457200"/>
          </a:xfrm>
          <a:prstGeom prst="rect">
            <a:avLst/>
          </a:prstGeom>
          <a:solidFill>
            <a:srgbClr val="F2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热稳定性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55228" y="1764792"/>
            <a:ext cx="3460394" cy="144475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热源：轴承摩擦、电机损耗、切削热</a:t>
            </a:r>
          </a:p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热误差可占机床总误差 40–70%</a:t>
            </a:r>
          </a:p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关键：热对称设计、冷却、热误差补偿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3429000"/>
            <a:ext cx="3606698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2920" y="3429000"/>
            <a:ext cx="3606698" cy="457200"/>
          </a:xfrm>
          <a:prstGeom prst="rect">
            <a:avLst/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可靠性与寿命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6072" y="3959352"/>
            <a:ext cx="3460394" cy="144475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L10 寿命、MTBF、失效率曲线</a:t>
            </a:r>
          </a:p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失效机理：疲劳、磨损、腐蚀、电子退化</a:t>
            </a:r>
          </a:p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关键：加速试验与寿命预测模型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92498" y="3429000"/>
            <a:ext cx="3606698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292498" y="3429000"/>
            <a:ext cx="3606698" cy="457200"/>
          </a:xfrm>
          <a:prstGeom prst="rect">
            <a:avLst/>
          </a:prstGeom>
          <a:solidFill>
            <a:srgbClr val="8D99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一致性与可制造性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65650" y="3959352"/>
            <a:ext cx="3460394" cy="144475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批量性能离散度（Cpk）</a:t>
            </a:r>
          </a:p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工艺窗口、公差链、装配工艺性</a:t>
            </a:r>
          </a:p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关键：从“样机好”到“批量好”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82076" y="3429000"/>
            <a:ext cx="3606698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82076" y="3429000"/>
            <a:ext cx="3606698" cy="457200"/>
          </a:xfrm>
          <a:prstGeom prst="rect">
            <a:avLst/>
          </a:prstGeom>
          <a:solidFill>
            <a:srgbClr val="D64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极端工况适应性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55228" y="3959352"/>
            <a:ext cx="3460394" cy="144475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高速、高温、真空、洁净、强辐射</a:t>
            </a:r>
          </a:p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特殊润滑、材料与密封</a:t>
            </a:r>
          </a:p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关键：面向半导体、航天、核能等场景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2920" y="5623560"/>
            <a:ext cx="11185855" cy="502920"/>
          </a:xfrm>
          <a:prstGeom prst="rect">
            <a:avLst/>
          </a:prstGeom>
          <a:solidFill>
            <a:srgbClr val="FDF1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02920" y="5623560"/>
            <a:ext cx="73152" cy="502920"/>
          </a:xfrm>
          <a:prstGeom prst="rect">
            <a:avLst/>
          </a:prstGeom>
          <a:solidFill>
            <a:srgbClr val="F2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7512" y="5623560"/>
            <a:ext cx="10957255" cy="5029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350" b="1" i="0">
                <a:solidFill>
                  <a:srgbClr val="122E55"/>
                </a:solidFill>
                <a:latin typeface="Microsoft YaHei"/>
                <a:ea typeface="Microsoft YaHei"/>
                <a:cs typeface="Microsoft YaHei"/>
              </a:rPr>
              <a:t>研发的核心矛盾：高速 vs 寿命、高刚度 vs 低发热、高精度 vs 低成本 —— 需要系统级多目标优化思维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5720"/>
          </a:xfrm>
          <a:prstGeom prst="rect">
            <a:avLst/>
          </a:prstGeom>
          <a:solidFill>
            <a:srgbClr val="009E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950976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关键零部件研发的典型范式：V 模型与正向设计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21792"/>
            <a:ext cx="969264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0" i="0">
                <a:solidFill>
                  <a:srgbClr val="DDF4F8"/>
                </a:solidFill>
                <a:latin typeface="Microsoft YaHei"/>
                <a:ea typeface="Microsoft YaHei"/>
                <a:cs typeface="Microsoft YaHei"/>
              </a:rPr>
              <a:t>从“逆向测绘—仿制”走向“需求驱动—正向设计—试验验证—数据迭代”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82735" y="201168"/>
            <a:ext cx="265176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1200" b="0" i="0">
                <a:solidFill>
                  <a:srgbClr val="8D99AE"/>
                </a:solidFill>
                <a:latin typeface="Microsoft YaHei"/>
                <a:ea typeface="Microsoft YaHei"/>
                <a:cs typeface="Microsoft YaHei"/>
              </a:rPr>
              <a:t>第一部分 · 绪论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6419088"/>
            <a:ext cx="11185855" cy="0"/>
          </a:xfrm>
          <a:prstGeom prst="line">
            <a:avLst/>
          </a:prstGeom>
          <a:ln w="9525">
            <a:solidFill>
              <a:srgbClr val="D9DE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2920" y="6446520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000" b="0" i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先进制造装备关键零部件研发及前沿技术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17175" y="6446520"/>
            <a:ext cx="13716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1000" b="0" i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1325880"/>
            <a:ext cx="3017520" cy="731520"/>
          </a:xfrm>
          <a:prstGeom prst="rect">
            <a:avLst/>
          </a:prstGeom>
          <a:solidFill>
            <a:srgbClr val="122E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装备需求与指标分解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396935" y="1325880"/>
            <a:ext cx="3017520" cy="731520"/>
          </a:xfrm>
          <a:prstGeom prst="rect">
            <a:avLst/>
          </a:prstGeom>
          <a:solidFill>
            <a:srgbClr val="009E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零件检测与评价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794760" y="1691640"/>
            <a:ext cx="4602175" cy="0"/>
          </a:xfrm>
          <a:prstGeom prst="line">
            <a:avLst/>
          </a:prstGeom>
          <a:ln w="19050">
            <a:solidFill>
              <a:srgbClr val="D9DEE5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1463040" y="2286000"/>
            <a:ext cx="3017520" cy="731520"/>
          </a:xfrm>
          <a:prstGeom prst="rect">
            <a:avLst/>
          </a:prstGeom>
          <a:solidFill>
            <a:srgbClr val="122E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部件系统设计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11135" y="2286000"/>
            <a:ext cx="3017520" cy="731520"/>
          </a:xfrm>
          <a:prstGeom prst="rect">
            <a:avLst/>
          </a:prstGeom>
          <a:solidFill>
            <a:srgbClr val="009E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部件台架试验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480560" y="2651760"/>
            <a:ext cx="3230575" cy="0"/>
          </a:xfrm>
          <a:prstGeom prst="line">
            <a:avLst/>
          </a:prstGeom>
          <a:ln w="19050">
            <a:solidFill>
              <a:srgbClr val="D9DEE5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2148840" y="3246120"/>
            <a:ext cx="3017520" cy="731520"/>
          </a:xfrm>
          <a:prstGeom prst="rect">
            <a:avLst/>
          </a:prstGeom>
          <a:solidFill>
            <a:srgbClr val="122E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零件设计与材料选择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025335" y="3246120"/>
            <a:ext cx="3017520" cy="731520"/>
          </a:xfrm>
          <a:prstGeom prst="rect">
            <a:avLst/>
          </a:prstGeom>
          <a:solidFill>
            <a:srgbClr val="009E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整机集成验证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166360" y="3611880"/>
            <a:ext cx="1858975" cy="0"/>
          </a:xfrm>
          <a:prstGeom prst="line">
            <a:avLst/>
          </a:prstGeom>
          <a:ln w="19050">
            <a:solidFill>
              <a:srgbClr val="D9DEE5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2834640" y="4206240"/>
            <a:ext cx="3017520" cy="731520"/>
          </a:xfrm>
          <a:prstGeom prst="rect">
            <a:avLst/>
          </a:prstGeom>
          <a:solidFill>
            <a:srgbClr val="122E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工艺设计与制造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39535" y="4206240"/>
            <a:ext cx="3017520" cy="731520"/>
          </a:xfrm>
          <a:prstGeom prst="rect">
            <a:avLst/>
          </a:prstGeom>
          <a:solidFill>
            <a:srgbClr val="009E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现场数据反馈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852160" y="4572000"/>
            <a:ext cx="487375" cy="0"/>
          </a:xfrm>
          <a:prstGeom prst="line">
            <a:avLst/>
          </a:prstGeom>
          <a:ln w="19050">
            <a:solidFill>
              <a:srgbClr val="D9DEE5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4541367" y="5257800"/>
            <a:ext cx="3108960" cy="731520"/>
          </a:xfrm>
          <a:prstGeom prst="rect">
            <a:avLst/>
          </a:prstGeom>
          <a:solidFill>
            <a:srgbClr val="F2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1" i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制造 / 装配 / 调试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080760"/>
            <a:ext cx="11185855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1350" b="1" i="0">
                <a:solidFill>
                  <a:srgbClr val="122E55"/>
                </a:solidFill>
                <a:latin typeface="Microsoft YaHei"/>
                <a:ea typeface="Microsoft YaHei"/>
                <a:cs typeface="Microsoft YaHei"/>
              </a:rPr>
              <a:t>闭环的关键：试验数据库 + 设计知识库 + 工艺参数库  →  这是先进企业数十年积累形成的核心壁垒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122E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103120"/>
            <a:ext cx="3200400" cy="18288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1000" b="1" i="0">
                <a:solidFill>
                  <a:srgbClr val="009EB8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3931920"/>
            <a:ext cx="320040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800" b="0" i="0">
                <a:solidFill>
                  <a:srgbClr val="8D99AE"/>
                </a:solidFill>
                <a:latin typeface="Microsoft YaHei"/>
                <a:ea typeface="Microsoft YaHei"/>
                <a:cs typeface="Microsoft YaHei"/>
              </a:rPr>
              <a:t>第二部分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46320" y="2194560"/>
            <a:ext cx="6949440" cy="15544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核心基础零部件研发现状与关键技术</a:t>
            </a:r>
          </a:p>
        </p:txBody>
      </p:sp>
      <p:sp>
        <p:nvSpPr>
          <p:cNvPr id="7" name="Rectangle 6"/>
          <p:cNvSpPr/>
          <p:nvPr/>
        </p:nvSpPr>
        <p:spPr>
          <a:xfrm>
            <a:off x="4846320" y="3840480"/>
            <a:ext cx="1097280" cy="54864"/>
          </a:xfrm>
          <a:prstGeom prst="rect">
            <a:avLst/>
          </a:prstGeom>
          <a:solidFill>
            <a:srgbClr val="F2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846320" y="4023360"/>
            <a:ext cx="640080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800" b="0" i="0">
                <a:solidFill>
                  <a:srgbClr val="DDF4F8"/>
                </a:solidFill>
                <a:latin typeface="Microsoft YaHei"/>
                <a:ea typeface="Microsoft YaHei"/>
                <a:cs typeface="Microsoft YaHei"/>
              </a:rPr>
              <a:t>约 30 分钟</a:t>
            </a:r>
          </a:p>
        </p:txBody>
      </p:sp>
      <p:sp>
        <p:nvSpPr>
          <p:cNvPr id="9" name="Rectangle 8"/>
          <p:cNvSpPr/>
          <p:nvPr/>
        </p:nvSpPr>
        <p:spPr>
          <a:xfrm>
            <a:off x="4846320" y="5760720"/>
            <a:ext cx="1234440" cy="91440"/>
          </a:xfrm>
          <a:prstGeom prst="rect">
            <a:avLst/>
          </a:prstGeom>
          <a:solidFill>
            <a:srgbClr val="009E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46320" y="5897880"/>
            <a:ext cx="123444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000" b="0" i="0">
                <a:solidFill>
                  <a:srgbClr val="8D99AE"/>
                </a:solidFill>
                <a:latin typeface="Microsoft YaHei"/>
                <a:ea typeface="Microsoft YaHei"/>
                <a:cs typeface="Microsoft YaHei"/>
              </a:rPr>
              <a:t>绪论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5760720"/>
            <a:ext cx="1234440" cy="91440"/>
          </a:xfrm>
          <a:prstGeom prst="rect">
            <a:avLst/>
          </a:prstGeom>
          <a:solidFill>
            <a:srgbClr val="009E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0" y="5897880"/>
            <a:ext cx="123444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000" b="0" i="0">
                <a:solidFill>
                  <a:srgbClr val="DDF4F8"/>
                </a:solidFill>
                <a:latin typeface="Microsoft YaHei"/>
                <a:ea typeface="Microsoft YaHei"/>
                <a:cs typeface="Microsoft YaHei"/>
              </a:rPr>
              <a:t>核心零部件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589520" y="5760720"/>
            <a:ext cx="1234440" cy="91440"/>
          </a:xfrm>
          <a:prstGeom prst="rect">
            <a:avLst/>
          </a:prstGeom>
          <a:solidFill>
            <a:srgbClr val="8D99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89520" y="5897880"/>
            <a:ext cx="123444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000" b="0" i="0">
                <a:solidFill>
                  <a:srgbClr val="8D99AE"/>
                </a:solidFill>
                <a:latin typeface="Microsoft YaHei"/>
                <a:ea typeface="Microsoft YaHei"/>
                <a:cs typeface="Microsoft YaHei"/>
              </a:rPr>
              <a:t>共性技术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961120" y="5760720"/>
            <a:ext cx="1234440" cy="91440"/>
          </a:xfrm>
          <a:prstGeom prst="rect">
            <a:avLst/>
          </a:prstGeom>
          <a:solidFill>
            <a:srgbClr val="8D99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0" y="5897880"/>
            <a:ext cx="123444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000" b="0" i="0">
                <a:solidFill>
                  <a:srgbClr val="8D99AE"/>
                </a:solidFill>
                <a:latin typeface="Microsoft YaHei"/>
                <a:ea typeface="Microsoft YaHei"/>
                <a:cs typeface="Microsoft YaHei"/>
              </a:rPr>
              <a:t>前沿技术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332720" y="5760720"/>
            <a:ext cx="1234440" cy="91440"/>
          </a:xfrm>
          <a:prstGeom prst="rect">
            <a:avLst/>
          </a:prstGeom>
          <a:solidFill>
            <a:srgbClr val="8D99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332720" y="5897880"/>
            <a:ext cx="123444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000" b="0" i="0">
                <a:solidFill>
                  <a:srgbClr val="8D99AE"/>
                </a:solidFill>
                <a:latin typeface="Microsoft YaHei"/>
                <a:ea typeface="Microsoft YaHei"/>
                <a:cs typeface="Microsoft YaHei"/>
              </a:rPr>
              <a:t>趋势与建议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5720"/>
          </a:xfrm>
          <a:prstGeom prst="rect">
            <a:avLst/>
          </a:prstGeom>
          <a:solidFill>
            <a:srgbClr val="009E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950976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2.1 高端轴承：装备的“关节”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21792"/>
            <a:ext cx="969264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0" i="0">
                <a:solidFill>
                  <a:srgbClr val="DDF4F8"/>
                </a:solidFill>
                <a:latin typeface="Microsoft YaHei"/>
                <a:ea typeface="Microsoft YaHei"/>
                <a:cs typeface="Microsoft YaHei"/>
              </a:rPr>
              <a:t>分类、关键指标与技术门槛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82735" y="201168"/>
            <a:ext cx="265176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1200" b="0" i="0">
                <a:solidFill>
                  <a:srgbClr val="8D99AE"/>
                </a:solidFill>
                <a:latin typeface="Microsoft YaHei"/>
                <a:ea typeface="Microsoft YaHei"/>
                <a:cs typeface="Microsoft YaHei"/>
              </a:rPr>
              <a:t>第二部分 · 核心零部件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6419088"/>
            <a:ext cx="11185855" cy="0"/>
          </a:xfrm>
          <a:prstGeom prst="line">
            <a:avLst/>
          </a:prstGeom>
          <a:ln w="9525">
            <a:solidFill>
              <a:srgbClr val="D9DE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2920" y="6446520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000" b="0" i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先进制造装备关键零部件研发及前沿技术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17175" y="6446520"/>
            <a:ext cx="13716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1000" b="0" i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234440"/>
            <a:ext cx="2659303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1234440"/>
            <a:ext cx="2659303" cy="457200"/>
          </a:xfrm>
          <a:prstGeom prst="rect">
            <a:avLst/>
          </a:prstGeom>
          <a:solidFill>
            <a:srgbClr val="009E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滚动轴承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6072" y="1764792"/>
            <a:ext cx="2512999" cy="208483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角接触球轴承、圆柱滚子、圆锥滚子、交叉滚子</a:t>
            </a:r>
          </a:p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应用：主轴、丝杠支承、转台、机器人关节</a:t>
            </a:r>
          </a:p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关键：精度等级 P4/P2、DN 值、预紧、寿命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45103" y="1234440"/>
            <a:ext cx="2659303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345103" y="1234440"/>
            <a:ext cx="2659303" cy="457200"/>
          </a:xfrm>
          <a:prstGeom prst="rect">
            <a:avLst/>
          </a:prstGeom>
          <a:solidFill>
            <a:srgbClr val="122E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滑动/流体轴承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18255" y="1764792"/>
            <a:ext cx="2512999" cy="208483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液体静压、动静压、气体静压、箔片轴承</a:t>
            </a:r>
          </a:p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应用：超精密机床、高速透平、磨床主轴</a:t>
            </a:r>
          </a:p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关键：间隙精度（μm）、刚度、稳定性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87287" y="1234440"/>
            <a:ext cx="2659303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87287" y="1234440"/>
            <a:ext cx="2659303" cy="457200"/>
          </a:xfrm>
          <a:prstGeom prst="rect">
            <a:avLst/>
          </a:prstGeom>
          <a:solidFill>
            <a:srgbClr val="F2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磁悬浮轴承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0439" y="1764792"/>
            <a:ext cx="2512999" cy="208483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主动电磁、被动永磁、混合式</a:t>
            </a:r>
          </a:p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应用：涡轮分子泵、高速电机、飞轮储能</a:t>
            </a:r>
          </a:p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关键：控制带宽、功率放大器、容错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029471" y="1234440"/>
            <a:ext cx="2659303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029471" y="1234440"/>
            <a:ext cx="2659303" cy="457200"/>
          </a:xfrm>
          <a:prstGeom prst="rect">
            <a:avLst/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特种轴承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02623" y="1764792"/>
            <a:ext cx="2512999" cy="208483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陶瓷/混合陶瓷、薄壁、真空/低温、固体润滑</a:t>
            </a:r>
          </a:p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应用：航天、半导体、核能</a:t>
            </a:r>
          </a:p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关键：材料、润滑、极端环境可靠性</a:t>
            </a:r>
          </a:p>
        </p:txBody>
      </p:sp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502920" y="4069080"/>
          <a:ext cx="11185854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64309"/>
                <a:gridCol w="4194695"/>
                <a:gridCol w="5126850"/>
              </a:tblGrid>
              <a:tr h="420624"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关键指标</a:t>
                      </a:r>
                    </a:p>
                  </a:txBody>
                  <a:tcPr marL="64008" marR="64008" marT="27432" marB="27432" anchor="ctr">
                    <a:solidFill>
                      <a:srgbClr val="0B1F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典型要求（高端主轴轴承）</a:t>
                      </a:r>
                    </a:p>
                  </a:txBody>
                  <a:tcPr marL="64008" marR="64008" marT="27432" marB="27432" anchor="ctr">
                    <a:solidFill>
                      <a:srgbClr val="0B1F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物理意义与难点</a:t>
                      </a:r>
                    </a:p>
                  </a:txBody>
                  <a:tcPr marL="64008" marR="64008" marT="27432" marB="27432" anchor="ctr">
                    <a:solidFill>
                      <a:srgbClr val="0B1F3A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150" b="1" i="0">
                          <a:solidFill>
                            <a:srgbClr val="122E5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旋转精度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P4 / P2 级，径向跳动 ≤ 1–2 μm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套圈沟道圆度、波纹度、滚动体直径一致性（亚微米）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150" b="1" i="0">
                          <a:solidFill>
                            <a:srgbClr val="122E5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极限转速（DN 值）</a:t>
                      </a:r>
                    </a:p>
                  </a:txBody>
                  <a:tcPr marL="64008" marR="64008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钢球 1.5–2.0×10⁶，陶瓷球 2.5–3.0×10⁶ mm·r/min</a:t>
                      </a:r>
                    </a:p>
                  </a:txBody>
                  <a:tcPr marL="64008" marR="64008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离心力与发热随转速平方增长，润滑膜形成</a:t>
                      </a:r>
                    </a:p>
                  </a:txBody>
                  <a:tcPr marL="64008" marR="64008" marT="27432" marB="27432" anchor="ctr">
                    <a:solidFill>
                      <a:srgbClr val="F2F4F7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150" b="1" i="0">
                          <a:solidFill>
                            <a:srgbClr val="122E5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刚度与预紧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预紧力精确可控，温升后预紧漂移小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预紧—刚度—发热—寿命强耦合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150" b="1" i="0">
                          <a:solidFill>
                            <a:srgbClr val="122E5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寿命与可靠性</a:t>
                      </a:r>
                    </a:p>
                  </a:txBody>
                  <a:tcPr marL="64008" marR="64008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L10 寿命数万小时，噪声/振动等级低</a:t>
                      </a:r>
                    </a:p>
                  </a:txBody>
                  <a:tcPr marL="64008" marR="64008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材料夹杂物、表面完整性、润滑脂寿命</a:t>
                      </a:r>
                    </a:p>
                  </a:txBody>
                  <a:tcPr marL="64008" marR="64008" marT="27432" marB="27432" anchor="ctr"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5720"/>
          </a:xfrm>
          <a:prstGeom prst="rect">
            <a:avLst/>
          </a:prstGeom>
          <a:solidFill>
            <a:srgbClr val="009E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950976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2.1 精密主轴轴承：材料—工艺—润滑的协同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21792"/>
            <a:ext cx="969264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0" i="0">
                <a:solidFill>
                  <a:srgbClr val="DDF4F8"/>
                </a:solidFill>
                <a:latin typeface="Microsoft YaHei"/>
                <a:ea typeface="Microsoft YaHei"/>
                <a:cs typeface="Microsoft YaHei"/>
              </a:rPr>
              <a:t>以高速角接触球轴承为例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82735" y="201168"/>
            <a:ext cx="265176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1200" b="0" i="0">
                <a:solidFill>
                  <a:srgbClr val="8D99AE"/>
                </a:solidFill>
                <a:latin typeface="Microsoft YaHei"/>
                <a:ea typeface="Microsoft YaHei"/>
                <a:cs typeface="Microsoft YaHei"/>
              </a:rPr>
              <a:t>第二部分 · 核心零部件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6419088"/>
            <a:ext cx="11185855" cy="0"/>
          </a:xfrm>
          <a:prstGeom prst="line">
            <a:avLst/>
          </a:prstGeom>
          <a:ln w="9525">
            <a:solidFill>
              <a:srgbClr val="D9DE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2920" y="6446520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000" b="0" i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先进制造装备关键零部件研发及前沿技术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17175" y="6446520"/>
            <a:ext cx="13716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1000" b="0" i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234440"/>
            <a:ext cx="5852160" cy="4937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800" b="0" i="0">
                <a:solidFill>
                  <a:srgbClr val="009EB8"/>
                </a:solidFill>
                <a:latin typeface="Microsoft YaHei"/>
                <a:ea typeface="Microsoft YaHei"/>
                <a:cs typeface="Microsoft YaHei"/>
              </a:rPr>
              <a:t>■ </a:t>
            </a:r>
            <a:r>
              <a:rPr sz="1500" b="1" i="0">
                <a:solidFill>
                  <a:srgbClr val="122E55"/>
                </a:solidFill>
                <a:latin typeface="Microsoft YaHei"/>
                <a:ea typeface="Microsoft YaHei"/>
                <a:cs typeface="Microsoft YaHei"/>
              </a:rPr>
              <a:t>材料体系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200" b="0" i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      – </a:t>
            </a:r>
            <a:r>
              <a:rPr sz="1300" b="0" i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套圈：GCr15/GCr15SiMn、Cr4Mo4V（高温）、渗碳钢；氧含量 ≤ 5–8 ppm，夹杂物评级控制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200" b="0" i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      – </a:t>
            </a:r>
            <a:r>
              <a:rPr sz="1300" b="0" i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滚动体：Si₃N₄ 陶瓷球（密度为钢的 40%，弹性模量高 50%），降低离心力与发热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200" b="0" i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      – </a:t>
            </a:r>
            <a:r>
              <a:rPr sz="1300" b="0" i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保持架：酚醛层压布管、PEEK、黄铜；高速下的变形与引导方式</a:t>
            </a:r>
          </a:p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800" b="0" i="0">
                <a:solidFill>
                  <a:srgbClr val="009EB8"/>
                </a:solidFill>
                <a:latin typeface="Microsoft YaHei"/>
                <a:ea typeface="Microsoft YaHei"/>
                <a:cs typeface="Microsoft YaHei"/>
              </a:rPr>
              <a:t>■ </a:t>
            </a:r>
            <a:r>
              <a:rPr sz="1500" b="1" i="0">
                <a:solidFill>
                  <a:srgbClr val="122E55"/>
                </a:solidFill>
                <a:latin typeface="Microsoft YaHei"/>
                <a:ea typeface="Microsoft YaHei"/>
                <a:cs typeface="Microsoft YaHei"/>
              </a:rPr>
              <a:t>制造工艺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200" b="0" i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      – </a:t>
            </a:r>
            <a:r>
              <a:rPr sz="1300" b="0" i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沟道超精研：圆度 ≤ 0.2 μm，波纹度与粗糙度 Ra ≤ 0.02 μm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200" b="0" i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      – </a:t>
            </a:r>
            <a:r>
              <a:rPr sz="1300" b="0" i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热处理：真空/可控气氛淬火、深冷处理、残余奥氏体控制与尺寸稳定性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200" b="0" i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      – </a:t>
            </a:r>
            <a:r>
              <a:rPr sz="1300" b="0" i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选配与成组：接触角、沟位置差控制，成组轴承预紧一致性</a:t>
            </a:r>
          </a:p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800" b="0" i="0">
                <a:solidFill>
                  <a:srgbClr val="009EB8"/>
                </a:solidFill>
                <a:latin typeface="Microsoft YaHei"/>
                <a:ea typeface="Microsoft YaHei"/>
                <a:cs typeface="Microsoft YaHei"/>
              </a:rPr>
              <a:t>■ </a:t>
            </a:r>
            <a:r>
              <a:rPr sz="1500" b="1" i="0">
                <a:solidFill>
                  <a:srgbClr val="122E55"/>
                </a:solidFill>
                <a:latin typeface="Microsoft YaHei"/>
                <a:ea typeface="Microsoft YaHei"/>
                <a:cs typeface="Microsoft YaHei"/>
              </a:rPr>
              <a:t>润滑与热管理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200" b="0" i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      – </a:t>
            </a:r>
            <a:r>
              <a:rPr sz="1300" b="0" i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油气润滑、油雾润滑；脂润滑寿命模型；外圈冷却套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200" b="0" i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      – </a:t>
            </a:r>
            <a:r>
              <a:rPr sz="1300" b="0" i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轴承—主轴—壳体热—结构耦合：预紧随温升变化是寿命杀手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675120" y="1234440"/>
            <a:ext cx="1603248" cy="1280160"/>
          </a:xfrm>
          <a:prstGeom prst="rect">
            <a:avLst/>
          </a:prstGeom>
          <a:solidFill>
            <a:srgbClr val="DD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675120" y="1234440"/>
            <a:ext cx="73152" cy="1280160"/>
          </a:xfrm>
          <a:prstGeom prst="rect">
            <a:avLst/>
          </a:prstGeom>
          <a:solidFill>
            <a:srgbClr val="009E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12280" y="1289304"/>
            <a:ext cx="1420368" cy="5029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2000" b="1" i="0">
                <a:solidFill>
                  <a:srgbClr val="122E55"/>
                </a:solidFill>
                <a:latin typeface="Microsoft YaHei"/>
                <a:ea typeface="Microsoft YaHei"/>
                <a:cs typeface="Microsoft YaHei"/>
              </a:rPr>
              <a:t>≤ 2 μm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12280" y="1783080"/>
            <a:ext cx="1420368" cy="6858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P2 级主轴轴承径向跳动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88096" y="1234440"/>
            <a:ext cx="1603248" cy="1280160"/>
          </a:xfrm>
          <a:prstGeom prst="rect">
            <a:avLst/>
          </a:prstGeom>
          <a:solidFill>
            <a:srgbClr val="DD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88096" y="1234440"/>
            <a:ext cx="73152" cy="1280160"/>
          </a:xfrm>
          <a:prstGeom prst="rect">
            <a:avLst/>
          </a:prstGeom>
          <a:solidFill>
            <a:srgbClr val="009E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25256" y="1289304"/>
            <a:ext cx="1420368" cy="5029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2000" b="1" i="0">
                <a:solidFill>
                  <a:srgbClr val="122E55"/>
                </a:solidFill>
                <a:latin typeface="Microsoft YaHei"/>
                <a:ea typeface="Microsoft YaHei"/>
                <a:cs typeface="Microsoft YaHei"/>
              </a:rPr>
              <a:t>3.0×10⁶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25256" y="1783080"/>
            <a:ext cx="1420368" cy="6858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陶瓷球混合轴承 DN 值上限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101072" y="1234440"/>
            <a:ext cx="1603248" cy="1280160"/>
          </a:xfrm>
          <a:prstGeom prst="rect">
            <a:avLst/>
          </a:prstGeom>
          <a:solidFill>
            <a:srgbClr val="DD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0101072" y="1234440"/>
            <a:ext cx="73152" cy="1280160"/>
          </a:xfrm>
          <a:prstGeom prst="rect">
            <a:avLst/>
          </a:prstGeom>
          <a:solidFill>
            <a:srgbClr val="009E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238232" y="1289304"/>
            <a:ext cx="1420368" cy="5029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2000" b="1" i="0">
                <a:solidFill>
                  <a:srgbClr val="122E55"/>
                </a:solidFill>
                <a:latin typeface="Microsoft YaHei"/>
                <a:ea typeface="Microsoft YaHei"/>
                <a:cs typeface="Microsoft YaHei"/>
              </a:rPr>
              <a:t>≤ 5 ppm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238232" y="1783080"/>
            <a:ext cx="1420368" cy="6858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高端轴承钢氧含量目标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675120" y="2743200"/>
            <a:ext cx="5029200" cy="34290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12280" y="2834640"/>
            <a:ext cx="475488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400" b="1" i="0">
                <a:solidFill>
                  <a:srgbClr val="122E55"/>
                </a:solidFill>
                <a:latin typeface="Microsoft YaHei"/>
                <a:ea typeface="Microsoft YaHei"/>
                <a:cs typeface="Microsoft YaHei"/>
              </a:rPr>
              <a:t>研究方向（学术视角）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66560" y="3200400"/>
            <a:ext cx="4846320" cy="2926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550" b="0" i="0">
                <a:solidFill>
                  <a:srgbClr val="009EB8"/>
                </a:solidFill>
                <a:latin typeface="Microsoft YaHei"/>
                <a:ea typeface="Microsoft YaHei"/>
                <a:cs typeface="Microsoft YaHei"/>
              </a:rPr>
              <a:t>■ </a:t>
            </a:r>
            <a:r>
              <a:rPr sz="125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多体动力学 + 弹流润滑（EHL）+ 热的耦合建模，预测高速下保持架稳定性与打滑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550" b="0" i="0">
                <a:solidFill>
                  <a:srgbClr val="009EB8"/>
                </a:solidFill>
                <a:latin typeface="Microsoft YaHei"/>
                <a:ea typeface="Microsoft YaHei"/>
                <a:cs typeface="Microsoft YaHei"/>
              </a:rPr>
              <a:t>■ </a:t>
            </a:r>
            <a:r>
              <a:rPr sz="125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滚动接触疲劳机理：白蚀区（WEA）、夹杂物起裂的多尺度模拟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550" b="0" i="0">
                <a:solidFill>
                  <a:srgbClr val="009EB8"/>
                </a:solidFill>
                <a:latin typeface="Microsoft YaHei"/>
                <a:ea typeface="Microsoft YaHei"/>
                <a:cs typeface="Microsoft YaHei"/>
              </a:rPr>
              <a:t>■ </a:t>
            </a:r>
            <a:r>
              <a:rPr sz="125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智能轴承：嵌入式温度/振动/载荷感知与预紧主动调控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550" b="0" i="0">
                <a:solidFill>
                  <a:srgbClr val="009EB8"/>
                </a:solidFill>
                <a:latin typeface="Microsoft YaHei"/>
                <a:ea typeface="Microsoft YaHei"/>
                <a:cs typeface="Microsoft YaHei"/>
              </a:rPr>
              <a:t>■ </a:t>
            </a:r>
            <a:r>
              <a:rPr sz="125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面向批量的工艺—性能映射与数字孪生质量控制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5720"/>
          </a:xfrm>
          <a:prstGeom prst="rect">
            <a:avLst/>
          </a:prstGeom>
          <a:solidFill>
            <a:srgbClr val="009E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950976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2.1 非接触支承：气体静压轴承与磁悬浮轴承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21792"/>
            <a:ext cx="969264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0" i="0">
                <a:solidFill>
                  <a:srgbClr val="DDF4F8"/>
                </a:solidFill>
                <a:latin typeface="Microsoft YaHei"/>
                <a:ea typeface="Microsoft YaHei"/>
                <a:cs typeface="Microsoft YaHei"/>
              </a:rPr>
              <a:t>超精密与超高速装备的首选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82735" y="201168"/>
            <a:ext cx="265176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1200" b="0" i="0">
                <a:solidFill>
                  <a:srgbClr val="8D99AE"/>
                </a:solidFill>
                <a:latin typeface="Microsoft YaHei"/>
                <a:ea typeface="Microsoft YaHei"/>
                <a:cs typeface="Microsoft YaHei"/>
              </a:rPr>
              <a:t>第二部分 · 核心零部件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6419088"/>
            <a:ext cx="11185855" cy="0"/>
          </a:xfrm>
          <a:prstGeom prst="line">
            <a:avLst/>
          </a:prstGeom>
          <a:ln w="9525">
            <a:solidFill>
              <a:srgbClr val="D9DE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2920" y="6446520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000" b="0" i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先进制造装备关键零部件研发及前沿技术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17175" y="6446520"/>
            <a:ext cx="13716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1000" b="0" i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02920" y="1234440"/>
          <a:ext cx="11185853" cy="3328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66187"/>
                <a:gridCol w="4709833"/>
                <a:gridCol w="4709833"/>
              </a:tblGrid>
              <a:tr h="475488">
                <a:tc>
                  <a:txBody>
                    <a:bodyPr wrap="square"/>
                    <a:lstStyle/>
                    <a:p>
                      <a:pPr algn="ctr"/>
                      <a:r>
                        <a:rPr sz="12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对比项</a:t>
                      </a:r>
                    </a:p>
                  </a:txBody>
                  <a:tcPr marL="64008" marR="64008" marT="27432" marB="27432" anchor="ctr">
                    <a:solidFill>
                      <a:srgbClr val="0B1F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气体静压轴承</a:t>
                      </a:r>
                    </a:p>
                  </a:txBody>
                  <a:tcPr marL="64008" marR="64008" marT="27432" marB="27432" anchor="ctr">
                    <a:solidFill>
                      <a:srgbClr val="0B1F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主动磁悬浮轴承（AMB）</a:t>
                      </a:r>
                    </a:p>
                  </a:txBody>
                  <a:tcPr marL="64008" marR="64008" marT="27432" marB="27432" anchor="ctr">
                    <a:solidFill>
                      <a:srgbClr val="0B1F3A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122E5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工作原理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外部供气在间隙（5–20 μm）形成压力膜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电磁力悬浮，位移传感器+控制器闭环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122E5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回转精度</a:t>
                      </a:r>
                    </a:p>
                  </a:txBody>
                  <a:tcPr marL="64008" marR="64008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可达 ≤ 50 nm（误差均化效应）</a:t>
                      </a:r>
                    </a:p>
                  </a:txBody>
                  <a:tcPr marL="64008" marR="64008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亚微米级，取决于传感与控制</a:t>
                      </a:r>
                    </a:p>
                  </a:txBody>
                  <a:tcPr marL="64008" marR="64008" marT="27432" marB="27432" anchor="ctr">
                    <a:solidFill>
                      <a:srgbClr val="F2F4F7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122E5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刚度/承载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刚度中低（数十–数百 N/μm），承载有限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可调，承载受电磁饱和限制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122E5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速度/摩擦</a:t>
                      </a:r>
                    </a:p>
                  </a:txBody>
                  <a:tcPr marL="64008" marR="64008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无磨损，摩擦极低；高速易产生气锤自激</a:t>
                      </a:r>
                    </a:p>
                  </a:txBody>
                  <a:tcPr marL="64008" marR="64008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无接触，适合超高速（&gt;100 000 r/min）</a:t>
                      </a:r>
                    </a:p>
                  </a:txBody>
                  <a:tcPr marL="64008" marR="64008" marT="27432" marB="27432" anchor="ctr">
                    <a:solidFill>
                      <a:srgbClr val="F2F4F7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122E5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典型应用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超精密机床主轴/导轨、光刻机工件台、三坐标测量机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涡轮分子泵、离心压缩机、高速电主轴、飞轮储能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122E5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研发难点</a:t>
                      </a:r>
                    </a:p>
                  </a:txBody>
                  <a:tcPr marL="64008" marR="64008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节流器微结构加工、气膜稳定性、供气洁净度</a:t>
                      </a:r>
                    </a:p>
                  </a:txBody>
                  <a:tcPr marL="64008" marR="64008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控制带宽、功放、传感器噪声、断电保护轴承</a:t>
                      </a:r>
                    </a:p>
                  </a:txBody>
                  <a:tcPr marL="64008" marR="64008" marT="27432" marB="27432" anchor="ctr"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502920" y="4846320"/>
            <a:ext cx="11185855" cy="502920"/>
          </a:xfrm>
          <a:prstGeom prst="rect">
            <a:avLst/>
          </a:prstGeom>
          <a:solidFill>
            <a:srgbClr val="FDF1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4846320"/>
            <a:ext cx="73152" cy="502920"/>
          </a:xfrm>
          <a:prstGeom prst="rect">
            <a:avLst/>
          </a:prstGeom>
          <a:solidFill>
            <a:srgbClr val="F2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" y="4846320"/>
            <a:ext cx="10957255" cy="5029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350" b="1" i="0">
                <a:solidFill>
                  <a:srgbClr val="122E55"/>
                </a:solidFill>
                <a:latin typeface="Microsoft YaHei"/>
                <a:ea typeface="Microsoft YaHei"/>
                <a:cs typeface="Microsoft YaHei"/>
              </a:rPr>
              <a:t>前沿：多孔质石墨节流气浮、气磁混合支承、无传感器（自感知）磁轴承、基于模型预测控制的 AMB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5440680"/>
            <a:ext cx="11185855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科学问题：气膜微尺度流动的稳定性与非线性（气锤振荡）；磁悬浮转子—控制器—电磁系统的多场耦合与鲁棒性；非接触支承的误差均化机理与极限精度。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5720"/>
          </a:xfrm>
          <a:prstGeom prst="rect">
            <a:avLst/>
          </a:prstGeom>
          <a:solidFill>
            <a:srgbClr val="009E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950976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2.1 轴承研发全链条：差距在每一环节的“最后 10%”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21792"/>
            <a:ext cx="969264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0" i="0">
                <a:solidFill>
                  <a:srgbClr val="DDF4F8"/>
                </a:solidFill>
                <a:latin typeface="Microsoft YaHei"/>
                <a:ea typeface="Microsoft YaHei"/>
                <a:cs typeface="Microsoft YaHei"/>
              </a:rPr>
              <a:t>材料 → 热处理 → 加工 → 检测 → 试验 → 应用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82735" y="201168"/>
            <a:ext cx="265176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1200" b="0" i="0">
                <a:solidFill>
                  <a:srgbClr val="8D99AE"/>
                </a:solidFill>
                <a:latin typeface="Microsoft YaHei"/>
                <a:ea typeface="Microsoft YaHei"/>
                <a:cs typeface="Microsoft YaHei"/>
              </a:rPr>
              <a:t>第二部分 · 核心零部件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6419088"/>
            <a:ext cx="11185855" cy="0"/>
          </a:xfrm>
          <a:prstGeom prst="line">
            <a:avLst/>
          </a:prstGeom>
          <a:ln w="9525">
            <a:solidFill>
              <a:srgbClr val="D9DE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2920" y="6446520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000" b="0" i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先进制造装备关键零部件研发及前沿技术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17175" y="6446520"/>
            <a:ext cx="13716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1000" b="0" i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  <p:sp>
        <p:nvSpPr>
          <p:cNvPr id="10" name="Pentagon 9"/>
          <p:cNvSpPr/>
          <p:nvPr/>
        </p:nvSpPr>
        <p:spPr>
          <a:xfrm>
            <a:off x="502920" y="1234440"/>
            <a:ext cx="1937461" cy="777240"/>
          </a:xfrm>
          <a:prstGeom prst="homePlate">
            <a:avLst/>
          </a:prstGeom>
          <a:solidFill>
            <a:srgbClr val="122E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36576" bIns="36576"/>
          <a:lstStyle/>
          <a:p>
            <a:pPr algn="ctr"/>
            <a:r>
              <a:rPr sz="13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特种冶金</a:t>
            </a:r>
          </a:p>
        </p:txBody>
      </p:sp>
      <p:sp>
        <p:nvSpPr>
          <p:cNvPr id="11" name="Chevron 10"/>
          <p:cNvSpPr/>
          <p:nvPr/>
        </p:nvSpPr>
        <p:spPr>
          <a:xfrm>
            <a:off x="2367229" y="1234440"/>
            <a:ext cx="1937461" cy="777240"/>
          </a:xfrm>
          <a:prstGeom prst="chevron">
            <a:avLst/>
          </a:prstGeom>
          <a:solidFill>
            <a:srgbClr val="009E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36576" bIns="36576"/>
          <a:lstStyle/>
          <a:p>
            <a:pPr algn="ctr"/>
            <a:r>
              <a:rPr sz="13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热处理</a:t>
            </a:r>
          </a:p>
        </p:txBody>
      </p:sp>
      <p:sp>
        <p:nvSpPr>
          <p:cNvPr id="12" name="Chevron 11"/>
          <p:cNvSpPr/>
          <p:nvPr/>
        </p:nvSpPr>
        <p:spPr>
          <a:xfrm>
            <a:off x="4231538" y="1234440"/>
            <a:ext cx="1937461" cy="777240"/>
          </a:xfrm>
          <a:prstGeom prst="chevron">
            <a:avLst/>
          </a:prstGeom>
          <a:solidFill>
            <a:srgbClr val="122E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36576" bIns="36576"/>
          <a:lstStyle/>
          <a:p>
            <a:pPr algn="ctr"/>
            <a:r>
              <a:rPr sz="13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超精加工</a:t>
            </a:r>
          </a:p>
        </p:txBody>
      </p:sp>
      <p:sp>
        <p:nvSpPr>
          <p:cNvPr id="13" name="Chevron 12"/>
          <p:cNvSpPr/>
          <p:nvPr/>
        </p:nvSpPr>
        <p:spPr>
          <a:xfrm>
            <a:off x="6095847" y="1234440"/>
            <a:ext cx="1937461" cy="777240"/>
          </a:xfrm>
          <a:prstGeom prst="chevron">
            <a:avLst/>
          </a:prstGeom>
          <a:solidFill>
            <a:srgbClr val="009E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36576" bIns="36576"/>
          <a:lstStyle/>
          <a:p>
            <a:pPr algn="ctr"/>
            <a:r>
              <a:rPr sz="13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精密检测</a:t>
            </a:r>
          </a:p>
        </p:txBody>
      </p:sp>
      <p:sp>
        <p:nvSpPr>
          <p:cNvPr id="14" name="Chevron 13"/>
          <p:cNvSpPr/>
          <p:nvPr/>
        </p:nvSpPr>
        <p:spPr>
          <a:xfrm>
            <a:off x="7960156" y="1234440"/>
            <a:ext cx="1937461" cy="777240"/>
          </a:xfrm>
          <a:prstGeom prst="chevron">
            <a:avLst/>
          </a:prstGeom>
          <a:solidFill>
            <a:srgbClr val="122E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36576" bIns="36576"/>
          <a:lstStyle/>
          <a:p>
            <a:pPr algn="ctr"/>
            <a:r>
              <a:rPr sz="13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寿命试验</a:t>
            </a:r>
          </a:p>
        </p:txBody>
      </p:sp>
      <p:sp>
        <p:nvSpPr>
          <p:cNvPr id="15" name="Chevron 14"/>
          <p:cNvSpPr/>
          <p:nvPr/>
        </p:nvSpPr>
        <p:spPr>
          <a:xfrm>
            <a:off x="9824465" y="1234440"/>
            <a:ext cx="1937461" cy="777240"/>
          </a:xfrm>
          <a:prstGeom prst="chevron">
            <a:avLst/>
          </a:prstGeom>
          <a:solidFill>
            <a:srgbClr val="009E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36576" bIns="36576"/>
          <a:lstStyle/>
          <a:p>
            <a:pPr algn="ctr"/>
            <a:r>
              <a:rPr sz="13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装机应用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2194560"/>
            <a:ext cx="1772869" cy="22860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2258568"/>
            <a:ext cx="1681429" cy="21945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钢材纯净度与均匀性</a:t>
            </a:r>
          </a:p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大尺寸夹杂物概率</a:t>
            </a:r>
          </a:p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陶瓷球烧结缺陷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412949" y="2194560"/>
            <a:ext cx="1772869" cy="22860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458669" y="2258568"/>
            <a:ext cx="1681429" cy="21945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变形控制与尺寸稳定性</a:t>
            </a:r>
          </a:p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深冷/回火工艺参数</a:t>
            </a:r>
          </a:p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批次一致性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77258" y="2194560"/>
            <a:ext cx="1772869" cy="22860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22978" y="2258568"/>
            <a:ext cx="1681429" cy="21945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沟道波纹度与表面完整性</a:t>
            </a:r>
          </a:p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磨削烧伤与残余应力</a:t>
            </a:r>
          </a:p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超精研机床本身精度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41567" y="2194560"/>
            <a:ext cx="1772869" cy="22860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87287" y="2258568"/>
            <a:ext cx="1681429" cy="21945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波纹度仪、圆度仪</a:t>
            </a:r>
          </a:p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接触角/沟位置差测量</a:t>
            </a:r>
          </a:p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检测标准与数据追溯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005876" y="2194560"/>
            <a:ext cx="1772869" cy="22860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51596" y="2258568"/>
            <a:ext cx="1681429" cy="21945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台架覆盖度与加速因子</a:t>
            </a:r>
          </a:p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失效物理与寿命模型</a:t>
            </a:r>
          </a:p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数据库规模（百万小时级）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870185" y="2194560"/>
            <a:ext cx="1772869" cy="22860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915905" y="2258568"/>
            <a:ext cx="1681429" cy="21945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主机厂配套验证机会</a:t>
            </a:r>
          </a:p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现场工况数据反馈</a:t>
            </a:r>
          </a:p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“不敢用—用不好—不好用”循环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2920" y="4846320"/>
            <a:ext cx="11185855" cy="548640"/>
          </a:xfrm>
          <a:prstGeom prst="rect">
            <a:avLst/>
          </a:prstGeom>
          <a:solidFill>
            <a:srgbClr val="FDF1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02920" y="4846320"/>
            <a:ext cx="73152" cy="548640"/>
          </a:xfrm>
          <a:prstGeom prst="rect">
            <a:avLst/>
          </a:prstGeom>
          <a:solidFill>
            <a:srgbClr val="F2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7512" y="4846320"/>
            <a:ext cx="10957255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350" b="1" i="0">
                <a:solidFill>
                  <a:srgbClr val="122E55"/>
                </a:solidFill>
                <a:latin typeface="Microsoft YaHei"/>
                <a:ea typeface="Microsoft YaHei"/>
                <a:cs typeface="Microsoft YaHei"/>
              </a:rPr>
              <a:t>破局路径：建立“材料—工艺—性能”全链条数据库；以应用验证平台（整机厂—零部件厂—高校）打通“首台套”困境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5486400"/>
            <a:ext cx="11185855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250" b="0" i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案例思路：轴承试验数据库规模是先进企业最核心的资产之一；国内团队可通过标准化试验台 + 共享数据平台的方式，在学术合作框架内实现规模效应。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5720"/>
          </a:xfrm>
          <a:prstGeom prst="rect">
            <a:avLst/>
          </a:prstGeom>
          <a:solidFill>
            <a:srgbClr val="009E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950976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2.2 精密传动（一）：滚珠丝杠副与滚动直线导轨副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21792"/>
            <a:ext cx="969264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0" i="0">
                <a:solidFill>
                  <a:srgbClr val="DDF4F8"/>
                </a:solidFill>
                <a:latin typeface="Microsoft YaHei"/>
                <a:ea typeface="Microsoft YaHei"/>
                <a:cs typeface="Microsoft YaHei"/>
              </a:rPr>
              <a:t>进给系统精度与动态性能的决定环节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82735" y="201168"/>
            <a:ext cx="265176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1200" b="0" i="0">
                <a:solidFill>
                  <a:srgbClr val="8D99AE"/>
                </a:solidFill>
                <a:latin typeface="Microsoft YaHei"/>
                <a:ea typeface="Microsoft YaHei"/>
                <a:cs typeface="Microsoft YaHei"/>
              </a:rPr>
              <a:t>第二部分 · 核心零部件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6419088"/>
            <a:ext cx="11185855" cy="0"/>
          </a:xfrm>
          <a:prstGeom prst="line">
            <a:avLst/>
          </a:prstGeom>
          <a:ln w="9525">
            <a:solidFill>
              <a:srgbClr val="D9DE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2920" y="6446520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000" b="0" i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先进制造装备关键零部件研发及前沿技术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17175" y="6446520"/>
            <a:ext cx="13716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1000" b="0" i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16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234440"/>
            <a:ext cx="5760720" cy="4846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750" b="0" i="0">
                <a:solidFill>
                  <a:srgbClr val="009EB8"/>
                </a:solidFill>
                <a:latin typeface="Microsoft YaHei"/>
                <a:ea typeface="Microsoft YaHei"/>
                <a:cs typeface="Microsoft YaHei"/>
              </a:rPr>
              <a:t>■ </a:t>
            </a:r>
            <a:r>
              <a:rPr sz="1450" b="1" i="0">
                <a:solidFill>
                  <a:srgbClr val="122E55"/>
                </a:solidFill>
                <a:latin typeface="Microsoft YaHei"/>
                <a:ea typeface="Microsoft YaHei"/>
                <a:cs typeface="Microsoft YaHei"/>
              </a:rPr>
              <a:t>滚珠丝杠副：关键指标</a:t>
            </a:r>
          </a:p>
          <a:p>
            <a:pPr>
              <a:lnSpc>
                <a:spcPct val="115000"/>
              </a:lnSpc>
              <a:spcAft>
                <a:spcPts val="200"/>
              </a:spcAft>
            </a:pPr>
            <a:r>
              <a:rPr sz="1150" b="0" i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      – </a:t>
            </a:r>
            <a:r>
              <a:rPr sz="1250" b="0" i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精度等级：C0–C7（JIS）/ 1–7 级（ISO 3408）；C0 级行程偏差约 ±3.5 μm/300 mm</a:t>
            </a:r>
          </a:p>
          <a:p>
            <a:pPr>
              <a:lnSpc>
                <a:spcPct val="115000"/>
              </a:lnSpc>
              <a:spcAft>
                <a:spcPts val="200"/>
              </a:spcAft>
            </a:pPr>
            <a:r>
              <a:rPr sz="1150" b="0" i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      – </a:t>
            </a:r>
            <a:r>
              <a:rPr sz="1250" b="0" i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预压与刚度：双螺母/变导程预压，轴向刚度与摩擦力矩的权衡</a:t>
            </a:r>
          </a:p>
          <a:p>
            <a:pPr>
              <a:lnSpc>
                <a:spcPct val="115000"/>
              </a:lnSpc>
              <a:spcAft>
                <a:spcPts val="200"/>
              </a:spcAft>
            </a:pPr>
            <a:r>
              <a:rPr sz="1150" b="0" i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      – </a:t>
            </a:r>
            <a:r>
              <a:rPr sz="1250" b="0" i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DN 值与高速：≥ 1.5×10⁵ 时需端盖/内循环返向器优化，噪声与温升控制</a:t>
            </a:r>
          </a:p>
          <a:p>
            <a:pPr>
              <a:lnSpc>
                <a:spcPct val="115000"/>
              </a:lnSpc>
              <a:spcAft>
                <a:spcPts val="200"/>
              </a:spcAft>
            </a:pPr>
            <a:r>
              <a:rPr sz="1150" b="0" i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      – </a:t>
            </a:r>
            <a:r>
              <a:rPr sz="1250" b="0" i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热伸长：1 m 丝杠温升 1 ℃ 伸长约 12 μm → 预拉伸 + 中空冷却 + 补偿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750" b="0" i="0">
                <a:solidFill>
                  <a:srgbClr val="009EB8"/>
                </a:solidFill>
                <a:latin typeface="Microsoft YaHei"/>
                <a:ea typeface="Microsoft YaHei"/>
                <a:cs typeface="Microsoft YaHei"/>
              </a:rPr>
              <a:t>■ </a:t>
            </a:r>
            <a:r>
              <a:rPr sz="1450" b="1" i="0">
                <a:solidFill>
                  <a:srgbClr val="122E55"/>
                </a:solidFill>
                <a:latin typeface="Microsoft YaHei"/>
                <a:ea typeface="Microsoft YaHei"/>
                <a:cs typeface="Microsoft YaHei"/>
              </a:rPr>
              <a:t>滚动直线导轨副：关键指标</a:t>
            </a:r>
          </a:p>
          <a:p>
            <a:pPr>
              <a:lnSpc>
                <a:spcPct val="115000"/>
              </a:lnSpc>
              <a:spcAft>
                <a:spcPts val="200"/>
              </a:spcAft>
            </a:pPr>
            <a:r>
              <a:rPr sz="1150" b="0" i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      – </a:t>
            </a:r>
            <a:r>
              <a:rPr sz="1250" b="0" i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精度：行走平行度（μm 级），预压等级与刚度；四列/两列圆弧沟槽接触形式</a:t>
            </a:r>
          </a:p>
          <a:p>
            <a:pPr>
              <a:lnSpc>
                <a:spcPct val="115000"/>
              </a:lnSpc>
              <a:spcAft>
                <a:spcPts val="200"/>
              </a:spcAft>
            </a:pPr>
            <a:r>
              <a:rPr sz="1150" b="0" i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      – </a:t>
            </a:r>
            <a:r>
              <a:rPr sz="1250" b="0" i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寿命：滚道硬度（HRC 58–62）、表面完整性；返向器与保持链设计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750" b="0" i="0">
                <a:solidFill>
                  <a:srgbClr val="009EB8"/>
                </a:solidFill>
                <a:latin typeface="Microsoft YaHei"/>
                <a:ea typeface="Microsoft YaHei"/>
                <a:cs typeface="Microsoft YaHei"/>
              </a:rPr>
              <a:t>■ </a:t>
            </a:r>
            <a:r>
              <a:rPr sz="1450" b="1" i="0">
                <a:solidFill>
                  <a:srgbClr val="122E55"/>
                </a:solidFill>
                <a:latin typeface="Microsoft YaHei"/>
                <a:ea typeface="Microsoft YaHei"/>
                <a:cs typeface="Microsoft YaHei"/>
              </a:rPr>
              <a:t>研发难点</a:t>
            </a:r>
          </a:p>
          <a:p>
            <a:pPr>
              <a:lnSpc>
                <a:spcPct val="115000"/>
              </a:lnSpc>
              <a:spcAft>
                <a:spcPts val="200"/>
              </a:spcAft>
            </a:pPr>
            <a:r>
              <a:rPr sz="1150" b="0" i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      – </a:t>
            </a:r>
            <a:r>
              <a:rPr sz="1250" b="0" i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螺纹/滚道磨削机床与砂轮修整；滚道型面（哥特式弧）轮廓精度</a:t>
            </a:r>
          </a:p>
          <a:p>
            <a:pPr>
              <a:lnSpc>
                <a:spcPct val="115000"/>
              </a:lnSpc>
              <a:spcAft>
                <a:spcPts val="200"/>
              </a:spcAft>
            </a:pPr>
            <a:r>
              <a:rPr sz="1150" b="0" i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      – </a:t>
            </a:r>
            <a:r>
              <a:rPr sz="1250" b="0" i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长行程（&gt; 3 m）丝杠的直线度、热处理变形与精度保持性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492240" y="1234440"/>
          <a:ext cx="5212080" cy="3401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4023360"/>
              </a:tblGrid>
              <a:tr h="566928"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方向</a:t>
                      </a:r>
                    </a:p>
                  </a:txBody>
                  <a:tcPr marL="64008" marR="64008" marT="27432" marB="27432" anchor="ctr">
                    <a:solidFill>
                      <a:srgbClr val="0B1F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研究内容</a:t>
                      </a:r>
                    </a:p>
                  </a:txBody>
                  <a:tcPr marL="64008" marR="64008" marT="27432" marB="27432" anchor="ctr">
                    <a:solidFill>
                      <a:srgbClr val="0B1F3A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150" b="1" i="0">
                          <a:solidFill>
                            <a:srgbClr val="122E5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滚动体动力学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滚珠—滚道—返向器接触碰撞建模，噪声与振动机理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150" b="1" i="0">
                          <a:solidFill>
                            <a:srgbClr val="122E5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摩擦与磨损</a:t>
                      </a:r>
                    </a:p>
                  </a:txBody>
                  <a:tcPr marL="64008" marR="64008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混合润滑下摩擦力矩预测，磨损寿命与预压衰减</a:t>
                      </a:r>
                    </a:p>
                  </a:txBody>
                  <a:tcPr marL="64008" marR="64008" marT="27432" marB="27432" anchor="ctr">
                    <a:solidFill>
                      <a:srgbClr val="F2F4F7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150" b="1" i="0">
                          <a:solidFill>
                            <a:srgbClr val="122E5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热误差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丝杠热伸长实时建模（热成像/温度场重构）与补偿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150" b="1" i="0">
                          <a:solidFill>
                            <a:srgbClr val="122E5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智能化</a:t>
                      </a:r>
                    </a:p>
                  </a:txBody>
                  <a:tcPr marL="64008" marR="64008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内置传感的“智能丝杠”：预压监测、润滑状态与剩余寿命</a:t>
                      </a:r>
                    </a:p>
                  </a:txBody>
                  <a:tcPr marL="64008" marR="64008" marT="27432" marB="27432" anchor="ctr">
                    <a:solidFill>
                      <a:srgbClr val="F2F4F7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150" b="1" i="0">
                          <a:solidFill>
                            <a:srgbClr val="122E5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新原理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行星滚柱丝杠（高载荷密度）、静压丝杠（超精密）、磁力丝杠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Rectangle 11"/>
          <p:cNvSpPr/>
          <p:nvPr/>
        </p:nvSpPr>
        <p:spPr>
          <a:xfrm>
            <a:off x="6492240" y="4846320"/>
            <a:ext cx="5212080" cy="1188720"/>
          </a:xfrm>
          <a:prstGeom prst="rect">
            <a:avLst/>
          </a:prstGeom>
          <a:solidFill>
            <a:srgbClr val="FDF1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92240" y="4846320"/>
            <a:ext cx="73152" cy="1188720"/>
          </a:xfrm>
          <a:prstGeom prst="rect">
            <a:avLst/>
          </a:prstGeom>
          <a:solidFill>
            <a:srgbClr val="F2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56832" y="4846320"/>
            <a:ext cx="4983480" cy="11887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200" b="1" i="0">
                <a:solidFill>
                  <a:srgbClr val="122E55"/>
                </a:solidFill>
                <a:latin typeface="Microsoft YaHei"/>
                <a:ea typeface="Microsoft YaHei"/>
                <a:cs typeface="Microsoft YaHei"/>
              </a:rPr>
              <a:t>指标提示：高速加工中心进给速度 60–120 m/min、加速度 1–2 g，对丝杠导轨提出高速低温升的双重要求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5720"/>
          </a:xfrm>
          <a:prstGeom prst="rect">
            <a:avLst/>
          </a:prstGeom>
          <a:solidFill>
            <a:srgbClr val="009E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950976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2.2 精密传动（二）：机器人精密减速器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21792"/>
            <a:ext cx="969264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0" i="0">
                <a:solidFill>
                  <a:srgbClr val="DDF4F8"/>
                </a:solidFill>
                <a:latin typeface="Microsoft YaHei"/>
                <a:ea typeface="Microsoft YaHei"/>
                <a:cs typeface="Microsoft YaHei"/>
              </a:rPr>
              <a:t>RV、谐波、行星三类减速器的对比与选型逻辑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82735" y="201168"/>
            <a:ext cx="265176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1200" b="0" i="0">
                <a:solidFill>
                  <a:srgbClr val="8D99AE"/>
                </a:solidFill>
                <a:latin typeface="Microsoft YaHei"/>
                <a:ea typeface="Microsoft YaHei"/>
                <a:cs typeface="Microsoft YaHei"/>
              </a:rPr>
              <a:t>第二部分 · 核心零部件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6419088"/>
            <a:ext cx="11185855" cy="0"/>
          </a:xfrm>
          <a:prstGeom prst="line">
            <a:avLst/>
          </a:prstGeom>
          <a:ln w="9525">
            <a:solidFill>
              <a:srgbClr val="D9DE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2920" y="6446520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000" b="0" i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先进制造装备关键零部件研发及前沿技术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17175" y="6446520"/>
            <a:ext cx="13716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1000" b="0" i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17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02920" y="1234440"/>
          <a:ext cx="11185852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8430"/>
                <a:gridCol w="3376861"/>
                <a:gridCol w="3376861"/>
                <a:gridCol w="2743700"/>
              </a:tblGrid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指标</a:t>
                      </a:r>
                    </a:p>
                  </a:txBody>
                  <a:tcPr marL="64008" marR="64008" marT="27432" marB="27432" anchor="ctr">
                    <a:solidFill>
                      <a:srgbClr val="0B1F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RV 减速器</a:t>
                      </a:r>
                    </a:p>
                  </a:txBody>
                  <a:tcPr marL="64008" marR="64008" marT="27432" marB="27432" anchor="ctr">
                    <a:solidFill>
                      <a:srgbClr val="0B1F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谐波减速器</a:t>
                      </a:r>
                    </a:p>
                  </a:txBody>
                  <a:tcPr marL="64008" marR="64008" marT="27432" marB="27432" anchor="ctr">
                    <a:solidFill>
                      <a:srgbClr val="0B1F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精密行星减速器</a:t>
                      </a:r>
                    </a:p>
                  </a:txBody>
                  <a:tcPr marL="64008" marR="64008" marT="27432" marB="27432" anchor="ctr">
                    <a:solidFill>
                      <a:srgbClr val="0B1F3A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50" b="1" i="0">
                          <a:solidFill>
                            <a:srgbClr val="122E5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传动原理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渐开线行星 + 摆线针轮两级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柔轮弹性变形与刚轮错齿啮合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多级行星轮系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50" b="1" i="0">
                          <a:solidFill>
                            <a:srgbClr val="122E5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典型速比</a:t>
                      </a:r>
                    </a:p>
                  </a:txBody>
                  <a:tcPr marL="64008" marR="64008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30–200</a:t>
                      </a:r>
                    </a:p>
                  </a:txBody>
                  <a:tcPr marL="64008" marR="64008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50–320</a:t>
                      </a:r>
                    </a:p>
                  </a:txBody>
                  <a:tcPr marL="64008" marR="64008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3–100（多级）</a:t>
                      </a:r>
                    </a:p>
                  </a:txBody>
                  <a:tcPr marL="64008" marR="64008" marT="27432" marB="27432" anchor="ctr">
                    <a:solidFill>
                      <a:srgbClr val="F2F4F7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50" b="1" i="0">
                          <a:solidFill>
                            <a:srgbClr val="122E5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回差 / 传动精度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≤ 1 arcmin；传动误差 ≤ 1 arcmin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近零回差；传动误差 ≤ 1–1.5 arcmin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1–15 arcmin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50" b="1" i="0">
                          <a:solidFill>
                            <a:srgbClr val="122E5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刚度 / 承载</a:t>
                      </a:r>
                    </a:p>
                  </a:txBody>
                  <a:tcPr marL="64008" marR="64008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高刚度，重载（基座、大臂）</a:t>
                      </a:r>
                    </a:p>
                  </a:txBody>
                  <a:tcPr marL="64008" marR="64008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低刚度，中小负载（腕部、协作）</a:t>
                      </a:r>
                    </a:p>
                  </a:txBody>
                  <a:tcPr marL="64008" marR="64008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中等</a:t>
                      </a:r>
                    </a:p>
                  </a:txBody>
                  <a:tcPr marL="64008" marR="64008" marT="27432" marB="27432" anchor="ctr">
                    <a:solidFill>
                      <a:srgbClr val="F2F4F7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50" b="1" i="0">
                          <a:solidFill>
                            <a:srgbClr val="122E5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效率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80–90%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70–85%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90–97%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50" b="1" i="0">
                          <a:solidFill>
                            <a:srgbClr val="122E5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寿命</a:t>
                      </a:r>
                    </a:p>
                  </a:txBody>
                  <a:tcPr marL="64008" marR="64008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6000 h 以上（额定）</a:t>
                      </a:r>
                    </a:p>
                  </a:txBody>
                  <a:tcPr marL="64008" marR="64008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7000–10000 h（额定）</a:t>
                      </a:r>
                    </a:p>
                  </a:txBody>
                  <a:tcPr marL="64008" marR="64008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较长</a:t>
                      </a:r>
                    </a:p>
                  </a:txBody>
                  <a:tcPr marL="64008" marR="64008" marT="27432" marB="27432" anchor="ctr">
                    <a:solidFill>
                      <a:srgbClr val="F2F4F7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50" b="1" i="0">
                          <a:solidFill>
                            <a:srgbClr val="122E5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国际/国内代表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Nabtesco / 双环传动、中大力德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Harmonic Drive / 绿的谐波、来福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Wittenstein、Neugart / 多家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50" b="1" i="0">
                          <a:solidFill>
                            <a:srgbClr val="122E5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主要难点</a:t>
                      </a:r>
                    </a:p>
                  </a:txBody>
                  <a:tcPr marL="64008" marR="64008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摆线轮修形与针齿精度、装配回差控制、寿命</a:t>
                      </a:r>
                    </a:p>
                  </a:txBody>
                  <a:tcPr marL="64008" marR="64008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柔轮材料疲劳、齿形设计、润滑脂</a:t>
                      </a:r>
                    </a:p>
                  </a:txBody>
                  <a:tcPr marL="64008" marR="64008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齿轮精度、热处理变形</a:t>
                      </a:r>
                    </a:p>
                  </a:txBody>
                  <a:tcPr marL="64008" marR="64008" marT="27432" marB="27432" anchor="ctr"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502920" y="5486400"/>
            <a:ext cx="11185855" cy="594360"/>
          </a:xfrm>
          <a:prstGeom prst="rect">
            <a:avLst/>
          </a:prstGeom>
          <a:solidFill>
            <a:srgbClr val="FDF1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5486400"/>
            <a:ext cx="73152" cy="594360"/>
          </a:xfrm>
          <a:prstGeom prst="rect">
            <a:avLst/>
          </a:prstGeom>
          <a:solidFill>
            <a:srgbClr val="F2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" y="5486400"/>
            <a:ext cx="10957255" cy="5943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250" b="1" i="0">
                <a:solidFill>
                  <a:srgbClr val="122E55"/>
                </a:solidFill>
                <a:latin typeface="Microsoft YaHei"/>
                <a:ea typeface="Microsoft YaHei"/>
                <a:cs typeface="Microsoft YaHei"/>
              </a:rPr>
              <a:t>趋势：减速器—电机—编码器—驱动器一体化关节模组；轻量化（铝合金/复合材料）；面向人形机器人的高扭矩密度执行器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5720"/>
          </a:xfrm>
          <a:prstGeom prst="rect">
            <a:avLst/>
          </a:prstGeom>
          <a:solidFill>
            <a:srgbClr val="009E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950976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2.2 减速器研发中的关键科学与工程问题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21792"/>
            <a:ext cx="969264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0" i="0">
                <a:solidFill>
                  <a:srgbClr val="DDF4F8"/>
                </a:solidFill>
                <a:latin typeface="Microsoft YaHei"/>
                <a:ea typeface="Microsoft YaHei"/>
                <a:cs typeface="Microsoft YaHei"/>
              </a:rPr>
              <a:t>从齿形设计到装配回差，每一环节都需要“理论 + 工艺 + 检测”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82735" y="201168"/>
            <a:ext cx="265176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1200" b="0" i="0">
                <a:solidFill>
                  <a:srgbClr val="8D99AE"/>
                </a:solidFill>
                <a:latin typeface="Microsoft YaHei"/>
                <a:ea typeface="Microsoft YaHei"/>
                <a:cs typeface="Microsoft YaHei"/>
              </a:rPr>
              <a:t>第二部分 · 核心零部件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6419088"/>
            <a:ext cx="11185855" cy="0"/>
          </a:xfrm>
          <a:prstGeom prst="line">
            <a:avLst/>
          </a:prstGeom>
          <a:ln w="9525">
            <a:solidFill>
              <a:srgbClr val="D9DE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2920" y="6446520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000" b="0" i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先进制造装备关键零部件研发及前沿技术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17175" y="6446520"/>
            <a:ext cx="13716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1000" b="0" i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18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234440"/>
            <a:ext cx="5501487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1234440"/>
            <a:ext cx="5501487" cy="457200"/>
          </a:xfrm>
          <a:prstGeom prst="rect">
            <a:avLst/>
          </a:prstGeom>
          <a:solidFill>
            <a:srgbClr val="009E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齿形设计与修形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6072" y="1764792"/>
            <a:ext cx="5355183" cy="126187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RV：摆线轮等距/移距/转角修形的多目标优化，啮合刚度与传动误差</a:t>
            </a:r>
          </a:p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谐波：双圆弧、IH 齿形、共轭齿形的空间啮合理论</a:t>
            </a:r>
          </a:p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工具：齿面接触分析（TCA）、载荷接触分析（LTCA）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87287" y="1234440"/>
            <a:ext cx="5501487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87287" y="1234440"/>
            <a:ext cx="5501487" cy="457200"/>
          </a:xfrm>
          <a:prstGeom prst="rect">
            <a:avLst/>
          </a:prstGeom>
          <a:solidFill>
            <a:srgbClr val="122E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材料与热处理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60439" y="1764792"/>
            <a:ext cx="5355183" cy="126187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摆线轮/针齿：轴承钢或渗碳钢，高硬度高耐磨</a:t>
            </a:r>
          </a:p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柔轮：高强韧合金钢（如 40CrNiMoA 系），疲劳极限决定寿命</a:t>
            </a:r>
          </a:p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挑战：薄壁柔轮热处理变形、残余应力控制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3246120"/>
            <a:ext cx="5501487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2920" y="3246120"/>
            <a:ext cx="5501487" cy="457200"/>
          </a:xfrm>
          <a:prstGeom prst="rect">
            <a:avLst/>
          </a:prstGeom>
          <a:solidFill>
            <a:srgbClr val="F2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精密制造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6072" y="3776472"/>
            <a:ext cx="5355183" cy="126187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摆线轮成形磨削（轮廓精度 ≤ 2–3 μm）</a:t>
            </a:r>
          </a:p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针齿壳孔位精度、柔轮薄壁车削/滚齿变形</a:t>
            </a:r>
          </a:p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柔性轴承（薄壁交叉滚子）本身是高端轴承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87287" y="3246120"/>
            <a:ext cx="5501487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87287" y="3246120"/>
            <a:ext cx="5501487" cy="457200"/>
          </a:xfrm>
          <a:prstGeom prst="rect">
            <a:avLst/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装配与检测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60439" y="3776472"/>
            <a:ext cx="5355183" cy="126187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选配装配控制回差、预紧量；装配应力</a:t>
            </a:r>
          </a:p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传动误差、回差、启动力矩、刚度曲线测试</a:t>
            </a:r>
          </a:p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加速寿命台架与失效分析（点蚀、断齿、柔轮裂纹）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5257800"/>
            <a:ext cx="11185855" cy="548640"/>
          </a:xfrm>
          <a:prstGeom prst="rect">
            <a:avLst/>
          </a:prstGeom>
          <a:solidFill>
            <a:srgbClr val="FDF1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02920" y="5257800"/>
            <a:ext cx="73152" cy="548640"/>
          </a:xfrm>
          <a:prstGeom prst="rect">
            <a:avLst/>
          </a:prstGeom>
          <a:solidFill>
            <a:srgbClr val="F2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7512" y="5257800"/>
            <a:ext cx="10957255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300" b="1" i="0">
                <a:solidFill>
                  <a:srgbClr val="122E55"/>
                </a:solidFill>
                <a:latin typeface="Microsoft YaHei"/>
                <a:ea typeface="Microsoft YaHei"/>
                <a:cs typeface="Microsoft YaHei"/>
              </a:rPr>
              <a:t>科学问题：多齿啮合的载荷分配与误差敏感性；柔轮多轴疲劳寿命预测；考虑制造误差分布的公差—性能概率设计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5720"/>
          </a:xfrm>
          <a:prstGeom prst="rect">
            <a:avLst/>
          </a:prstGeom>
          <a:solidFill>
            <a:srgbClr val="009E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950976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2.3 高速电主轴：机电热一体化的典型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21792"/>
            <a:ext cx="969264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0" i="0">
                <a:solidFill>
                  <a:srgbClr val="DDF4F8"/>
                </a:solidFill>
                <a:latin typeface="Microsoft YaHei"/>
                <a:ea typeface="Microsoft YaHei"/>
                <a:cs typeface="Microsoft YaHei"/>
              </a:rPr>
              <a:t>“零传动”的核心功能部件，决定加工效率与表面质量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82735" y="201168"/>
            <a:ext cx="265176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1200" b="0" i="0">
                <a:solidFill>
                  <a:srgbClr val="8D99AE"/>
                </a:solidFill>
                <a:latin typeface="Microsoft YaHei"/>
                <a:ea typeface="Microsoft YaHei"/>
                <a:cs typeface="Microsoft YaHei"/>
              </a:rPr>
              <a:t>第二部分 · 核心零部件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6419088"/>
            <a:ext cx="11185855" cy="0"/>
          </a:xfrm>
          <a:prstGeom prst="line">
            <a:avLst/>
          </a:prstGeom>
          <a:ln w="9525">
            <a:solidFill>
              <a:srgbClr val="D9DE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2920" y="6446520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000" b="0" i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先进制造装备关键零部件研发及前沿技术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17175" y="6446520"/>
            <a:ext cx="13716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1000" b="0" i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19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234440"/>
            <a:ext cx="566928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100" b="0" i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结构示意：壳体（冷却水套）— 轴承组 — 内置电机 — 主轴 — 拉刀机构 — 编码器 — 密封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1691640"/>
            <a:ext cx="5486400" cy="1188720"/>
          </a:xfrm>
          <a:prstGeom prst="rect">
            <a:avLst/>
          </a:prstGeom>
          <a:solidFill>
            <a:srgbClr val="D9DE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2148840"/>
            <a:ext cx="4937760" cy="274320"/>
          </a:xfrm>
          <a:prstGeom prst="rect">
            <a:avLst/>
          </a:prstGeom>
          <a:solidFill>
            <a:srgbClr val="8D99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60120" y="1828800"/>
            <a:ext cx="320040" cy="914400"/>
          </a:xfrm>
          <a:prstGeom prst="rect">
            <a:avLst/>
          </a:prstGeom>
          <a:solidFill>
            <a:srgbClr val="009E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417320" y="1828800"/>
            <a:ext cx="320040" cy="914400"/>
          </a:xfrm>
          <a:prstGeom prst="rect">
            <a:avLst/>
          </a:prstGeom>
          <a:solidFill>
            <a:srgbClr val="009E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709160" y="1828800"/>
            <a:ext cx="320040" cy="914400"/>
          </a:xfrm>
          <a:prstGeom prst="rect">
            <a:avLst/>
          </a:prstGeom>
          <a:solidFill>
            <a:srgbClr val="009E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166360" y="1828800"/>
            <a:ext cx="320040" cy="914400"/>
          </a:xfrm>
          <a:prstGeom prst="rect">
            <a:avLst/>
          </a:prstGeom>
          <a:solidFill>
            <a:srgbClr val="009E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331720" y="1783080"/>
            <a:ext cx="1828800" cy="1005840"/>
          </a:xfrm>
          <a:prstGeom prst="rect">
            <a:avLst/>
          </a:prstGeom>
          <a:solidFill>
            <a:srgbClr val="F2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 i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内置电机</a:t>
            </a:r>
          </a:p>
          <a:p>
            <a:pPr algn="ctr"/>
            <a:r>
              <a:rPr sz="1100" b="1" i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定子/转子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2926080"/>
            <a:ext cx="146304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100" b="0" i="0">
                <a:solidFill>
                  <a:srgbClr val="122E55"/>
                </a:solidFill>
                <a:latin typeface="Microsoft YaHei"/>
                <a:ea typeface="Microsoft YaHei"/>
                <a:cs typeface="Microsoft YaHei"/>
              </a:rPr>
              <a:t>前轴承组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26280" y="2926080"/>
            <a:ext cx="146304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100" b="0" i="0">
                <a:solidFill>
                  <a:srgbClr val="122E55"/>
                </a:solidFill>
                <a:latin typeface="Microsoft YaHei"/>
                <a:ea typeface="Microsoft YaHei"/>
                <a:cs typeface="Microsoft YaHei"/>
              </a:rPr>
              <a:t>后轴承组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40280" y="2926080"/>
            <a:ext cx="22860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1100" b="0" i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冷却水套 / 油气润滑 / 气封</a:t>
            </a:r>
          </a:p>
        </p:txBody>
      </p: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502920" y="3383280"/>
          <a:ext cx="566928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2926080"/>
                <a:gridCol w="1645920"/>
              </a:tblGrid>
              <a:tr h="402336"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指标</a:t>
                      </a:r>
                    </a:p>
                  </a:txBody>
                  <a:tcPr marL="64008" marR="64008" marT="27432" marB="27432" anchor="ctr">
                    <a:solidFill>
                      <a:srgbClr val="0B1F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典型值（加工中心）</a:t>
                      </a:r>
                    </a:p>
                  </a:txBody>
                  <a:tcPr marL="64008" marR="64008" marT="27432" marB="27432" anchor="ctr">
                    <a:solidFill>
                      <a:srgbClr val="0B1F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难点</a:t>
                      </a:r>
                    </a:p>
                  </a:txBody>
                  <a:tcPr marL="64008" marR="64008" marT="27432" marB="27432" anchor="ctr">
                    <a:solidFill>
                      <a:srgbClr val="0B1F3A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122E5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最高转速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12 000–40 000 r/min；PCB 钻孔 &gt; 100 000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轴承 DN 值、转子动力学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122E5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功率/扭矩</a:t>
                      </a:r>
                    </a:p>
                  </a:txBody>
                  <a:tcPr marL="64008" marR="64008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10–80 kW；低速大扭矩 vs 高速恒功率</a:t>
                      </a:r>
                    </a:p>
                  </a:txBody>
                  <a:tcPr marL="64008" marR="64008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电磁设计、散热</a:t>
                      </a:r>
                    </a:p>
                  </a:txBody>
                  <a:tcPr marL="64008" marR="64008" marT="27432" marB="27432" anchor="ctr">
                    <a:solidFill>
                      <a:srgbClr val="F2F4F7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122E5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动平衡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G0.4 级（ISO 21940）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整体动平衡、热态平衡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122E5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热漂移</a:t>
                      </a:r>
                    </a:p>
                  </a:txBody>
                  <a:tcPr marL="64008" marR="64008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轴向伸长 ≤ 10–20 μm（稳态）</a:t>
                      </a:r>
                    </a:p>
                  </a:txBody>
                  <a:tcPr marL="64008" marR="64008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热源分布、冷却、补偿</a:t>
                      </a:r>
                    </a:p>
                  </a:txBody>
                  <a:tcPr marL="64008" marR="64008" marT="27432" marB="27432" anchor="ctr"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sp>
        <p:nvSpPr>
          <p:cNvPr id="22" name="TextBox 21"/>
          <p:cNvSpPr txBox="1"/>
          <p:nvPr/>
        </p:nvSpPr>
        <p:spPr>
          <a:xfrm>
            <a:off x="6492240" y="1234440"/>
            <a:ext cx="5212080" cy="4937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650" b="0" i="0">
                <a:solidFill>
                  <a:srgbClr val="009EB8"/>
                </a:solidFill>
                <a:latin typeface="Microsoft YaHei"/>
                <a:ea typeface="Microsoft YaHei"/>
                <a:cs typeface="Microsoft YaHei"/>
              </a:rPr>
              <a:t>■ </a:t>
            </a:r>
            <a:r>
              <a:rPr sz="1350" b="1" i="0">
                <a:solidFill>
                  <a:srgbClr val="122E55"/>
                </a:solidFill>
                <a:latin typeface="Microsoft YaHei"/>
                <a:ea typeface="Microsoft YaHei"/>
                <a:cs typeface="Microsoft YaHei"/>
              </a:rPr>
              <a:t>研发难点</a:t>
            </a:r>
          </a:p>
          <a:p>
            <a:pPr>
              <a:lnSpc>
                <a:spcPct val="115000"/>
              </a:lnSpc>
              <a:spcAft>
                <a:spcPts val="100"/>
              </a:spcAft>
            </a:pPr>
            <a:r>
              <a:rPr sz="1050" b="0" i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      – </a:t>
            </a:r>
            <a:r>
              <a:rPr sz="1150" b="0" i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热—结构—转子动力学耦合：电机损耗与轴承摩擦热导致预紧变化、临界转速漂移</a:t>
            </a:r>
          </a:p>
          <a:p>
            <a:pPr>
              <a:lnSpc>
                <a:spcPct val="115000"/>
              </a:lnSpc>
              <a:spcAft>
                <a:spcPts val="100"/>
              </a:spcAft>
            </a:pPr>
            <a:r>
              <a:rPr sz="1050" b="0" i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      – </a:t>
            </a:r>
            <a:r>
              <a:rPr sz="1150" b="0" i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高速轴承寿命与润滑：油气润滑参数、陶瓷球、保持架稳定性</a:t>
            </a:r>
          </a:p>
          <a:p>
            <a:pPr>
              <a:lnSpc>
                <a:spcPct val="115000"/>
              </a:lnSpc>
              <a:spcAft>
                <a:spcPts val="100"/>
              </a:spcAft>
            </a:pPr>
            <a:r>
              <a:rPr sz="1050" b="0" i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      – </a:t>
            </a:r>
            <a:r>
              <a:rPr sz="1150" b="0" i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拉刀机构与接口（HSK/BT/CAPTO）：高速下的刀柄接触刚度</a:t>
            </a:r>
          </a:p>
          <a:p>
            <a:pPr>
              <a:lnSpc>
                <a:spcPct val="115000"/>
              </a:lnSpc>
              <a:spcAft>
                <a:spcPts val="100"/>
              </a:spcAft>
            </a:pPr>
            <a:r>
              <a:rPr sz="1050" b="0" i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      – </a:t>
            </a:r>
            <a:r>
              <a:rPr sz="1150" b="0" i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电机驱动：高频（&gt; 1 kHz）矢量控制、弱磁扩速、谐波损耗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650" b="0" i="0">
                <a:solidFill>
                  <a:srgbClr val="009EB8"/>
                </a:solidFill>
                <a:latin typeface="Microsoft YaHei"/>
                <a:ea typeface="Microsoft YaHei"/>
                <a:cs typeface="Microsoft YaHei"/>
              </a:rPr>
              <a:t>■ </a:t>
            </a:r>
            <a:r>
              <a:rPr sz="1350" b="1" i="0">
                <a:solidFill>
                  <a:srgbClr val="122E55"/>
                </a:solidFill>
                <a:latin typeface="Microsoft YaHei"/>
                <a:ea typeface="Microsoft YaHei"/>
                <a:cs typeface="Microsoft YaHei"/>
              </a:rPr>
              <a:t>国内外格局</a:t>
            </a:r>
          </a:p>
          <a:p>
            <a:pPr>
              <a:lnSpc>
                <a:spcPct val="115000"/>
              </a:lnSpc>
              <a:spcAft>
                <a:spcPts val="100"/>
              </a:spcAft>
            </a:pPr>
            <a:r>
              <a:rPr sz="1050" b="0" i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      – </a:t>
            </a:r>
            <a:r>
              <a:rPr sz="1150" b="0" i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Kessler、Fischer、IBAG、Step-Tec、GMN、Weiss 占据高端；国内在中低速、PCB 钻孔主轴已形成规模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650" b="0" i="0">
                <a:solidFill>
                  <a:srgbClr val="009EB8"/>
                </a:solidFill>
                <a:latin typeface="Microsoft YaHei"/>
                <a:ea typeface="Microsoft YaHei"/>
                <a:cs typeface="Microsoft YaHei"/>
              </a:rPr>
              <a:t>■ </a:t>
            </a:r>
            <a:r>
              <a:rPr sz="1350" b="1" i="0">
                <a:solidFill>
                  <a:srgbClr val="122E55"/>
                </a:solidFill>
                <a:latin typeface="Microsoft YaHei"/>
                <a:ea typeface="Microsoft YaHei"/>
                <a:cs typeface="Microsoft YaHei"/>
              </a:rPr>
              <a:t>研究方向</a:t>
            </a:r>
          </a:p>
          <a:p>
            <a:pPr>
              <a:lnSpc>
                <a:spcPct val="115000"/>
              </a:lnSpc>
              <a:spcAft>
                <a:spcPts val="100"/>
              </a:spcAft>
            </a:pPr>
            <a:r>
              <a:rPr sz="1050" b="0" i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      – </a:t>
            </a:r>
            <a:r>
              <a:rPr sz="1150" b="0" i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主轴数字孪生：实时热误差与刚度预测</a:t>
            </a:r>
          </a:p>
          <a:p>
            <a:pPr>
              <a:lnSpc>
                <a:spcPct val="115000"/>
              </a:lnSpc>
              <a:spcAft>
                <a:spcPts val="100"/>
              </a:spcAft>
            </a:pPr>
            <a:r>
              <a:rPr sz="1050" b="0" i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      – </a:t>
            </a:r>
            <a:r>
              <a:rPr sz="1150" b="0" i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智能主轴：内置振动/温度/位移传感，颤振在线识别与主动抑制</a:t>
            </a:r>
          </a:p>
          <a:p>
            <a:pPr>
              <a:lnSpc>
                <a:spcPct val="115000"/>
              </a:lnSpc>
              <a:spcAft>
                <a:spcPts val="100"/>
              </a:spcAft>
            </a:pPr>
            <a:r>
              <a:rPr sz="1050" b="0" i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      – </a:t>
            </a:r>
            <a:r>
              <a:rPr sz="1150" b="0" i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磁悬浮电主轴、超高速（&gt; 200 000 r/min）微主轴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5720"/>
          </a:xfrm>
          <a:prstGeom prst="rect">
            <a:avLst/>
          </a:prstGeom>
          <a:solidFill>
            <a:srgbClr val="009E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950976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2.3 直驱技术：直线电机、力矩电机与 DD 转台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21792"/>
            <a:ext cx="969264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0" i="0">
                <a:solidFill>
                  <a:srgbClr val="DDF4F8"/>
                </a:solidFill>
                <a:latin typeface="Microsoft YaHei"/>
                <a:ea typeface="Microsoft YaHei"/>
                <a:cs typeface="Microsoft YaHei"/>
              </a:rPr>
              <a:t>取消中间传动环节，实现高动态、高精度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82735" y="201168"/>
            <a:ext cx="265176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1200" b="0" i="0">
                <a:solidFill>
                  <a:srgbClr val="8D99AE"/>
                </a:solidFill>
                <a:latin typeface="Microsoft YaHei"/>
                <a:ea typeface="Microsoft YaHei"/>
                <a:cs typeface="Microsoft YaHei"/>
              </a:rPr>
              <a:t>第二部分 · 核心零部件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6419088"/>
            <a:ext cx="11185855" cy="0"/>
          </a:xfrm>
          <a:prstGeom prst="line">
            <a:avLst/>
          </a:prstGeom>
          <a:ln w="9525">
            <a:solidFill>
              <a:srgbClr val="D9DE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2920" y="6446520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000" b="0" i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先进制造装备关键零部件研发及前沿技术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17175" y="6446520"/>
            <a:ext cx="13716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1000" b="0" i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20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02920" y="1234440"/>
          <a:ext cx="11185852" cy="3328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4092"/>
                <a:gridCol w="3078675"/>
                <a:gridCol w="3694410"/>
                <a:gridCol w="3078675"/>
              </a:tblGrid>
              <a:tr h="475488"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/>
                      </a:r>
                    </a:p>
                  </a:txBody>
                  <a:tcPr marL="64008" marR="64008" marT="27432" marB="27432" anchor="ctr">
                    <a:solidFill>
                      <a:srgbClr val="0B1F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滚珠丝杠进给</a:t>
                      </a:r>
                    </a:p>
                  </a:txBody>
                  <a:tcPr marL="64008" marR="64008" marT="27432" marB="27432" anchor="ctr">
                    <a:solidFill>
                      <a:srgbClr val="0B1F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直线电机进给</a:t>
                      </a:r>
                    </a:p>
                  </a:txBody>
                  <a:tcPr marL="64008" marR="64008" marT="27432" marB="27432" anchor="ctr">
                    <a:solidFill>
                      <a:srgbClr val="0B1F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力矩电机 / DD 转台</a:t>
                      </a:r>
                    </a:p>
                  </a:txBody>
                  <a:tcPr marL="64008" marR="64008" marT="27432" marB="27432" anchor="ctr">
                    <a:solidFill>
                      <a:srgbClr val="0B1F3A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150" b="1" i="0">
                          <a:solidFill>
                            <a:srgbClr val="122E5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运动精度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受丝杠导程误差、反向间隙影响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直接由光栅闭环决定，可达亚微米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圆光栅闭环，角秒级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150" b="1" i="0">
                          <a:solidFill>
                            <a:srgbClr val="122E5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动态性能</a:t>
                      </a:r>
                    </a:p>
                  </a:txBody>
                  <a:tcPr marL="64008" marR="64008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加速度 ~1 g，带宽受限于机械谐振</a:t>
                      </a:r>
                    </a:p>
                  </a:txBody>
                  <a:tcPr marL="64008" marR="64008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加速度 2–10 g，带宽高</a:t>
                      </a:r>
                    </a:p>
                  </a:txBody>
                  <a:tcPr marL="64008" marR="64008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高角加速度，无回差</a:t>
                      </a:r>
                    </a:p>
                  </a:txBody>
                  <a:tcPr marL="64008" marR="64008" marT="27432" marB="27432" anchor="ctr">
                    <a:solidFill>
                      <a:srgbClr val="F2F4F7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150" b="1" i="0">
                          <a:solidFill>
                            <a:srgbClr val="122E5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刚度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机械刚度高（无减速比时）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伺服刚度，依赖控制器增益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伺服刚度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150" b="1" i="0">
                          <a:solidFill>
                            <a:srgbClr val="122E5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热</a:t>
                      </a:r>
                    </a:p>
                  </a:txBody>
                  <a:tcPr marL="64008" marR="64008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丝杠热伸长</a:t>
                      </a:r>
                    </a:p>
                  </a:txBody>
                  <a:tcPr marL="64008" marR="64008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初级线圈发热直接传入工作台</a:t>
                      </a:r>
                    </a:p>
                  </a:txBody>
                  <a:tcPr marL="64008" marR="64008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电机发热影响转台精度</a:t>
                      </a:r>
                    </a:p>
                  </a:txBody>
                  <a:tcPr marL="64008" marR="64008" marT="27432" marB="27432" anchor="ctr">
                    <a:solidFill>
                      <a:srgbClr val="F2F4F7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150" b="1" i="0">
                          <a:solidFill>
                            <a:srgbClr val="122E5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典型应用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通用数控机床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高速加工中心、光刻机、激光加工、PCB 钻孔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五轴机床 A/C 轴、精密转台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150" b="1" i="0">
                          <a:solidFill>
                            <a:srgbClr val="122E5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关键技术</a:t>
                      </a:r>
                    </a:p>
                  </a:txBody>
                  <a:tcPr marL="64008" marR="64008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丝杠制造工艺</a:t>
                      </a:r>
                    </a:p>
                  </a:txBody>
                  <a:tcPr marL="64008" marR="64008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齿槽力/推力波动抑制、磁路设计、冷却、抗干扰</a:t>
                      </a:r>
                    </a:p>
                  </a:txBody>
                  <a:tcPr marL="64008" marR="64008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多极对数设计、转矩波动抑制、编码器</a:t>
                      </a:r>
                    </a:p>
                  </a:txBody>
                  <a:tcPr marL="64008" marR="64008" marT="27432" marB="27432" anchor="ctr"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502920" y="5257800"/>
            <a:ext cx="11185855" cy="502920"/>
          </a:xfrm>
          <a:prstGeom prst="rect">
            <a:avLst/>
          </a:prstGeom>
          <a:solidFill>
            <a:srgbClr val="FDF1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5257800"/>
            <a:ext cx="73152" cy="502920"/>
          </a:xfrm>
          <a:prstGeom prst="rect">
            <a:avLst/>
          </a:prstGeom>
          <a:solidFill>
            <a:srgbClr val="F2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" y="5257800"/>
            <a:ext cx="10957255" cy="5029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300" b="1" i="0">
                <a:solidFill>
                  <a:srgbClr val="122E55"/>
                </a:solidFill>
                <a:latin typeface="Microsoft YaHei"/>
                <a:ea typeface="Microsoft YaHei"/>
                <a:cs typeface="Microsoft YaHei"/>
              </a:rPr>
              <a:t>光刻机工件台：直线电机 + 气浮/磁浮导向 + 激光干涉/光栅测量，定位精度纳米级、加速度数 g —— 直驱技术的极致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5806440"/>
            <a:ext cx="11185855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250" b="0" i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研究方向：无铁芯/永磁同步平面电机；磁悬浮平面电机（六自由度）；超导直线电机；基于学习的推力波动前馈补偿。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5720"/>
          </a:xfrm>
          <a:prstGeom prst="rect">
            <a:avLst/>
          </a:prstGeom>
          <a:solidFill>
            <a:srgbClr val="009E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950976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2.4 数控系统：装备的“大脑”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21792"/>
            <a:ext cx="969264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0" i="0">
                <a:solidFill>
                  <a:srgbClr val="DDF4F8"/>
                </a:solidFill>
                <a:latin typeface="Microsoft YaHei"/>
                <a:ea typeface="Microsoft YaHei"/>
                <a:cs typeface="Microsoft YaHei"/>
              </a:rPr>
              <a:t>软硬件结合的复杂系统，生态壁垒高于技术壁垒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82735" y="201168"/>
            <a:ext cx="265176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1200" b="0" i="0">
                <a:solidFill>
                  <a:srgbClr val="8D99AE"/>
                </a:solidFill>
                <a:latin typeface="Microsoft YaHei"/>
                <a:ea typeface="Microsoft YaHei"/>
                <a:cs typeface="Microsoft YaHei"/>
              </a:rPr>
              <a:t>第二部分 · 核心零部件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6419088"/>
            <a:ext cx="11185855" cy="0"/>
          </a:xfrm>
          <a:prstGeom prst="line">
            <a:avLst/>
          </a:prstGeom>
          <a:ln w="9525">
            <a:solidFill>
              <a:srgbClr val="D9DE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2920" y="6446520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000" b="0" i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先进制造装备关键零部件研发及前沿技术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17175" y="6446520"/>
            <a:ext cx="13716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1000" b="0" i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21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234440"/>
            <a:ext cx="5669280" cy="621792"/>
          </a:xfrm>
          <a:prstGeom prst="rect">
            <a:avLst/>
          </a:prstGeom>
          <a:solidFill>
            <a:srgbClr val="8D99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人机界面 HMI / 工艺编程 / CAM 接口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1947672"/>
            <a:ext cx="5669280" cy="621792"/>
          </a:xfrm>
          <a:prstGeom prst="rect">
            <a:avLst/>
          </a:prstGeom>
          <a:solidFill>
            <a:srgbClr val="009E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NC 内核：译码、刀补、前瞻、插补、加减速、误差补偿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2660904"/>
            <a:ext cx="5669280" cy="621792"/>
          </a:xfrm>
          <a:prstGeom prst="rect">
            <a:avLst/>
          </a:prstGeom>
          <a:solidFill>
            <a:srgbClr val="122E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PLC：逻辑控制、辅助功能、安全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3374136"/>
            <a:ext cx="5669280" cy="621792"/>
          </a:xfrm>
          <a:prstGeom prst="rect">
            <a:avLst/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伺服驱动与现场总线：EtherCAT / PROFINET / NCUC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4087368"/>
            <a:ext cx="5669280" cy="621792"/>
          </a:xfrm>
          <a:prstGeom prst="rect">
            <a:avLst/>
          </a:prstGeom>
          <a:solidFill>
            <a:srgbClr val="F2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 i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执行与感知：电机、光栅、编码器、I/O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4846320"/>
            <a:ext cx="5669280" cy="1463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硬件平台：多核 CPU + FPGA/实时内核；控制周期 125 μs–1 ms；多通道多轴（≥ 32 轴）</a:t>
            </a:r>
          </a:p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软件平台：实时操作系统、开放式架构（PLCopen、OPC UA）、工艺软件包（五轴 RTCP、车铣复合、齿轮加工）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1234440"/>
            <a:ext cx="5212080" cy="502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600" b="0" i="0">
                <a:solidFill>
                  <a:srgbClr val="009EB8"/>
                </a:solidFill>
                <a:latin typeface="Microsoft YaHei"/>
                <a:ea typeface="Microsoft YaHei"/>
                <a:cs typeface="Microsoft YaHei"/>
              </a:rPr>
              <a:t>■ </a:t>
            </a:r>
            <a:r>
              <a:rPr sz="1300" b="1" i="0">
                <a:solidFill>
                  <a:srgbClr val="122E55"/>
                </a:solidFill>
                <a:latin typeface="Microsoft YaHei"/>
                <a:ea typeface="Microsoft YaHei"/>
                <a:cs typeface="Microsoft YaHei"/>
              </a:rPr>
              <a:t>核心算法</a:t>
            </a:r>
          </a:p>
          <a:p>
            <a:pPr>
              <a:lnSpc>
                <a:spcPct val="115000"/>
              </a:lnSpc>
              <a:spcAft>
                <a:spcPts val="100"/>
              </a:spcAft>
            </a:pPr>
            <a:r>
              <a:rPr sz="1000" b="0" i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      – </a:t>
            </a:r>
            <a:r>
              <a:rPr sz="1100" b="0" i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小线段/样条前瞻与速度规划（S 型、jerk 限制），NURBS 插补</a:t>
            </a:r>
          </a:p>
          <a:p>
            <a:pPr>
              <a:lnSpc>
                <a:spcPct val="115000"/>
              </a:lnSpc>
              <a:spcAft>
                <a:spcPts val="100"/>
              </a:spcAft>
            </a:pPr>
            <a:r>
              <a:rPr sz="1000" b="0" i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      – </a:t>
            </a:r>
            <a:r>
              <a:rPr sz="1100" b="0" i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五轴 RTCP、非线性误差控制、刀具矢量平滑</a:t>
            </a:r>
          </a:p>
          <a:p>
            <a:pPr>
              <a:lnSpc>
                <a:spcPct val="115000"/>
              </a:lnSpc>
              <a:spcAft>
                <a:spcPts val="100"/>
              </a:spcAft>
            </a:pPr>
            <a:r>
              <a:rPr sz="1000" b="0" i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      – </a:t>
            </a:r>
            <a:r>
              <a:rPr sz="1100" b="0" i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误差补偿：几何/热/空间误差，摩擦与反向间隙</a:t>
            </a:r>
          </a:p>
          <a:p>
            <a:pPr>
              <a:lnSpc>
                <a:spcPct val="115000"/>
              </a:lnSpc>
              <a:spcAft>
                <a:spcPts val="100"/>
              </a:spcAft>
            </a:pPr>
            <a:r>
              <a:rPr sz="1000" b="0" i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      – </a:t>
            </a:r>
            <a:r>
              <a:rPr sz="1100" b="0" i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自适应控制与颤振抑制、伺服参数自整定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600" b="0" i="0">
                <a:solidFill>
                  <a:srgbClr val="009EB8"/>
                </a:solidFill>
                <a:latin typeface="Microsoft YaHei"/>
                <a:ea typeface="Microsoft YaHei"/>
                <a:cs typeface="Microsoft YaHei"/>
              </a:rPr>
              <a:t>■ </a:t>
            </a:r>
            <a:r>
              <a:rPr sz="1300" b="1" i="0">
                <a:solidFill>
                  <a:srgbClr val="122E55"/>
                </a:solidFill>
                <a:latin typeface="Microsoft YaHei"/>
                <a:ea typeface="Microsoft YaHei"/>
                <a:cs typeface="Microsoft YaHei"/>
              </a:rPr>
              <a:t>格局</a:t>
            </a:r>
          </a:p>
          <a:p>
            <a:pPr>
              <a:lnSpc>
                <a:spcPct val="115000"/>
              </a:lnSpc>
              <a:spcAft>
                <a:spcPts val="100"/>
              </a:spcAft>
            </a:pPr>
            <a:r>
              <a:rPr sz="1000" b="0" i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      – </a:t>
            </a:r>
            <a:r>
              <a:rPr sz="1100" b="0" i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FANUC、Siemens、Heidenhain、Mitsubishi 占高端；华中数控、广州数控、科德、沈阳高精等国产系统在五轴领域取得突破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600" b="0" i="0">
                <a:solidFill>
                  <a:srgbClr val="009EB8"/>
                </a:solidFill>
                <a:latin typeface="Microsoft YaHei"/>
                <a:ea typeface="Microsoft YaHei"/>
                <a:cs typeface="Microsoft YaHei"/>
              </a:rPr>
              <a:t>■ </a:t>
            </a:r>
            <a:r>
              <a:rPr sz="1300" b="1" i="0">
                <a:solidFill>
                  <a:srgbClr val="122E55"/>
                </a:solidFill>
                <a:latin typeface="Microsoft YaHei"/>
                <a:ea typeface="Microsoft YaHei"/>
                <a:cs typeface="Microsoft YaHei"/>
              </a:rPr>
              <a:t>差距本质</a:t>
            </a:r>
          </a:p>
          <a:p>
            <a:pPr>
              <a:lnSpc>
                <a:spcPct val="115000"/>
              </a:lnSpc>
              <a:spcAft>
                <a:spcPts val="100"/>
              </a:spcAft>
            </a:pPr>
            <a:r>
              <a:rPr sz="1000" b="0" i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      – </a:t>
            </a:r>
            <a:r>
              <a:rPr sz="1100" b="0" i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工艺知识积累与软件生态（后处理、仿真、工艺包）</a:t>
            </a:r>
          </a:p>
          <a:p>
            <a:pPr>
              <a:lnSpc>
                <a:spcPct val="115000"/>
              </a:lnSpc>
              <a:spcAft>
                <a:spcPts val="100"/>
              </a:spcAft>
            </a:pPr>
            <a:r>
              <a:rPr sz="1000" b="0" i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      – </a:t>
            </a:r>
            <a:r>
              <a:rPr sz="1100" b="0" i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长期现场可靠性数据与用户信任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600" b="0" i="0">
                <a:solidFill>
                  <a:srgbClr val="009EB8"/>
                </a:solidFill>
                <a:latin typeface="Microsoft YaHei"/>
                <a:ea typeface="Microsoft YaHei"/>
                <a:cs typeface="Microsoft YaHei"/>
              </a:rPr>
              <a:t>■ </a:t>
            </a:r>
            <a:r>
              <a:rPr sz="1300" b="1" i="0">
                <a:solidFill>
                  <a:srgbClr val="122E55"/>
                </a:solidFill>
                <a:latin typeface="Microsoft YaHei"/>
                <a:ea typeface="Microsoft YaHei"/>
                <a:cs typeface="Microsoft YaHei"/>
              </a:rPr>
              <a:t>前沿</a:t>
            </a:r>
            <a:r>
              <a:rPr sz="130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：AI 数控（工艺参数自优化、数字孪生机床）、云—边协同、开放式数控与软件定义机床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5720"/>
          </a:xfrm>
          <a:prstGeom prst="rect">
            <a:avLst/>
          </a:prstGeom>
          <a:solidFill>
            <a:srgbClr val="009E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950976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2.4 伺服电机与驱动器：高分辨率感知 + 高带宽控制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21792"/>
            <a:ext cx="969264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0" i="0">
                <a:solidFill>
                  <a:srgbClr val="DDF4F8"/>
                </a:solidFill>
                <a:latin typeface="Microsoft YaHei"/>
                <a:ea typeface="Microsoft YaHei"/>
                <a:cs typeface="Microsoft YaHei"/>
              </a:rPr>
              <a:t>决定运动系统的动态响应与跟踪精度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82735" y="201168"/>
            <a:ext cx="265176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1200" b="0" i="0">
                <a:solidFill>
                  <a:srgbClr val="8D99AE"/>
                </a:solidFill>
                <a:latin typeface="Microsoft YaHei"/>
                <a:ea typeface="Microsoft YaHei"/>
                <a:cs typeface="Microsoft YaHei"/>
              </a:rPr>
              <a:t>第二部分 · 核心零部件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6419088"/>
            <a:ext cx="11185855" cy="0"/>
          </a:xfrm>
          <a:prstGeom prst="line">
            <a:avLst/>
          </a:prstGeom>
          <a:ln w="9525">
            <a:solidFill>
              <a:srgbClr val="D9DE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2920" y="6446520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000" b="0" i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先进制造装备关键零部件研发及前沿技术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17175" y="6446520"/>
            <a:ext cx="13716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1000" b="0" i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22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234440"/>
            <a:ext cx="2659303" cy="1280160"/>
          </a:xfrm>
          <a:prstGeom prst="rect">
            <a:avLst/>
          </a:prstGeom>
          <a:solidFill>
            <a:srgbClr val="DD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1234440"/>
            <a:ext cx="73152" cy="1280160"/>
          </a:xfrm>
          <a:prstGeom prst="rect">
            <a:avLst/>
          </a:prstGeom>
          <a:solidFill>
            <a:srgbClr val="009E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1289304"/>
            <a:ext cx="2476423" cy="6400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2800" b="1" i="0">
                <a:solidFill>
                  <a:srgbClr val="122E55"/>
                </a:solidFill>
                <a:latin typeface="Microsoft YaHei"/>
                <a:ea typeface="Microsoft YaHei"/>
                <a:cs typeface="Microsoft YaHei"/>
              </a:rPr>
              <a:t>23–27 bit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1920240"/>
            <a:ext cx="2476423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高端绝对式编码器单圈分辨率（800 万–1.3 亿脉冲/转）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45103" y="1234440"/>
            <a:ext cx="2659303" cy="1280160"/>
          </a:xfrm>
          <a:prstGeom prst="rect">
            <a:avLst/>
          </a:prstGeom>
          <a:solidFill>
            <a:srgbClr val="DD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345103" y="1234440"/>
            <a:ext cx="73152" cy="1280160"/>
          </a:xfrm>
          <a:prstGeom prst="rect">
            <a:avLst/>
          </a:prstGeom>
          <a:solidFill>
            <a:srgbClr val="009E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82263" y="1289304"/>
            <a:ext cx="2476423" cy="6400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2800" b="1" i="0">
                <a:solidFill>
                  <a:srgbClr val="122E55"/>
                </a:solidFill>
                <a:latin typeface="Microsoft YaHei"/>
                <a:ea typeface="Microsoft YaHei"/>
                <a:cs typeface="Microsoft YaHei"/>
              </a:rPr>
              <a:t>&gt; 2 kHz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82263" y="1920240"/>
            <a:ext cx="2476423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高端伺服驱动器速度环带宽量级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87287" y="1234440"/>
            <a:ext cx="2659303" cy="1280160"/>
          </a:xfrm>
          <a:prstGeom prst="rect">
            <a:avLst/>
          </a:prstGeom>
          <a:solidFill>
            <a:srgbClr val="DD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87287" y="1234440"/>
            <a:ext cx="73152" cy="1280160"/>
          </a:xfrm>
          <a:prstGeom prst="rect">
            <a:avLst/>
          </a:prstGeom>
          <a:solidFill>
            <a:srgbClr val="009E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24447" y="1289304"/>
            <a:ext cx="2476423" cy="6400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2800" b="1" i="0">
                <a:solidFill>
                  <a:srgbClr val="122E55"/>
                </a:solidFill>
                <a:latin typeface="Microsoft YaHei"/>
                <a:ea typeface="Microsoft YaHei"/>
                <a:cs typeface="Microsoft YaHei"/>
              </a:rPr>
              <a:t>62.5 μs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24447" y="1920240"/>
            <a:ext cx="2476423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高端电流环更新周期量级（16 kHz 及以上）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029471" y="1234440"/>
            <a:ext cx="2659303" cy="1280160"/>
          </a:xfrm>
          <a:prstGeom prst="rect">
            <a:avLst/>
          </a:prstGeom>
          <a:solidFill>
            <a:srgbClr val="DD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029471" y="1234440"/>
            <a:ext cx="73152" cy="1280160"/>
          </a:xfrm>
          <a:prstGeom prst="rect">
            <a:avLst/>
          </a:prstGeom>
          <a:solidFill>
            <a:srgbClr val="009E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66631" y="1289304"/>
            <a:ext cx="2476423" cy="6400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2800" b="1" i="0">
                <a:solidFill>
                  <a:srgbClr val="122E55"/>
                </a:solidFill>
                <a:latin typeface="Microsoft YaHei"/>
                <a:ea typeface="Microsoft YaHei"/>
                <a:cs typeface="Microsoft YaHei"/>
              </a:rPr>
              <a:t>SiC / GaN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66631" y="1920240"/>
            <a:ext cx="2476423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宽禁带功率器件：更高开关频率、更低损耗、更小体积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" y="2743200"/>
            <a:ext cx="2659303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02920" y="2743200"/>
            <a:ext cx="2659303" cy="457200"/>
          </a:xfrm>
          <a:prstGeom prst="rect">
            <a:avLst/>
          </a:prstGeom>
          <a:solidFill>
            <a:srgbClr val="009E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电机本体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76072" y="3273552"/>
            <a:ext cx="2512999" cy="217627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高转矩密度永磁同步电机（钕铁硼、集中绕组）</a:t>
            </a:r>
          </a:p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低齿槽转矩设计、低转动惯量</a:t>
            </a:r>
          </a:p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高防护、高温等级、耐冷却液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345103" y="2743200"/>
            <a:ext cx="2659303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345103" y="2743200"/>
            <a:ext cx="2659303" cy="457200"/>
          </a:xfrm>
          <a:prstGeom prst="rect">
            <a:avLst/>
          </a:prstGeom>
          <a:solidFill>
            <a:srgbClr val="122E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编码器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418255" y="3273552"/>
            <a:ext cx="2512999" cy="217627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光学/磁性/电感式绝对编码器</a:t>
            </a:r>
          </a:p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多圈电池/齿轮/韦根方案</a:t>
            </a:r>
          </a:p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高速下的信号细分精度与抗干扰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87287" y="2743200"/>
            <a:ext cx="2659303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187287" y="2743200"/>
            <a:ext cx="2659303" cy="457200"/>
          </a:xfrm>
          <a:prstGeom prst="rect">
            <a:avLst/>
          </a:prstGeom>
          <a:solidFill>
            <a:srgbClr val="F2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驱动器与控制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60439" y="3273552"/>
            <a:ext cx="2512999" cy="217627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矢量控制、前馈、扰动观测器</a:t>
            </a:r>
          </a:p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振动抑制（陷波、模型追随）</a:t>
            </a:r>
          </a:p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自整定与机械谐振辨识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029471" y="2743200"/>
            <a:ext cx="2659303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029471" y="2743200"/>
            <a:ext cx="2659303" cy="457200"/>
          </a:xfrm>
          <a:prstGeom prst="rect">
            <a:avLst/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系统集成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02623" y="3273552"/>
            <a:ext cx="2512999" cy="217627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多轴一体化驱动、共直流母线</a:t>
            </a:r>
          </a:p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功能安全（STO/SS1/SLS）</a:t>
            </a:r>
          </a:p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总线同步（分布式时钟 &lt; 1 μs 抖动）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02920" y="5532120"/>
            <a:ext cx="11185855" cy="548640"/>
          </a:xfrm>
          <a:prstGeom prst="rect">
            <a:avLst/>
          </a:prstGeom>
          <a:solidFill>
            <a:srgbClr val="FDF1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02920" y="5532120"/>
            <a:ext cx="73152" cy="548640"/>
          </a:xfrm>
          <a:prstGeom prst="rect">
            <a:avLst/>
          </a:prstGeom>
          <a:solidFill>
            <a:srgbClr val="F2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67512" y="5532120"/>
            <a:ext cx="10957255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350" b="1" i="0">
                <a:solidFill>
                  <a:srgbClr val="122E55"/>
                </a:solidFill>
                <a:latin typeface="Microsoft YaHei"/>
                <a:ea typeface="Microsoft YaHei"/>
                <a:cs typeface="Microsoft YaHei"/>
              </a:rPr>
              <a:t>国内现状：中低端伺服已大规模替代；高端差距在编码器芯片/光栅、驱动算法成熟度、长期可靠性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5720"/>
          </a:xfrm>
          <a:prstGeom prst="rect">
            <a:avLst/>
          </a:prstGeom>
          <a:solidFill>
            <a:srgbClr val="009E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950976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2.5 高端液压与气动元件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21792"/>
            <a:ext cx="969264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0" i="0">
                <a:solidFill>
                  <a:srgbClr val="DDF4F8"/>
                </a:solidFill>
                <a:latin typeface="Microsoft YaHei"/>
                <a:ea typeface="Microsoft YaHei"/>
                <a:cs typeface="Microsoft YaHei"/>
              </a:rPr>
              <a:t>功率密度最高的驱动方式，重型装备与航空航天不可替代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82735" y="201168"/>
            <a:ext cx="265176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1200" b="0" i="0">
                <a:solidFill>
                  <a:srgbClr val="8D99AE"/>
                </a:solidFill>
                <a:latin typeface="Microsoft YaHei"/>
                <a:ea typeface="Microsoft YaHei"/>
                <a:cs typeface="Microsoft YaHei"/>
              </a:rPr>
              <a:t>第二部分 · 核心零部件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6419088"/>
            <a:ext cx="11185855" cy="0"/>
          </a:xfrm>
          <a:prstGeom prst="line">
            <a:avLst/>
          </a:prstGeom>
          <a:ln w="9525">
            <a:solidFill>
              <a:srgbClr val="D9DE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2920" y="6446520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000" b="0" i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先进制造装备关键零部件研发及前沿技术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17175" y="6446520"/>
            <a:ext cx="13716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1000" b="0" i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23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234440"/>
            <a:ext cx="2659303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1234440"/>
            <a:ext cx="2659303" cy="457200"/>
          </a:xfrm>
          <a:prstGeom prst="rect">
            <a:avLst/>
          </a:prstGeom>
          <a:solidFill>
            <a:srgbClr val="009E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电液伺服阀 / 比例阀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6072" y="1764792"/>
            <a:ext cx="2512999" cy="226771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喷嘴挡板、射流管两级伺服阀</a:t>
            </a:r>
          </a:p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频宽 &gt; 100–200 Hz，滞环 &lt; 0.5%</a:t>
            </a:r>
          </a:p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难点：阀芯阀套配磨（间隙 2–5 μm，棱边锐度）、力矩马达、抗污染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45103" y="1234440"/>
            <a:ext cx="2659303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345103" y="1234440"/>
            <a:ext cx="2659303" cy="457200"/>
          </a:xfrm>
          <a:prstGeom prst="rect">
            <a:avLst/>
          </a:prstGeom>
          <a:solidFill>
            <a:srgbClr val="122E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高压柱塞泵 / 马达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18255" y="1764792"/>
            <a:ext cx="2512999" cy="226771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压力 35–42 MPa（工程机械）、更高（航空）</a:t>
            </a:r>
          </a:p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难点：配流盘/缸体、滑靴/斜盘三大摩擦副材料与表面处理，噪声、效率、寿命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87287" y="1234440"/>
            <a:ext cx="2659303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87287" y="1234440"/>
            <a:ext cx="2659303" cy="457200"/>
          </a:xfrm>
          <a:prstGeom prst="rect">
            <a:avLst/>
          </a:prstGeom>
          <a:solidFill>
            <a:srgbClr val="F2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精密气动元件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0439" y="1764792"/>
            <a:ext cx="2512999" cy="226771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高速电磁阀、精密减压阀、气浮导轨供气</a:t>
            </a:r>
          </a:p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难点：响应时间（ms）、流量一致性、洁净度</a:t>
            </a:r>
          </a:p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半导体与电子装配高度依赖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029471" y="1234440"/>
            <a:ext cx="2659303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029471" y="1234440"/>
            <a:ext cx="2659303" cy="457200"/>
          </a:xfrm>
          <a:prstGeom prst="rect">
            <a:avLst/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电液作动器（EHA）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02623" y="1764792"/>
            <a:ext cx="2512999" cy="226771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泵控、集成化、机电液一体</a:t>
            </a:r>
          </a:p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应用：飞行器舵机、重型机器人</a:t>
            </a:r>
          </a:p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难点：高速电机泵、热管理、容错控制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4251960"/>
            <a:ext cx="11185855" cy="21945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650" b="0" i="0">
                <a:solidFill>
                  <a:srgbClr val="009EB8"/>
                </a:solidFill>
                <a:latin typeface="Microsoft YaHei"/>
                <a:ea typeface="Microsoft YaHei"/>
                <a:cs typeface="Microsoft YaHei"/>
              </a:rPr>
              <a:t>■ </a:t>
            </a:r>
            <a:r>
              <a:rPr sz="1350" b="1" i="0">
                <a:solidFill>
                  <a:srgbClr val="122E55"/>
                </a:solidFill>
                <a:latin typeface="Microsoft YaHei"/>
                <a:ea typeface="Microsoft YaHei"/>
                <a:cs typeface="Microsoft YaHei"/>
              </a:rPr>
              <a:t>国内外格局</a:t>
            </a:r>
            <a:r>
              <a:rPr sz="135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：Bosch Rexroth、Moog、Parker、Eaton、Kawasaki 领先；恒立液压、艾迪精密在工程机械液压件实现规模替代，航空航天伺服阀以航空工业 609 所等体系为主</a:t>
            </a:r>
          </a:p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650" b="0" i="0">
                <a:solidFill>
                  <a:srgbClr val="009EB8"/>
                </a:solidFill>
                <a:latin typeface="Microsoft YaHei"/>
                <a:ea typeface="Microsoft YaHei"/>
                <a:cs typeface="Microsoft YaHei"/>
              </a:rPr>
              <a:t>■ </a:t>
            </a:r>
            <a:r>
              <a:rPr sz="1350" b="1" i="0">
                <a:solidFill>
                  <a:srgbClr val="122E55"/>
                </a:solidFill>
                <a:latin typeface="Microsoft YaHei"/>
                <a:ea typeface="Microsoft YaHei"/>
                <a:cs typeface="Microsoft YaHei"/>
              </a:rPr>
              <a:t>研究方向</a:t>
            </a:r>
            <a:r>
              <a:rPr sz="135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：摩擦副润滑—磨损—热耦合机理与新材料（陶瓷、DLC、PEEK 复合）；数字液压（高速开关阀阵列）；液压系统的智能诊断与节能控制；电静液作动器的高功率密度设计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5577840"/>
            <a:ext cx="11185855" cy="548640"/>
          </a:xfrm>
          <a:prstGeom prst="rect">
            <a:avLst/>
          </a:prstGeom>
          <a:solidFill>
            <a:srgbClr val="FDF1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02920" y="5577840"/>
            <a:ext cx="73152" cy="548640"/>
          </a:xfrm>
          <a:prstGeom prst="rect">
            <a:avLst/>
          </a:prstGeom>
          <a:solidFill>
            <a:srgbClr val="F2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7512" y="5577840"/>
            <a:ext cx="10957255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350" b="1" i="0">
                <a:solidFill>
                  <a:srgbClr val="122E55"/>
                </a:solidFill>
                <a:latin typeface="Microsoft YaHei"/>
                <a:ea typeface="Microsoft YaHei"/>
                <a:cs typeface="Microsoft YaHei"/>
              </a:rPr>
              <a:t>共性挑战：液压元件寿命与可靠性对油液污染极度敏感 —— 研发不能脱离系统级的污染控制与应用工况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5720"/>
          </a:xfrm>
          <a:prstGeom prst="rect">
            <a:avLst/>
          </a:prstGeom>
          <a:solidFill>
            <a:srgbClr val="009E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950976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2.6 精密测量与感知部件：装备的“眼睛”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21792"/>
            <a:ext cx="969264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0" i="0">
                <a:solidFill>
                  <a:srgbClr val="DDF4F8"/>
                </a:solidFill>
                <a:latin typeface="Microsoft YaHei"/>
                <a:ea typeface="Microsoft YaHei"/>
                <a:cs typeface="Microsoft YaHei"/>
              </a:rPr>
              <a:t>没有纳米级测量就没有纳米级制造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82735" y="201168"/>
            <a:ext cx="265176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1200" b="0" i="0">
                <a:solidFill>
                  <a:srgbClr val="8D99AE"/>
                </a:solidFill>
                <a:latin typeface="Microsoft YaHei"/>
                <a:ea typeface="Microsoft YaHei"/>
                <a:cs typeface="Microsoft YaHei"/>
              </a:rPr>
              <a:t>第二部分 · 核心零部件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6419088"/>
            <a:ext cx="11185855" cy="0"/>
          </a:xfrm>
          <a:prstGeom prst="line">
            <a:avLst/>
          </a:prstGeom>
          <a:ln w="9525">
            <a:solidFill>
              <a:srgbClr val="D9DE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2920" y="6446520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000" b="0" i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先进制造装备关键零部件研发及前沿技术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17175" y="6446520"/>
            <a:ext cx="13716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1000" b="0" i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24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02920" y="1234440"/>
          <a:ext cx="11185853" cy="3401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11602"/>
                <a:gridCol w="1914695"/>
                <a:gridCol w="2922430"/>
                <a:gridCol w="1813922"/>
                <a:gridCol w="3023204"/>
              </a:tblGrid>
              <a:tr h="566928">
                <a:tc>
                  <a:txBody>
                    <a:bodyPr wrap="square"/>
                    <a:lstStyle/>
                    <a:p>
                      <a:pPr algn="ctr"/>
                      <a:r>
                        <a:rPr sz="11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部件</a:t>
                      </a:r>
                    </a:p>
                  </a:txBody>
                  <a:tcPr marL="64008" marR="64008" marT="27432" marB="27432" anchor="ctr">
                    <a:solidFill>
                      <a:srgbClr val="0B1F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原理</a:t>
                      </a:r>
                    </a:p>
                  </a:txBody>
                  <a:tcPr marL="64008" marR="64008" marT="27432" marB="27432" anchor="ctr">
                    <a:solidFill>
                      <a:srgbClr val="0B1F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典型性能</a:t>
                      </a:r>
                    </a:p>
                  </a:txBody>
                  <a:tcPr marL="64008" marR="64008" marT="27432" marB="27432" anchor="ctr">
                    <a:solidFill>
                      <a:srgbClr val="0B1F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应用</a:t>
                      </a:r>
                    </a:p>
                  </a:txBody>
                  <a:tcPr marL="64008" marR="64008" marT="27432" marB="27432" anchor="ctr">
                    <a:solidFill>
                      <a:srgbClr val="0B1F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难点</a:t>
                      </a:r>
                    </a:p>
                  </a:txBody>
                  <a:tcPr marL="64008" marR="64008" marT="27432" marB="27432" anchor="ctr">
                    <a:solidFill>
                      <a:srgbClr val="0B1F3A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122E5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直线光栅尺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光学/磁栅莫尔条纹、干涉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分辨率 1 nm–0.1 μm；精度 ±0.5–3 μm/m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机床闭环、测量机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基底刻划/全息制作、信号细分与误差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122E5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圆光栅/角编码器</a:t>
                      </a:r>
                    </a:p>
                  </a:txBody>
                  <a:tcPr marL="64008" marR="64008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增量/绝对码盘</a:t>
                      </a:r>
                    </a:p>
                  </a:txBody>
                  <a:tcPr marL="64008" marR="64008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分辨率 &lt; 0.01 arcsec（高端）；精度 ±1–5 arcsec</a:t>
                      </a:r>
                    </a:p>
                  </a:txBody>
                  <a:tcPr marL="64008" marR="64008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转台、机器人关节</a:t>
                      </a:r>
                    </a:p>
                  </a:txBody>
                  <a:tcPr marL="64008" marR="64008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码盘加工、偏心与读数头多头平均</a:t>
                      </a:r>
                    </a:p>
                  </a:txBody>
                  <a:tcPr marL="64008" marR="64008" marT="27432" marB="27432" anchor="ctr">
                    <a:solidFill>
                      <a:srgbClr val="F2F4F7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122E5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激光干涉仪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He-Ne 激光干涉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分辨率 0.1–1 nm，线性误差 ppm 级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光刻机测量、机床检定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稳频激光、环境补偿、光学元件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122E5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接触/非接触测头</a:t>
                      </a:r>
                    </a:p>
                  </a:txBody>
                  <a:tcPr marL="64008" marR="64008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触发/扫描/光学</a:t>
                      </a:r>
                    </a:p>
                  </a:txBody>
                  <a:tcPr marL="64008" marR="64008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重复性 &lt; 0.25–1 μm</a:t>
                      </a:r>
                    </a:p>
                  </a:txBody>
                  <a:tcPr marL="64008" marR="64008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在机测量、CMM</a:t>
                      </a:r>
                    </a:p>
                  </a:txBody>
                  <a:tcPr marL="64008" marR="64008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传感机构、温漂、与数控集成</a:t>
                      </a:r>
                    </a:p>
                  </a:txBody>
                  <a:tcPr marL="64008" marR="64008" marT="27432" marB="27432" anchor="ctr">
                    <a:solidFill>
                      <a:srgbClr val="F2F4F7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122E5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六维力/力矩传感器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应变、电容、压电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量程/精度/串扰 &lt; 1–3%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机器人装配、打磨、人机协作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解耦结构设计、标定、温度补偿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502920" y="5257800"/>
            <a:ext cx="11185855" cy="502920"/>
          </a:xfrm>
          <a:prstGeom prst="rect">
            <a:avLst/>
          </a:prstGeom>
          <a:solidFill>
            <a:srgbClr val="FDF1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5257800"/>
            <a:ext cx="73152" cy="502920"/>
          </a:xfrm>
          <a:prstGeom prst="rect">
            <a:avLst/>
          </a:prstGeom>
          <a:solidFill>
            <a:srgbClr val="F2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" y="5257800"/>
            <a:ext cx="10957255" cy="5029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250" b="1" i="0">
                <a:solidFill>
                  <a:srgbClr val="122E55"/>
                </a:solidFill>
                <a:latin typeface="Microsoft YaHei"/>
                <a:ea typeface="Microsoft YaHei"/>
                <a:cs typeface="Microsoft YaHei"/>
              </a:rPr>
              <a:t>前沿：平面光栅（光刻机工件台 2D 位置测量）、绝对式纳米光栅、光纤与量子传感、测量—控制一体化（“测控融合”）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5806440"/>
            <a:ext cx="11185855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250" b="0" i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国内：长春光机所体系、禹衡光学、中科院微电子所等在光栅/编码器方面持续突破；高端绝对式纳米光栅仍主要依赖进口。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5720"/>
          </a:xfrm>
          <a:prstGeom prst="rect">
            <a:avLst/>
          </a:prstGeom>
          <a:solidFill>
            <a:srgbClr val="009E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950976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2.7 高性能刀具与超硬材料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21792"/>
            <a:ext cx="969264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0" i="0">
                <a:solidFill>
                  <a:srgbClr val="DDF4F8"/>
                </a:solidFill>
                <a:latin typeface="Microsoft YaHei"/>
                <a:ea typeface="Microsoft YaHei"/>
                <a:cs typeface="Microsoft YaHei"/>
              </a:rPr>
              <a:t>“工业的牙齿”：直接与工件对话的零部件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82735" y="201168"/>
            <a:ext cx="265176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1200" b="0" i="0">
                <a:solidFill>
                  <a:srgbClr val="8D99AE"/>
                </a:solidFill>
                <a:latin typeface="Microsoft YaHei"/>
                <a:ea typeface="Microsoft YaHei"/>
                <a:cs typeface="Microsoft YaHei"/>
              </a:rPr>
              <a:t>第二部分 · 核心零部件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6419088"/>
            <a:ext cx="11185855" cy="0"/>
          </a:xfrm>
          <a:prstGeom prst="line">
            <a:avLst/>
          </a:prstGeom>
          <a:ln w="9525">
            <a:solidFill>
              <a:srgbClr val="D9DE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2920" y="6446520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000" b="0" i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先进制造装备关键零部件研发及前沿技术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17175" y="6446520"/>
            <a:ext cx="13716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1000" b="0" i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25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234440"/>
            <a:ext cx="2659303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1234440"/>
            <a:ext cx="2659303" cy="457200"/>
          </a:xfrm>
          <a:prstGeom prst="rect">
            <a:avLst/>
          </a:prstGeom>
          <a:solidFill>
            <a:srgbClr val="009E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刀具材料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6072" y="1764792"/>
            <a:ext cx="2512999" cy="272491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2000"/>
              </a:lnSpc>
            </a:pPr>
            <a:r>
              <a:rPr sz="118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超细/纳米晶硬质合金（WC-Co，晶粒 &lt; 0.5 μm）</a:t>
            </a:r>
          </a:p>
          <a:p>
            <a:pPr algn="l">
              <a:lnSpc>
                <a:spcPct val="112000"/>
              </a:lnSpc>
            </a:pPr>
            <a:r>
              <a:rPr sz="118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PCD、PCBN 超硬材料；陶瓷（Al₂O₃、Si₃N₄、SiAlON）</a:t>
            </a:r>
          </a:p>
          <a:p>
            <a:pPr algn="l">
              <a:lnSpc>
                <a:spcPct val="112000"/>
              </a:lnSpc>
            </a:pPr>
            <a:r>
              <a:rPr sz="118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粉末冶金高速钢</a:t>
            </a:r>
          </a:p>
          <a:p>
            <a:pPr algn="l">
              <a:lnSpc>
                <a:spcPct val="112000"/>
              </a:lnSpc>
            </a:pPr>
            <a:r>
              <a:rPr sz="118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难点：WC 粉末与钴粉纯度、烧结致密度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45103" y="1234440"/>
            <a:ext cx="2659303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345103" y="1234440"/>
            <a:ext cx="2659303" cy="457200"/>
          </a:xfrm>
          <a:prstGeom prst="rect">
            <a:avLst/>
          </a:prstGeom>
          <a:solidFill>
            <a:srgbClr val="122E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涂层技术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18255" y="1764792"/>
            <a:ext cx="2512999" cy="272491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2000"/>
              </a:lnSpc>
            </a:pPr>
            <a:r>
              <a:rPr sz="118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PVD（TiAlN、AlCrN、纳米多层/纳米复合）</a:t>
            </a:r>
          </a:p>
          <a:p>
            <a:pPr algn="l">
              <a:lnSpc>
                <a:spcPct val="112000"/>
              </a:lnSpc>
            </a:pPr>
            <a:r>
              <a:rPr sz="118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CVD（Al₂O₃ 厚膜）、金刚石涂层</a:t>
            </a:r>
          </a:p>
          <a:p>
            <a:pPr algn="l">
              <a:lnSpc>
                <a:spcPct val="112000"/>
              </a:lnSpc>
            </a:pPr>
            <a:r>
              <a:rPr sz="118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难点：膜基结合力、残余应力、涂层设备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87287" y="1234440"/>
            <a:ext cx="2659303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87287" y="1234440"/>
            <a:ext cx="2659303" cy="457200"/>
          </a:xfrm>
          <a:prstGeom prst="rect">
            <a:avLst/>
          </a:prstGeom>
          <a:solidFill>
            <a:srgbClr val="F2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刀具几何与结构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0439" y="1764792"/>
            <a:ext cx="2512999" cy="272491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2000"/>
              </a:lnSpc>
            </a:pPr>
            <a:r>
              <a:rPr sz="118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整体立铣刀槽型、变螺旋/不等分齿</a:t>
            </a:r>
          </a:p>
          <a:p>
            <a:pPr algn="l">
              <a:lnSpc>
                <a:spcPct val="112000"/>
              </a:lnSpc>
            </a:pPr>
            <a:r>
              <a:rPr sz="118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可转位刀片断屑槽、刀体结构</a:t>
            </a:r>
          </a:p>
          <a:p>
            <a:pPr algn="l">
              <a:lnSpc>
                <a:spcPct val="112000"/>
              </a:lnSpc>
            </a:pPr>
            <a:r>
              <a:rPr sz="118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难点：五轴磨削工艺、刀具—工艺匹配数据库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029471" y="1234440"/>
            <a:ext cx="2659303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029471" y="1234440"/>
            <a:ext cx="2659303" cy="457200"/>
          </a:xfrm>
          <a:prstGeom prst="rect">
            <a:avLst/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格局与趋势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02623" y="1764792"/>
            <a:ext cx="2512999" cy="272491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2000"/>
              </a:lnSpc>
            </a:pPr>
            <a:r>
              <a:rPr sz="118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Sandvik、Kennametal、Iscar、Mitsubishi、Kyocera 领先</a:t>
            </a:r>
          </a:p>
          <a:p>
            <a:pPr algn="l">
              <a:lnSpc>
                <a:spcPct val="112000"/>
              </a:lnSpc>
            </a:pPr>
            <a:r>
              <a:rPr sz="118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株洲钻石、厦门金鹭、欧科亿、华锐精密快速成长</a:t>
            </a:r>
          </a:p>
          <a:p>
            <a:pPr algn="l">
              <a:lnSpc>
                <a:spcPct val="112000"/>
              </a:lnSpc>
            </a:pPr>
            <a:r>
              <a:rPr sz="118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趋势：智能刀具（内置传感）、增材刀体、绿色干切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4709160"/>
            <a:ext cx="11185855" cy="20116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650" b="0" i="0">
                <a:solidFill>
                  <a:srgbClr val="009EB8"/>
                </a:solidFill>
                <a:latin typeface="Microsoft YaHei"/>
                <a:ea typeface="Microsoft YaHei"/>
                <a:cs typeface="Microsoft YaHei"/>
              </a:rPr>
              <a:t>■ </a:t>
            </a:r>
            <a:r>
              <a:rPr sz="1350" b="1" i="0">
                <a:solidFill>
                  <a:srgbClr val="122E55"/>
                </a:solidFill>
                <a:latin typeface="Microsoft YaHei"/>
                <a:ea typeface="Microsoft YaHei"/>
                <a:cs typeface="Microsoft YaHei"/>
              </a:rPr>
              <a:t>科学问题</a:t>
            </a:r>
            <a:r>
              <a:rPr sz="135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：难加工材料（钛合金、高温合金、CFRP）切削的刀—屑界面摩擦与磨损机理；涂层—基体—切削热耦合的失效机制</a:t>
            </a:r>
          </a:p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650" b="0" i="0">
                <a:solidFill>
                  <a:srgbClr val="009EB8"/>
                </a:solidFill>
                <a:latin typeface="Microsoft YaHei"/>
                <a:ea typeface="Microsoft YaHei"/>
                <a:cs typeface="Microsoft YaHei"/>
              </a:rPr>
              <a:t>■ </a:t>
            </a:r>
            <a:r>
              <a:rPr sz="1350" b="1" i="0">
                <a:solidFill>
                  <a:srgbClr val="122E55"/>
                </a:solidFill>
                <a:latin typeface="Microsoft YaHei"/>
                <a:ea typeface="Microsoft YaHei"/>
                <a:cs typeface="Microsoft YaHei"/>
              </a:rPr>
              <a:t>工程问题</a:t>
            </a:r>
            <a:r>
              <a:rPr sz="135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：刀具寿命的离散度（批次一致性）；刀具—主轴—工艺参数的匹配数据库；在线刀具磨损监测与寿命预测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5720"/>
          </a:xfrm>
          <a:prstGeom prst="rect">
            <a:avLst/>
          </a:prstGeom>
          <a:solidFill>
            <a:srgbClr val="009E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950976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2.8 密封、润滑与热管理单元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21792"/>
            <a:ext cx="969264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0" i="0">
                <a:solidFill>
                  <a:srgbClr val="DDF4F8"/>
                </a:solidFill>
                <a:latin typeface="Microsoft YaHei"/>
                <a:ea typeface="Microsoft YaHei"/>
                <a:cs typeface="Microsoft YaHei"/>
              </a:rPr>
              <a:t>常被忽视的“隐形”关键部件，却是现场可靠性的首要影响因素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82735" y="201168"/>
            <a:ext cx="265176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1200" b="0" i="0">
                <a:solidFill>
                  <a:srgbClr val="8D99AE"/>
                </a:solidFill>
                <a:latin typeface="Microsoft YaHei"/>
                <a:ea typeface="Microsoft YaHei"/>
                <a:cs typeface="Microsoft YaHei"/>
              </a:rPr>
              <a:t>第二部分 · 核心零部件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6419088"/>
            <a:ext cx="11185855" cy="0"/>
          </a:xfrm>
          <a:prstGeom prst="line">
            <a:avLst/>
          </a:prstGeom>
          <a:ln w="9525">
            <a:solidFill>
              <a:srgbClr val="D9DE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2920" y="6446520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000" b="0" i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先进制造装备关键零部件研发及前沿技术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17175" y="6446520"/>
            <a:ext cx="13716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1000" b="0" i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26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234440"/>
            <a:ext cx="3606698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1234440"/>
            <a:ext cx="3606698" cy="457200"/>
          </a:xfrm>
          <a:prstGeom prst="rect">
            <a:avLst/>
          </a:prstGeom>
          <a:solidFill>
            <a:srgbClr val="009E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密封技术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6072" y="1764792"/>
            <a:ext cx="3460394" cy="199339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非接触：迷宫密封、气幕密封、磁流体密封（真空）</a:t>
            </a:r>
          </a:p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接触：机械密封、唇形密封</a:t>
            </a:r>
          </a:p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难点：高速下的发热与磨损、微间隙加工、半导体真空/洁净要求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92498" y="1234440"/>
            <a:ext cx="3606698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92498" y="1234440"/>
            <a:ext cx="3606698" cy="457200"/>
          </a:xfrm>
          <a:prstGeom prst="rect">
            <a:avLst/>
          </a:prstGeom>
          <a:solidFill>
            <a:srgbClr val="122E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润滑技术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65650" y="1764792"/>
            <a:ext cx="3460394" cy="199339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油气润滑（高速主轴）、微量润滑（MQL）、脂润滑寿命</a:t>
            </a:r>
          </a:p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固体润滑（真空/空间：MoS₂、DLC）</a:t>
            </a:r>
          </a:p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难点：润滑剂寿命模型、极端环境润滑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82076" y="1234440"/>
            <a:ext cx="3606698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82076" y="1234440"/>
            <a:ext cx="3606698" cy="457200"/>
          </a:xfrm>
          <a:prstGeom prst="rect">
            <a:avLst/>
          </a:prstGeom>
          <a:solidFill>
            <a:srgbClr val="F2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热管理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55228" y="1764792"/>
            <a:ext cx="3460394" cy="199339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主轴/电机水冷套、丝杠中空冷却</a:t>
            </a:r>
          </a:p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热对称结构、低膨胀材料（殷钢、碳纤维）</a:t>
            </a:r>
          </a:p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难点：多热源耦合的温度场预测与主动控制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3977640"/>
            <a:ext cx="11185855" cy="548640"/>
          </a:xfrm>
          <a:prstGeom prst="rect">
            <a:avLst/>
          </a:prstGeom>
          <a:solidFill>
            <a:srgbClr val="FDF1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2920" y="3977640"/>
            <a:ext cx="73152" cy="548640"/>
          </a:xfrm>
          <a:prstGeom prst="rect">
            <a:avLst/>
          </a:prstGeom>
          <a:solidFill>
            <a:srgbClr val="F2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7512" y="3977640"/>
            <a:ext cx="10957255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350" b="1" i="0">
                <a:solidFill>
                  <a:srgbClr val="122E55"/>
                </a:solidFill>
                <a:latin typeface="Microsoft YaHei"/>
                <a:ea typeface="Microsoft YaHei"/>
                <a:cs typeface="Microsoft YaHei"/>
              </a:rPr>
              <a:t>“可靠性是设计出来的，也是润滑与密封保证出来的” —— 建议将摩擦学与热管理纳入零部件研发的早期阶段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4709160"/>
            <a:ext cx="11185855" cy="17373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650" b="0" i="0">
                <a:solidFill>
                  <a:srgbClr val="009EB8"/>
                </a:solidFill>
                <a:latin typeface="Microsoft YaHei"/>
                <a:ea typeface="Microsoft YaHei"/>
                <a:cs typeface="Microsoft YaHei"/>
              </a:rPr>
              <a:t>■ </a:t>
            </a:r>
            <a:r>
              <a:rPr sz="1350" b="1" i="0">
                <a:solidFill>
                  <a:srgbClr val="122E55"/>
                </a:solidFill>
                <a:latin typeface="Microsoft YaHei"/>
                <a:ea typeface="Microsoft YaHei"/>
                <a:cs typeface="Microsoft YaHei"/>
              </a:rPr>
              <a:t>现场统计</a:t>
            </a:r>
            <a:r>
              <a:rPr sz="135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：主轴密封失效导致的轴承进水/进屑、润滑不良引起的轴承早期失效、冷却不均导致的热变形，是机床现场故障中最常见的几类“非核心件”故障</a:t>
            </a:r>
          </a:p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650" b="0" i="0">
                <a:solidFill>
                  <a:srgbClr val="009EB8"/>
                </a:solidFill>
                <a:latin typeface="Microsoft YaHei"/>
                <a:ea typeface="Microsoft YaHei"/>
                <a:cs typeface="Microsoft YaHei"/>
              </a:rPr>
              <a:t>■ </a:t>
            </a:r>
            <a:r>
              <a:rPr sz="1350" b="1" i="0">
                <a:solidFill>
                  <a:srgbClr val="122E55"/>
                </a:solidFill>
                <a:latin typeface="Microsoft YaHei"/>
                <a:ea typeface="Microsoft YaHei"/>
                <a:cs typeface="Microsoft YaHei"/>
              </a:rPr>
              <a:t>研究方向</a:t>
            </a:r>
            <a:r>
              <a:rPr sz="135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：极端工况（高速/高温/真空/洁净）润滑机理；润滑状态在线感知；基于相变/微通道的高功率密度冷却；热误差建模从“经验回归”走向“物理+数据”融合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5720"/>
          </a:xfrm>
          <a:prstGeom prst="rect">
            <a:avLst/>
          </a:prstGeom>
          <a:solidFill>
            <a:srgbClr val="009E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950976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2.9 机器人与半导体装备的特殊关键部件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21792"/>
            <a:ext cx="969264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0" i="0">
                <a:solidFill>
                  <a:srgbClr val="DDF4F8"/>
                </a:solidFill>
                <a:latin typeface="Microsoft YaHei"/>
                <a:ea typeface="Microsoft YaHei"/>
                <a:cs typeface="Microsoft YaHei"/>
              </a:rPr>
              <a:t>新兴装备门类带来新的零部件需求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82735" y="201168"/>
            <a:ext cx="265176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1200" b="0" i="0">
                <a:solidFill>
                  <a:srgbClr val="8D99AE"/>
                </a:solidFill>
                <a:latin typeface="Microsoft YaHei"/>
                <a:ea typeface="Microsoft YaHei"/>
                <a:cs typeface="Microsoft YaHei"/>
              </a:rPr>
              <a:t>第二部分 · 核心零部件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6419088"/>
            <a:ext cx="11185855" cy="0"/>
          </a:xfrm>
          <a:prstGeom prst="line">
            <a:avLst/>
          </a:prstGeom>
          <a:ln w="9525">
            <a:solidFill>
              <a:srgbClr val="D9DE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2920" y="6446520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000" b="0" i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先进制造装备关键零部件研发及前沿技术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17175" y="6446520"/>
            <a:ext cx="13716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1000" b="0" i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27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234440"/>
            <a:ext cx="3606698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1234440"/>
            <a:ext cx="3606698" cy="457200"/>
          </a:xfrm>
          <a:prstGeom prst="rect">
            <a:avLst/>
          </a:prstGeom>
          <a:solidFill>
            <a:srgbClr val="009E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超精密工件台（光刻/检测）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6072" y="1764792"/>
            <a:ext cx="3460394" cy="144475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气浮/磁浮 + 直线电机 + 平面光栅/干涉仪</a:t>
            </a:r>
          </a:p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定位精度 nm 级，加速度数 g，同步误差 nm</a:t>
            </a:r>
          </a:p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粗精双级、六自由度、主动隔振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92498" y="1234440"/>
            <a:ext cx="3606698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92498" y="1234440"/>
            <a:ext cx="3606698" cy="457200"/>
          </a:xfrm>
          <a:prstGeom prst="rect">
            <a:avLst/>
          </a:prstGeom>
          <a:solidFill>
            <a:srgbClr val="122E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真空机械手与传输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65650" y="1764792"/>
            <a:ext cx="3460394" cy="144475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真空兼容材料与润滑、磁流体密封</a:t>
            </a:r>
          </a:p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晶圆对中、低颗粒产生、高重复定位（±0.05 mm）</a:t>
            </a:r>
          </a:p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直驱真空电机、非接触传感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82076" y="1234440"/>
            <a:ext cx="3606698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82076" y="1234440"/>
            <a:ext cx="3606698" cy="457200"/>
          </a:xfrm>
          <a:prstGeom prst="rect">
            <a:avLst/>
          </a:prstGeom>
          <a:solidFill>
            <a:srgbClr val="F2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静电卡盘 / 加热盘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55228" y="1764792"/>
            <a:ext cx="3460394" cy="144475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陶瓷（AlN、Al₂O₃）基体、嵌入电极</a:t>
            </a:r>
          </a:p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温度均匀性 ±1 ℃、平面度 μm 级</a:t>
            </a:r>
          </a:p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材料、共烧、精密加工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3429000"/>
            <a:ext cx="3606698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2920" y="3429000"/>
            <a:ext cx="3606698" cy="457200"/>
          </a:xfrm>
          <a:prstGeom prst="rect">
            <a:avLst/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关节模组与执行器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6072" y="3959352"/>
            <a:ext cx="3460394" cy="144475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无框力矩电机 + 谐波/行星 + 双编码器 + 驱动器一体</a:t>
            </a:r>
          </a:p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高扭矩密度（人形机器人需求）</a:t>
            </a:r>
          </a:p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柔性关节、准直驱（QDD）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92498" y="3429000"/>
            <a:ext cx="3606698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292498" y="3429000"/>
            <a:ext cx="3606698" cy="457200"/>
          </a:xfrm>
          <a:prstGeom prst="rect">
            <a:avLst/>
          </a:prstGeom>
          <a:solidFill>
            <a:srgbClr val="8D99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力/触觉与灵巧手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65650" y="3959352"/>
            <a:ext cx="3460394" cy="144475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六维力传感器、关节力矩传感器</a:t>
            </a:r>
          </a:p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电子皮肤、分布式触觉阵列</a:t>
            </a:r>
          </a:p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微型减速器、腱驱动与微型伺服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82076" y="3429000"/>
            <a:ext cx="3606698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82076" y="3429000"/>
            <a:ext cx="3606698" cy="457200"/>
          </a:xfrm>
          <a:prstGeom prst="rect">
            <a:avLst/>
          </a:prstGeom>
          <a:solidFill>
            <a:srgbClr val="D64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精密运动部件（泛半导体）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55228" y="3959352"/>
            <a:ext cx="3460394" cy="144475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振镜（激光加工）、精密直线模组</a:t>
            </a:r>
          </a:p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晶圆切割/减薄主轴（&gt; 60 000 r/min 气浮）</a:t>
            </a:r>
          </a:p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高速贴片头（压电/音圈）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2920" y="5623560"/>
            <a:ext cx="11185855" cy="502920"/>
          </a:xfrm>
          <a:prstGeom prst="rect">
            <a:avLst/>
          </a:prstGeom>
          <a:solidFill>
            <a:srgbClr val="FDF1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02920" y="5623560"/>
            <a:ext cx="73152" cy="502920"/>
          </a:xfrm>
          <a:prstGeom prst="rect">
            <a:avLst/>
          </a:prstGeom>
          <a:solidFill>
            <a:srgbClr val="F2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7512" y="5623560"/>
            <a:ext cx="10957255" cy="5029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250" b="1" i="0">
                <a:solidFill>
                  <a:srgbClr val="122E55"/>
                </a:solidFill>
                <a:latin typeface="Microsoft YaHei"/>
                <a:ea typeface="Microsoft YaHei"/>
                <a:cs typeface="Microsoft YaHei"/>
              </a:rPr>
              <a:t>共同特征：极端精度 + 洁净/真空 + 高动态 + 多物理场集成 —— 零部件与整机的边界日益模糊，呼唤“部件级系统工程”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5720"/>
          </a:xfrm>
          <a:prstGeom prst="rect">
            <a:avLst/>
          </a:prstGeom>
          <a:solidFill>
            <a:srgbClr val="009E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950976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第二部分小结：关键零部件研发态势一览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21792"/>
            <a:ext cx="969264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0" i="0">
                <a:solidFill>
                  <a:srgbClr val="DDF4F8"/>
                </a:solidFill>
                <a:latin typeface="Microsoft YaHei"/>
                <a:ea typeface="Microsoft YaHei"/>
                <a:cs typeface="Microsoft YaHei"/>
              </a:rPr>
              <a:t>横向比较：瓶颈类型、国内水平与学术机会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82735" y="201168"/>
            <a:ext cx="265176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1200" b="0" i="0">
                <a:solidFill>
                  <a:srgbClr val="8D99AE"/>
                </a:solidFill>
                <a:latin typeface="Microsoft YaHei"/>
                <a:ea typeface="Microsoft YaHei"/>
                <a:cs typeface="Microsoft YaHei"/>
              </a:rPr>
              <a:t>第二部分 · 核心零部件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6419088"/>
            <a:ext cx="11185855" cy="0"/>
          </a:xfrm>
          <a:prstGeom prst="line">
            <a:avLst/>
          </a:prstGeom>
          <a:ln w="9525">
            <a:solidFill>
              <a:srgbClr val="D9DE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2920" y="6446520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000" b="0" i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先进制造装备关键零部件研发及前沿技术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17175" y="6446520"/>
            <a:ext cx="13716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1000" b="0" i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28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02920" y="1234440"/>
          <a:ext cx="11185852" cy="42793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34083"/>
                <a:gridCol w="2485745"/>
                <a:gridCol w="2868167"/>
                <a:gridCol w="4397857"/>
              </a:tblGrid>
              <a:tr h="475488"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零部件</a:t>
                      </a:r>
                    </a:p>
                  </a:txBody>
                  <a:tcPr marL="64008" marR="64008" marT="27432" marB="27432" anchor="ctr">
                    <a:solidFill>
                      <a:srgbClr val="0B1F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瓶颈类型</a:t>
                      </a:r>
                    </a:p>
                  </a:txBody>
                  <a:tcPr marL="64008" marR="64008" marT="27432" marB="27432" anchor="ctr">
                    <a:solidFill>
                      <a:srgbClr val="0B1F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国内水平（高端段）</a:t>
                      </a:r>
                    </a:p>
                  </a:txBody>
                  <a:tcPr marL="64008" marR="64008" marT="27432" marB="27432" anchor="ctr">
                    <a:solidFill>
                      <a:srgbClr val="0B1F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学术研究切入点</a:t>
                      </a:r>
                    </a:p>
                  </a:txBody>
                  <a:tcPr marL="64008" marR="64008" marT="27432" marB="27432" anchor="ctr">
                    <a:solidFill>
                      <a:srgbClr val="0B1F3A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150" b="1" i="0">
                          <a:solidFill>
                            <a:srgbClr val="122E5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精密轴承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材料 + 工艺 + 试验数据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中档成熟，高端差距明显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接触疲劳机理、多场耦合动力学、智能轴承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150" b="1" i="0">
                          <a:solidFill>
                            <a:srgbClr val="122E5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丝杠导轨</a:t>
                      </a:r>
                    </a:p>
                  </a:txBody>
                  <a:tcPr marL="64008" marR="64008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工艺 + 精度保持性</a:t>
                      </a:r>
                    </a:p>
                  </a:txBody>
                  <a:tcPr marL="64008" marR="64008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中档有竞争力，高端追赶</a:t>
                      </a:r>
                    </a:p>
                  </a:txBody>
                  <a:tcPr marL="64008" marR="64008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滚动体动力学、热误差、新原理丝杠</a:t>
                      </a:r>
                    </a:p>
                  </a:txBody>
                  <a:tcPr marL="64008" marR="64008" marT="27432" marB="27432" anchor="ctr">
                    <a:solidFill>
                      <a:srgbClr val="F2F4F7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150" b="1" i="0">
                          <a:solidFill>
                            <a:srgbClr val="122E5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精密减速器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设计 + 工艺 + 装配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谐波已替代，RV 追赶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啮合理论、疲劳寿命、概率公差设计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150" b="1" i="0">
                          <a:solidFill>
                            <a:srgbClr val="122E5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电主轴</a:t>
                      </a:r>
                    </a:p>
                  </a:txBody>
                  <a:tcPr marL="64008" marR="64008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机电热耦合 + 轴承</a:t>
                      </a:r>
                    </a:p>
                  </a:txBody>
                  <a:tcPr marL="64008" marR="64008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中低速成熟，高速大功率差距</a:t>
                      </a:r>
                    </a:p>
                  </a:txBody>
                  <a:tcPr marL="64008" marR="64008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热—动力学耦合、智能主轴、磁悬浮</a:t>
                      </a:r>
                    </a:p>
                  </a:txBody>
                  <a:tcPr marL="64008" marR="64008" marT="27432" marB="27432" anchor="ctr">
                    <a:solidFill>
                      <a:srgbClr val="F2F4F7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150" b="1" i="0">
                          <a:solidFill>
                            <a:srgbClr val="122E5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数控/伺服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软件生态 + 可靠性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五轴突破，生态薄弱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智能数控算法、开放式架构、AI 工艺优化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150" b="1" i="0">
                          <a:solidFill>
                            <a:srgbClr val="122E5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液压元件</a:t>
                      </a:r>
                    </a:p>
                  </a:txBody>
                  <a:tcPr marL="64008" marR="64008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材料 + 摩擦副工艺</a:t>
                      </a:r>
                    </a:p>
                  </a:txBody>
                  <a:tcPr marL="64008" marR="64008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工程机械替代，航空差距</a:t>
                      </a:r>
                    </a:p>
                  </a:txBody>
                  <a:tcPr marL="64008" marR="64008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摩擦学、数字液压、EHA</a:t>
                      </a:r>
                    </a:p>
                  </a:txBody>
                  <a:tcPr marL="64008" marR="64008" marT="27432" marB="27432" anchor="ctr">
                    <a:solidFill>
                      <a:srgbClr val="F2F4F7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150" b="1" i="0">
                          <a:solidFill>
                            <a:srgbClr val="122E5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测量感知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光学制造 + 芯片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中端可用，纳米级依赖进口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新原理测量、测控融合、量子传感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150" b="1" i="0">
                          <a:solidFill>
                            <a:srgbClr val="122E5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刀具</a:t>
                      </a:r>
                    </a:p>
                  </a:txBody>
                  <a:tcPr marL="64008" marR="64008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材料 + 涂层 + 数据</a:t>
                      </a:r>
                    </a:p>
                  </a:txBody>
                  <a:tcPr marL="64008" marR="64008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快速成长，高端追赶</a:t>
                      </a:r>
                    </a:p>
                  </a:txBody>
                  <a:tcPr marL="64008" marR="64008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切削机理、涂层失效、智能刀具</a:t>
                      </a:r>
                    </a:p>
                  </a:txBody>
                  <a:tcPr marL="64008" marR="64008" marT="27432" marB="27432" anchor="ctr"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502920" y="5623560"/>
            <a:ext cx="11185855" cy="502920"/>
          </a:xfrm>
          <a:prstGeom prst="rect">
            <a:avLst/>
          </a:prstGeom>
          <a:solidFill>
            <a:srgbClr val="FDF1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5623560"/>
            <a:ext cx="73152" cy="502920"/>
          </a:xfrm>
          <a:prstGeom prst="rect">
            <a:avLst/>
          </a:prstGeom>
          <a:solidFill>
            <a:srgbClr val="F2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" y="5623560"/>
            <a:ext cx="10957255" cy="5029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300" b="1" i="0">
                <a:solidFill>
                  <a:srgbClr val="122E55"/>
                </a:solidFill>
                <a:latin typeface="Microsoft YaHei"/>
                <a:ea typeface="Microsoft YaHei"/>
                <a:cs typeface="Microsoft YaHei"/>
              </a:rPr>
              <a:t>共性规律：瓶颈从“原理”下沉到“材料—工艺—检测—数据”；学术界的价值在于机理阐释、模型工具与新原理探索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122E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103120"/>
            <a:ext cx="3200400" cy="18288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1000" b="1" i="0">
                <a:solidFill>
                  <a:srgbClr val="009EB8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3931920"/>
            <a:ext cx="320040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800" b="0" i="0">
                <a:solidFill>
                  <a:srgbClr val="8D99AE"/>
                </a:solidFill>
                <a:latin typeface="Microsoft YaHei"/>
                <a:ea typeface="Microsoft YaHei"/>
                <a:cs typeface="Microsoft YaHei"/>
              </a:rPr>
              <a:t>第三部分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46320" y="2194560"/>
            <a:ext cx="6949440" cy="15544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关键零部件研发的共性使能技术</a:t>
            </a:r>
          </a:p>
        </p:txBody>
      </p:sp>
      <p:sp>
        <p:nvSpPr>
          <p:cNvPr id="7" name="Rectangle 6"/>
          <p:cNvSpPr/>
          <p:nvPr/>
        </p:nvSpPr>
        <p:spPr>
          <a:xfrm>
            <a:off x="4846320" y="3840480"/>
            <a:ext cx="1097280" cy="54864"/>
          </a:xfrm>
          <a:prstGeom prst="rect">
            <a:avLst/>
          </a:prstGeom>
          <a:solidFill>
            <a:srgbClr val="F2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846320" y="4023360"/>
            <a:ext cx="640080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800" b="0" i="0">
                <a:solidFill>
                  <a:srgbClr val="DDF4F8"/>
                </a:solidFill>
                <a:latin typeface="Microsoft YaHei"/>
                <a:ea typeface="Microsoft YaHei"/>
                <a:cs typeface="Microsoft YaHei"/>
              </a:rPr>
              <a:t>约 15 分钟</a:t>
            </a:r>
          </a:p>
        </p:txBody>
      </p:sp>
      <p:sp>
        <p:nvSpPr>
          <p:cNvPr id="9" name="Rectangle 8"/>
          <p:cNvSpPr/>
          <p:nvPr/>
        </p:nvSpPr>
        <p:spPr>
          <a:xfrm>
            <a:off x="4846320" y="5760720"/>
            <a:ext cx="1234440" cy="91440"/>
          </a:xfrm>
          <a:prstGeom prst="rect">
            <a:avLst/>
          </a:prstGeom>
          <a:solidFill>
            <a:srgbClr val="009E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46320" y="5897880"/>
            <a:ext cx="123444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000" b="0" i="0">
                <a:solidFill>
                  <a:srgbClr val="8D99AE"/>
                </a:solidFill>
                <a:latin typeface="Microsoft YaHei"/>
                <a:ea typeface="Microsoft YaHei"/>
                <a:cs typeface="Microsoft YaHei"/>
              </a:rPr>
              <a:t>绪论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5760720"/>
            <a:ext cx="1234440" cy="91440"/>
          </a:xfrm>
          <a:prstGeom prst="rect">
            <a:avLst/>
          </a:prstGeom>
          <a:solidFill>
            <a:srgbClr val="009E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0" y="5897880"/>
            <a:ext cx="123444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000" b="0" i="0">
                <a:solidFill>
                  <a:srgbClr val="8D99AE"/>
                </a:solidFill>
                <a:latin typeface="Microsoft YaHei"/>
                <a:ea typeface="Microsoft YaHei"/>
                <a:cs typeface="Microsoft YaHei"/>
              </a:rPr>
              <a:t>核心零部件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589520" y="5760720"/>
            <a:ext cx="1234440" cy="91440"/>
          </a:xfrm>
          <a:prstGeom prst="rect">
            <a:avLst/>
          </a:prstGeom>
          <a:solidFill>
            <a:srgbClr val="009E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89520" y="5897880"/>
            <a:ext cx="123444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000" b="0" i="0">
                <a:solidFill>
                  <a:srgbClr val="DDF4F8"/>
                </a:solidFill>
                <a:latin typeface="Microsoft YaHei"/>
                <a:ea typeface="Microsoft YaHei"/>
                <a:cs typeface="Microsoft YaHei"/>
              </a:rPr>
              <a:t>共性技术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961120" y="5760720"/>
            <a:ext cx="1234440" cy="91440"/>
          </a:xfrm>
          <a:prstGeom prst="rect">
            <a:avLst/>
          </a:prstGeom>
          <a:solidFill>
            <a:srgbClr val="8D99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0" y="5897880"/>
            <a:ext cx="123444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000" b="0" i="0">
                <a:solidFill>
                  <a:srgbClr val="8D99AE"/>
                </a:solidFill>
                <a:latin typeface="Microsoft YaHei"/>
                <a:ea typeface="Microsoft YaHei"/>
                <a:cs typeface="Microsoft YaHei"/>
              </a:rPr>
              <a:t>前沿技术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332720" y="5760720"/>
            <a:ext cx="1234440" cy="91440"/>
          </a:xfrm>
          <a:prstGeom prst="rect">
            <a:avLst/>
          </a:prstGeom>
          <a:solidFill>
            <a:srgbClr val="8D99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332720" y="5897880"/>
            <a:ext cx="123444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000" b="0" i="0">
                <a:solidFill>
                  <a:srgbClr val="8D99AE"/>
                </a:solidFill>
                <a:latin typeface="Microsoft YaHei"/>
                <a:ea typeface="Microsoft YaHei"/>
                <a:cs typeface="Microsoft YaHei"/>
              </a:rPr>
              <a:t>趋势与建议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5720"/>
          </a:xfrm>
          <a:prstGeom prst="rect">
            <a:avLst/>
          </a:prstGeom>
          <a:solidFill>
            <a:srgbClr val="009E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950976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3.1 精密与超精密加工技术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21792"/>
            <a:ext cx="969264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0" i="0">
                <a:solidFill>
                  <a:srgbClr val="DDF4F8"/>
                </a:solidFill>
                <a:latin typeface="Microsoft YaHei"/>
                <a:ea typeface="Microsoft YaHei"/>
                <a:cs typeface="Microsoft YaHei"/>
              </a:rPr>
              <a:t>零部件精度的直接来源：加工精度从微米走向纳米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82735" y="201168"/>
            <a:ext cx="265176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1200" b="0" i="0">
                <a:solidFill>
                  <a:srgbClr val="8D99AE"/>
                </a:solidFill>
                <a:latin typeface="Microsoft YaHei"/>
                <a:ea typeface="Microsoft YaHei"/>
                <a:cs typeface="Microsoft YaHei"/>
              </a:rPr>
              <a:t>第三部分 · 共性技术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6419088"/>
            <a:ext cx="11185855" cy="0"/>
          </a:xfrm>
          <a:prstGeom prst="line">
            <a:avLst/>
          </a:prstGeom>
          <a:ln w="9525">
            <a:solidFill>
              <a:srgbClr val="D9DE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2920" y="6446520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000" b="0" i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先进制造装备关键零部件研发及前沿技术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17175" y="6446520"/>
            <a:ext cx="13716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1000" b="0" i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30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3611880"/>
            <a:ext cx="1051560" cy="548640"/>
          </a:xfrm>
          <a:prstGeom prst="rect">
            <a:avLst/>
          </a:prstGeom>
          <a:solidFill>
            <a:srgbClr val="8D99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ctr"/>
            <a:r>
              <a:rPr sz="10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普通加工</a:t>
            </a:r>
          </a:p>
          <a:p>
            <a:pPr algn="ctr"/>
            <a:r>
              <a:rPr sz="10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10–100 μm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645920" y="3154680"/>
            <a:ext cx="1051560" cy="1005840"/>
          </a:xfrm>
          <a:prstGeom prst="rect">
            <a:avLst/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ctr"/>
            <a:r>
              <a:rPr sz="10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精密加工</a:t>
            </a:r>
          </a:p>
          <a:p>
            <a:pPr algn="ctr"/>
            <a:r>
              <a:rPr sz="10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1–10 μm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88920" y="2697480"/>
            <a:ext cx="1051560" cy="1463040"/>
          </a:xfrm>
          <a:prstGeom prst="rect">
            <a:avLst/>
          </a:prstGeom>
          <a:solidFill>
            <a:srgbClr val="009E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ctr"/>
            <a:r>
              <a:rPr sz="10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高精密加工</a:t>
            </a:r>
          </a:p>
          <a:p>
            <a:pPr algn="ctr"/>
            <a:r>
              <a:rPr sz="10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0.1–1 μm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931920" y="2240280"/>
            <a:ext cx="1051560" cy="1920240"/>
          </a:xfrm>
          <a:prstGeom prst="rect">
            <a:avLst/>
          </a:prstGeom>
          <a:solidFill>
            <a:srgbClr val="122E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ctr"/>
            <a:r>
              <a:rPr sz="10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超精密加工</a:t>
            </a:r>
          </a:p>
          <a:p>
            <a:pPr algn="ctr"/>
            <a:r>
              <a:rPr sz="10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10–100 nm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74920" y="1783080"/>
            <a:ext cx="1051560" cy="2377440"/>
          </a:xfrm>
          <a:prstGeom prst="rect">
            <a:avLst/>
          </a:prstGeom>
          <a:solidFill>
            <a:srgbClr val="F2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ctr"/>
            <a:r>
              <a:rPr sz="1050" b="1" i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纳米/原子级</a:t>
            </a:r>
          </a:p>
          <a:p>
            <a:pPr algn="ctr"/>
            <a:r>
              <a:rPr sz="1050" b="1" i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&lt; 10 nm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425196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150" b="0" i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加工精度的演进（示意）：每一级跃迁都依赖新的机床、刀具、测量与环境控制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6400800" y="1234440"/>
          <a:ext cx="5303519" cy="3328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36205"/>
                <a:gridCol w="1683657"/>
                <a:gridCol w="1683657"/>
              </a:tblGrid>
              <a:tr h="475488"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方法</a:t>
                      </a:r>
                    </a:p>
                  </a:txBody>
                  <a:tcPr marL="64008" marR="64008" marT="27432" marB="27432" anchor="ctr">
                    <a:solidFill>
                      <a:srgbClr val="0B1F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典型精度</a:t>
                      </a:r>
                    </a:p>
                  </a:txBody>
                  <a:tcPr marL="64008" marR="64008" marT="27432" marB="27432" anchor="ctr">
                    <a:solidFill>
                      <a:srgbClr val="0B1F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适用零部件</a:t>
                      </a:r>
                    </a:p>
                  </a:txBody>
                  <a:tcPr marL="64008" marR="64008" marT="27432" marB="27432" anchor="ctr">
                    <a:solidFill>
                      <a:srgbClr val="0B1F3A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122E5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单点金刚石车削（SPDT）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形状 PV &lt; 0.1 μm，Ra &lt; 5 nm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光学模具、气浮轴承、反射镜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122E5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超精密磨削 / ELID 磨削</a:t>
                      </a:r>
                    </a:p>
                  </a:txBody>
                  <a:tcPr marL="64008" marR="64008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Ra &lt; 10 nm，形状 &lt; 0.1 μm</a:t>
                      </a:r>
                    </a:p>
                  </a:txBody>
                  <a:tcPr marL="64008" marR="64008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轴承沟道、硬脆材料、陶瓷</a:t>
                      </a:r>
                    </a:p>
                  </a:txBody>
                  <a:tcPr marL="64008" marR="64008" marT="27432" marB="27432" anchor="ctr">
                    <a:solidFill>
                      <a:srgbClr val="F2F4F7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122E5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精密成形磨削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轮廓 ≤ 2 μm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摆线轮、丝杠滚道、齿轮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122E5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研磨 / 抛光（CMP、MRF、IBF）</a:t>
                      </a:r>
                    </a:p>
                  </a:txBody>
                  <a:tcPr marL="64008" marR="64008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面形 &lt; 1 nm RMS（光学）</a:t>
                      </a:r>
                    </a:p>
                  </a:txBody>
                  <a:tcPr marL="64008" marR="64008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光刻物镜、EUV 反射镜、晶圆</a:t>
                      </a:r>
                    </a:p>
                  </a:txBody>
                  <a:tcPr marL="64008" marR="64008" marT="27432" marB="27432" anchor="ctr">
                    <a:solidFill>
                      <a:srgbClr val="F2F4F7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122E5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精密珩磨 / 超精研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圆度 &lt; 0.2 μm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轴承套圈、液压阀套、缸体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122E5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微细/特种加工（EDM、激光、FIB）</a:t>
                      </a:r>
                    </a:p>
                  </a:txBody>
                  <a:tcPr marL="64008" marR="64008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μm–nm 特征</a:t>
                      </a:r>
                    </a:p>
                  </a:txBody>
                  <a:tcPr marL="64008" marR="64008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喷嘴、节流器、微结构</a:t>
                      </a:r>
                    </a:p>
                  </a:txBody>
                  <a:tcPr marL="64008" marR="64008" marT="27432" marB="27432" anchor="ctr"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502920" y="4709160"/>
            <a:ext cx="11185855" cy="20116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650" b="0" i="0">
                <a:solidFill>
                  <a:srgbClr val="009EB8"/>
                </a:solidFill>
                <a:latin typeface="Microsoft YaHei"/>
                <a:ea typeface="Microsoft YaHei"/>
                <a:cs typeface="Microsoft YaHei"/>
              </a:rPr>
              <a:t>■ </a:t>
            </a:r>
            <a:r>
              <a:rPr sz="1350" b="1" i="0">
                <a:solidFill>
                  <a:srgbClr val="122E55"/>
                </a:solidFill>
                <a:latin typeface="Microsoft YaHei"/>
                <a:ea typeface="Microsoft YaHei"/>
                <a:cs typeface="Microsoft YaHei"/>
              </a:rPr>
              <a:t>“母机递归”问题</a:t>
            </a:r>
            <a:r>
              <a:rPr sz="135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：超精密零部件需要更高精度的机床加工，而机床本身由零部件组成 —— 突破需依靠误差均化、误差分离与补偿等“以低制高”方法</a:t>
            </a:r>
          </a:p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650" b="0" i="0">
                <a:solidFill>
                  <a:srgbClr val="009EB8"/>
                </a:solidFill>
                <a:latin typeface="Microsoft YaHei"/>
                <a:ea typeface="Microsoft YaHei"/>
                <a:cs typeface="Microsoft YaHei"/>
              </a:rPr>
              <a:t>■ </a:t>
            </a:r>
            <a:r>
              <a:rPr sz="1350" b="1" i="0">
                <a:solidFill>
                  <a:srgbClr val="122E55"/>
                </a:solidFill>
                <a:latin typeface="Microsoft YaHei"/>
                <a:ea typeface="Microsoft YaHei"/>
                <a:cs typeface="Microsoft YaHei"/>
              </a:rPr>
              <a:t>科学问题</a:t>
            </a:r>
            <a:r>
              <a:rPr sz="135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：纳米尺度材料去除机理（脆—塑转变）、亚表面损伤、加工表面完整性对零部件服役性能的影响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5720"/>
          </a:xfrm>
          <a:prstGeom prst="rect">
            <a:avLst/>
          </a:prstGeom>
          <a:solidFill>
            <a:srgbClr val="009E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950976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3.2 精密装配与调试：性能实现的“最后一公里”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21792"/>
            <a:ext cx="969264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0" i="0">
                <a:solidFill>
                  <a:srgbClr val="DDF4F8"/>
                </a:solidFill>
                <a:latin typeface="Microsoft YaHei"/>
                <a:ea typeface="Microsoft YaHei"/>
                <a:cs typeface="Microsoft YaHei"/>
              </a:rPr>
              <a:t>同样的零件，不同的装配，性能可相差数倍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82735" y="201168"/>
            <a:ext cx="265176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1200" b="0" i="0">
                <a:solidFill>
                  <a:srgbClr val="8D99AE"/>
                </a:solidFill>
                <a:latin typeface="Microsoft YaHei"/>
                <a:ea typeface="Microsoft YaHei"/>
                <a:cs typeface="Microsoft YaHei"/>
              </a:rPr>
              <a:t>第三部分 · 共性技术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6419088"/>
            <a:ext cx="11185855" cy="0"/>
          </a:xfrm>
          <a:prstGeom prst="line">
            <a:avLst/>
          </a:prstGeom>
          <a:ln w="9525">
            <a:solidFill>
              <a:srgbClr val="D9DE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2920" y="6446520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000" b="0" i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先进制造装备关键零部件研发及前沿技术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17175" y="6446520"/>
            <a:ext cx="13716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1000" b="0" i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31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234440"/>
            <a:ext cx="5501487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1234440"/>
            <a:ext cx="5501487" cy="457200"/>
          </a:xfrm>
          <a:prstGeom prst="rect">
            <a:avLst/>
          </a:prstGeom>
          <a:solidFill>
            <a:srgbClr val="009E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装配精度理论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6072" y="1764792"/>
            <a:ext cx="5355183" cy="126187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尺寸链/公差分析（最坏情况、统计、蒙特卡洛）</a:t>
            </a:r>
          </a:p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小位移旋量（SDT）、雅可比—旋量模型</a:t>
            </a:r>
          </a:p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接触变形与装配应力对精度的影响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87287" y="1234440"/>
            <a:ext cx="5501487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87287" y="1234440"/>
            <a:ext cx="5501487" cy="457200"/>
          </a:xfrm>
          <a:prstGeom prst="rect">
            <a:avLst/>
          </a:prstGeom>
          <a:solidFill>
            <a:srgbClr val="122E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选配与成组技术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60439" y="1764792"/>
            <a:ext cx="5355183" cy="126187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轴承成组、滚珠分级选配、摆线轮—针齿配对</a:t>
            </a:r>
          </a:p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基于测量数据的智能选配算法（组合优化）</a:t>
            </a:r>
          </a:p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从“全互换”走向“选择装配 + 补偿”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3246120"/>
            <a:ext cx="5501487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2920" y="3246120"/>
            <a:ext cx="5501487" cy="457200"/>
          </a:xfrm>
          <a:prstGeom prst="rect">
            <a:avLst/>
          </a:prstGeom>
          <a:solidFill>
            <a:srgbClr val="F2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预紧与调整工艺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6072" y="3776472"/>
            <a:ext cx="5355183" cy="126187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轴承预紧力/预紧量的精确施加与在线监测</a:t>
            </a:r>
          </a:p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丝杠预拉伸、导轨预压调整</a:t>
            </a:r>
          </a:p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装配过程中的力—位移—温度多参数监控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87287" y="3246120"/>
            <a:ext cx="5501487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87287" y="3246120"/>
            <a:ext cx="5501487" cy="457200"/>
          </a:xfrm>
          <a:prstGeom prst="rect">
            <a:avLst/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动平衡与整机调试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60439" y="3776472"/>
            <a:ext cx="5355183" cy="126187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高速转子装配后整体动平衡（G0.4 及以上）</a:t>
            </a:r>
          </a:p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整机几何精度检测与误差补偿参数标定</a:t>
            </a:r>
          </a:p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伺服参数整定与动态性能验证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5257800"/>
            <a:ext cx="11185855" cy="548640"/>
          </a:xfrm>
          <a:prstGeom prst="rect">
            <a:avLst/>
          </a:prstGeom>
          <a:solidFill>
            <a:srgbClr val="FDF1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02920" y="5257800"/>
            <a:ext cx="73152" cy="548640"/>
          </a:xfrm>
          <a:prstGeom prst="rect">
            <a:avLst/>
          </a:prstGeom>
          <a:solidFill>
            <a:srgbClr val="F2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7512" y="5257800"/>
            <a:ext cx="10957255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300" b="1" i="0">
                <a:solidFill>
                  <a:srgbClr val="122E55"/>
                </a:solidFill>
                <a:latin typeface="Microsoft YaHei"/>
                <a:ea typeface="Microsoft YaHei"/>
                <a:cs typeface="Microsoft YaHei"/>
              </a:rPr>
              <a:t>研究方向：面向性能的装配（Performance-oriented assembly）、数字孪生驱动的装配工艺优化、装配知识的显性化与自动化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5720"/>
          </a:xfrm>
          <a:prstGeom prst="rect">
            <a:avLst/>
          </a:prstGeom>
          <a:solidFill>
            <a:srgbClr val="009E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950976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3.3 材料与热处理：零部件性能的物质基础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21792"/>
            <a:ext cx="969264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0" i="0">
                <a:solidFill>
                  <a:srgbClr val="DDF4F8"/>
                </a:solidFill>
                <a:latin typeface="Microsoft YaHei"/>
                <a:ea typeface="Microsoft YaHei"/>
                <a:cs typeface="Microsoft YaHei"/>
              </a:rPr>
              <a:t>“材料先行”—— 多数高端零部件的差距可追溯至材料与热处理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82735" y="201168"/>
            <a:ext cx="265176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1200" b="0" i="0">
                <a:solidFill>
                  <a:srgbClr val="8D99AE"/>
                </a:solidFill>
                <a:latin typeface="Microsoft YaHei"/>
                <a:ea typeface="Microsoft YaHei"/>
                <a:cs typeface="Microsoft YaHei"/>
              </a:rPr>
              <a:t>第三部分 · 共性技术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6419088"/>
            <a:ext cx="11185855" cy="0"/>
          </a:xfrm>
          <a:prstGeom prst="line">
            <a:avLst/>
          </a:prstGeom>
          <a:ln w="9525">
            <a:solidFill>
              <a:srgbClr val="D9DE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2920" y="6446520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000" b="0" i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先进制造装备关键零部件研发及前沿技术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17175" y="6446520"/>
            <a:ext cx="13716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1000" b="0" i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32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02920" y="1234440"/>
          <a:ext cx="11185853" cy="3182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3561"/>
                <a:gridCol w="2918049"/>
                <a:gridCol w="4085268"/>
                <a:gridCol w="2528975"/>
              </a:tblGrid>
              <a:tr h="530352">
                <a:tc>
                  <a:txBody>
                    <a:bodyPr wrap="square"/>
                    <a:lstStyle/>
                    <a:p>
                      <a:pPr algn="ctr"/>
                      <a:r>
                        <a:rPr sz="11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材料体系</a:t>
                      </a:r>
                    </a:p>
                  </a:txBody>
                  <a:tcPr marL="64008" marR="64008" marT="27432" marB="27432" anchor="ctr">
                    <a:solidFill>
                      <a:srgbClr val="0B1F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代表牌号/类型</a:t>
                      </a:r>
                    </a:p>
                  </a:txBody>
                  <a:tcPr marL="64008" marR="64008" marT="27432" marB="27432" anchor="ctr">
                    <a:solidFill>
                      <a:srgbClr val="0B1F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关键控制指标</a:t>
                      </a:r>
                    </a:p>
                  </a:txBody>
                  <a:tcPr marL="64008" marR="64008" marT="27432" marB="27432" anchor="ctr">
                    <a:solidFill>
                      <a:srgbClr val="0B1F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典型应用</a:t>
                      </a:r>
                    </a:p>
                  </a:txBody>
                  <a:tcPr marL="64008" marR="64008" marT="27432" marB="27432" anchor="ctr">
                    <a:solidFill>
                      <a:srgbClr val="0B1F3A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122E5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高碳铬轴承钢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GCr15、GCr15SiMn、100Cr6（ISO）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氧含量 ≤ 5–8 ppm，Ti ≤ 15 ppm，夹杂物评级，碳化物均匀性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轴承套圈、滚动体、丝杠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122E5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渗碳轴承/齿轮钢</a:t>
                      </a:r>
                    </a:p>
                  </a:txBody>
                  <a:tcPr marL="64008" marR="64008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G20CrNi2MoA、18CrNiMo7-6、M50NiL</a:t>
                      </a:r>
                    </a:p>
                  </a:txBody>
                  <a:tcPr marL="64008" marR="64008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渗层深度与硬度梯度、心部韧性、淬透性带宽</a:t>
                      </a:r>
                    </a:p>
                  </a:txBody>
                  <a:tcPr marL="64008" marR="64008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重载轴承、RV 摆线轮、齿轮</a:t>
                      </a:r>
                    </a:p>
                  </a:txBody>
                  <a:tcPr marL="64008" marR="64008" marT="27432" marB="27432" anchor="ctr">
                    <a:solidFill>
                      <a:srgbClr val="F2F4F7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122E5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高温轴承钢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Cr4Mo4V（M50）、Cr15Mo4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高温硬度（&gt; 300 ℃）、尺寸稳定性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航空发动机主轴承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122E5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工程陶瓷</a:t>
                      </a:r>
                    </a:p>
                  </a:txBody>
                  <a:tcPr marL="64008" marR="64008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Si₃N₄、ZrO₂、AlN、SiC</a:t>
                      </a:r>
                    </a:p>
                  </a:txBody>
                  <a:tcPr marL="64008" marR="64008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致密度、断裂韧性、缺陷尺寸（&lt; 10 μm）</a:t>
                      </a:r>
                    </a:p>
                  </a:txBody>
                  <a:tcPr marL="64008" marR="64008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陶瓷球、静电卡盘、超精密导轨</a:t>
                      </a:r>
                    </a:p>
                  </a:txBody>
                  <a:tcPr marL="64008" marR="64008" marT="27432" marB="27432" anchor="ctr">
                    <a:solidFill>
                      <a:srgbClr val="F2F4F7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122E5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特殊合金/功能材料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殷钢、钛合金、高强韧柔轮钢、钕铁硼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热膨胀系数、疲劳极限、磁性能稳定性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热稳定结构、柔轮、永磁电机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502920" y="4617720"/>
            <a:ext cx="11185855" cy="2103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600" b="0" i="0">
                <a:solidFill>
                  <a:srgbClr val="009EB8"/>
                </a:solidFill>
                <a:latin typeface="Microsoft YaHei"/>
                <a:ea typeface="Microsoft YaHei"/>
                <a:cs typeface="Microsoft YaHei"/>
              </a:rPr>
              <a:t>■ </a:t>
            </a:r>
            <a:r>
              <a:rPr sz="1300" b="1" i="0">
                <a:solidFill>
                  <a:srgbClr val="122E55"/>
                </a:solidFill>
                <a:latin typeface="Microsoft YaHei"/>
                <a:ea typeface="Microsoft YaHei"/>
                <a:cs typeface="Microsoft YaHei"/>
              </a:rPr>
              <a:t>热处理关键工艺</a:t>
            </a:r>
            <a:r>
              <a:rPr sz="130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：真空/可控气氛淬火、等温淬火（贝氏体）、深冷处理（残余奥氏体 &lt; 5–8%）、感应淬火；变形控制与尺寸稳定性（时效）</a:t>
            </a:r>
          </a:p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600" b="0" i="0">
                <a:solidFill>
                  <a:srgbClr val="009EB8"/>
                </a:solidFill>
                <a:latin typeface="Microsoft YaHei"/>
                <a:ea typeface="Microsoft YaHei"/>
                <a:cs typeface="Microsoft YaHei"/>
              </a:rPr>
              <a:t>■ </a:t>
            </a:r>
            <a:r>
              <a:rPr sz="1300" b="1" i="0">
                <a:solidFill>
                  <a:srgbClr val="122E55"/>
                </a:solidFill>
                <a:latin typeface="Microsoft YaHei"/>
                <a:ea typeface="Microsoft YaHei"/>
                <a:cs typeface="Microsoft YaHei"/>
              </a:rPr>
              <a:t>科学问题</a:t>
            </a:r>
            <a:r>
              <a:rPr sz="130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：夹杂物—疲劳寿命的定量关系（极值统计）；组织—性能—工艺的多尺度模拟（ICME）；残余应力演化与尺寸稳定性机理</a:t>
            </a:r>
          </a:p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600" b="0" i="0">
                <a:solidFill>
                  <a:srgbClr val="009EB8"/>
                </a:solidFill>
                <a:latin typeface="Microsoft YaHei"/>
                <a:ea typeface="Microsoft YaHei"/>
                <a:cs typeface="Microsoft YaHei"/>
              </a:rPr>
              <a:t>■ </a:t>
            </a:r>
            <a:r>
              <a:rPr sz="1300" b="1" i="0">
                <a:solidFill>
                  <a:srgbClr val="122E55"/>
                </a:solidFill>
                <a:latin typeface="Microsoft YaHei"/>
                <a:ea typeface="Microsoft YaHei"/>
                <a:cs typeface="Microsoft YaHei"/>
              </a:rPr>
              <a:t>工程问题</a:t>
            </a:r>
            <a:r>
              <a:rPr sz="130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：批次稳定性、热处理工艺窗口数据库、特种冶金装备（真空感应 + 电渣重熔双联工艺）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5720"/>
          </a:xfrm>
          <a:prstGeom prst="rect">
            <a:avLst/>
          </a:prstGeom>
          <a:solidFill>
            <a:srgbClr val="009E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950976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3.4 表面工程与摩擦学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21792"/>
            <a:ext cx="969264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0" i="0">
                <a:solidFill>
                  <a:srgbClr val="DDF4F8"/>
                </a:solidFill>
                <a:latin typeface="Microsoft YaHei"/>
                <a:ea typeface="Microsoft YaHei"/>
                <a:cs typeface="Microsoft YaHei"/>
              </a:rPr>
              <a:t>零部件失效 80% 以上始于表面：磨损、疲劳、腐蚀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82735" y="201168"/>
            <a:ext cx="265176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1200" b="0" i="0">
                <a:solidFill>
                  <a:srgbClr val="8D99AE"/>
                </a:solidFill>
                <a:latin typeface="Microsoft YaHei"/>
                <a:ea typeface="Microsoft YaHei"/>
                <a:cs typeface="Microsoft YaHei"/>
              </a:rPr>
              <a:t>第三部分 · 共性技术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6419088"/>
            <a:ext cx="11185855" cy="0"/>
          </a:xfrm>
          <a:prstGeom prst="line">
            <a:avLst/>
          </a:prstGeom>
          <a:ln w="9525">
            <a:solidFill>
              <a:srgbClr val="D9DE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2920" y="6446520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000" b="0" i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先进制造装备关键零部件研发及前沿技术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17175" y="6446520"/>
            <a:ext cx="13716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1000" b="0" i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33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234440"/>
            <a:ext cx="2659303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1234440"/>
            <a:ext cx="2659303" cy="457200"/>
          </a:xfrm>
          <a:prstGeom prst="rect">
            <a:avLst/>
          </a:prstGeom>
          <a:solidFill>
            <a:srgbClr val="009E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涂层与薄膜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6072" y="1764792"/>
            <a:ext cx="2512999" cy="272491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DLC、TiN/TiAlN、CrN、MoS₂</a:t>
            </a:r>
          </a:p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热喷涂、PVD/CVD、ALD</a:t>
            </a:r>
          </a:p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应用：液压摩擦副、刀具、真空轴承</a:t>
            </a:r>
          </a:p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难点：膜基结合、厚度均匀性、内应力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45103" y="1234440"/>
            <a:ext cx="2659303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345103" y="1234440"/>
            <a:ext cx="2659303" cy="457200"/>
          </a:xfrm>
          <a:prstGeom prst="rect">
            <a:avLst/>
          </a:prstGeom>
          <a:solidFill>
            <a:srgbClr val="122E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表面强化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18255" y="1764792"/>
            <a:ext cx="2512999" cy="272491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喷丸、激光冲击强化（LSP）、超声滚压、渗氮</a:t>
            </a:r>
          </a:p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引入残余压应力、细化晶粒</a:t>
            </a:r>
          </a:p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应用：齿轮、柔轮、丝杠滚道</a:t>
            </a:r>
          </a:p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难点：工艺—残余应力—疲劳寿命定量关系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87287" y="1234440"/>
            <a:ext cx="2659303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87287" y="1234440"/>
            <a:ext cx="2659303" cy="457200"/>
          </a:xfrm>
          <a:prstGeom prst="rect">
            <a:avLst/>
          </a:prstGeom>
          <a:solidFill>
            <a:srgbClr val="F2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表面织构与功能表面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0439" y="1764792"/>
            <a:ext cx="2512999" cy="272491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激光/光刻微织构（减摩、储油）</a:t>
            </a:r>
          </a:p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超疏水/亲油表面</a:t>
            </a:r>
          </a:p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应用：滑动轴承、密封、导轨</a:t>
            </a:r>
          </a:p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难点：织构参数优化、耐久性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029471" y="1234440"/>
            <a:ext cx="2659303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029471" y="1234440"/>
            <a:ext cx="2659303" cy="457200"/>
          </a:xfrm>
          <a:prstGeom prst="rect">
            <a:avLst/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摩擦学设计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02623" y="1764792"/>
            <a:ext cx="2512999" cy="272491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弹流润滑（EHL）、混合润滑、边界润滑</a:t>
            </a:r>
          </a:p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润滑剂—材料—表面协同</a:t>
            </a:r>
          </a:p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应用：几乎所有运动副</a:t>
            </a:r>
          </a:p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难点：极端工况润滑、多尺度摩擦建模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4709160"/>
            <a:ext cx="11185855" cy="594360"/>
          </a:xfrm>
          <a:prstGeom prst="rect">
            <a:avLst/>
          </a:prstGeom>
          <a:solidFill>
            <a:srgbClr val="FDF1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02920" y="4709160"/>
            <a:ext cx="73152" cy="594360"/>
          </a:xfrm>
          <a:prstGeom prst="rect">
            <a:avLst/>
          </a:prstGeom>
          <a:solidFill>
            <a:srgbClr val="F2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7512" y="4709160"/>
            <a:ext cx="10957255" cy="5943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300" b="1" i="0">
                <a:solidFill>
                  <a:srgbClr val="122E55"/>
                </a:solidFill>
                <a:latin typeface="Microsoft YaHei"/>
                <a:ea typeface="Microsoft YaHei"/>
                <a:cs typeface="Microsoft YaHei"/>
              </a:rPr>
              <a:t>表面完整性（Surface Integrity）：粗糙度 + 残余应力 + 显微组织 + 微裂纹 —— 应作为零部件制造的核心质量指标，而非仅看尺寸公差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5440680"/>
            <a:ext cx="11185855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250" b="0" i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研究方向：原位摩擦学观测（同步辐射、原位 SEM）；表面完整性—服役性能的跨尺度模型；自润滑/自修复表面；面向极端环境（真空、低温、辐照）的摩擦学。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5720"/>
          </a:xfrm>
          <a:prstGeom prst="rect">
            <a:avLst/>
          </a:prstGeom>
          <a:solidFill>
            <a:srgbClr val="009E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950976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3.5 多物理场耦合设计与误差补偿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21792"/>
            <a:ext cx="969264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0" i="0">
                <a:solidFill>
                  <a:srgbClr val="DDF4F8"/>
                </a:solidFill>
                <a:latin typeface="Microsoft YaHei"/>
                <a:ea typeface="Microsoft YaHei"/>
                <a:cs typeface="Microsoft YaHei"/>
              </a:rPr>
              <a:t>从“经验设计 + 试错”走向“建模驱动 + 优化”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82735" y="201168"/>
            <a:ext cx="265176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1200" b="0" i="0">
                <a:solidFill>
                  <a:srgbClr val="8D99AE"/>
                </a:solidFill>
                <a:latin typeface="Microsoft YaHei"/>
                <a:ea typeface="Microsoft YaHei"/>
                <a:cs typeface="Microsoft YaHei"/>
              </a:rPr>
              <a:t>第三部分 · 共性技术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6419088"/>
            <a:ext cx="11185855" cy="0"/>
          </a:xfrm>
          <a:prstGeom prst="line">
            <a:avLst/>
          </a:prstGeom>
          <a:ln w="9525">
            <a:solidFill>
              <a:srgbClr val="D9DE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2920" y="6446520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000" b="0" i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先进制造装备关键零部件研发及前沿技术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17175" y="6446520"/>
            <a:ext cx="13716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1000" b="0" i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34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234440"/>
            <a:ext cx="5760720" cy="502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700" b="0" i="0">
                <a:solidFill>
                  <a:srgbClr val="009EB8"/>
                </a:solidFill>
                <a:latin typeface="Microsoft YaHei"/>
                <a:ea typeface="Microsoft YaHei"/>
                <a:cs typeface="Microsoft YaHei"/>
              </a:rPr>
              <a:t>■ </a:t>
            </a:r>
            <a:r>
              <a:rPr sz="1400" b="1" i="0">
                <a:solidFill>
                  <a:srgbClr val="122E55"/>
                </a:solidFill>
                <a:latin typeface="Microsoft YaHei"/>
                <a:ea typeface="Microsoft YaHei"/>
                <a:cs typeface="Microsoft YaHei"/>
              </a:rPr>
              <a:t>多场耦合建模</a:t>
            </a:r>
          </a:p>
          <a:p>
            <a:pPr>
              <a:lnSpc>
                <a:spcPct val="115000"/>
              </a:lnSpc>
              <a:spcAft>
                <a:spcPts val="100"/>
              </a:spcAft>
            </a:pPr>
            <a:r>
              <a:rPr sz="1100" b="0" i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      – </a:t>
            </a:r>
            <a:r>
              <a:rPr sz="1200" b="0" i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热—结构：热源辨识（电机、轴承、切削）、对流边界、热变形</a:t>
            </a:r>
          </a:p>
          <a:p>
            <a:pPr>
              <a:lnSpc>
                <a:spcPct val="115000"/>
              </a:lnSpc>
              <a:spcAft>
                <a:spcPts val="100"/>
              </a:spcAft>
            </a:pPr>
            <a:r>
              <a:rPr sz="1100" b="0" i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      – </a:t>
            </a:r>
            <a:r>
              <a:rPr sz="1200" b="0" i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结构—动力学：结合面刚度/阻尼辨识、模态、颤振稳定性叶瓣图</a:t>
            </a:r>
          </a:p>
          <a:p>
            <a:pPr>
              <a:lnSpc>
                <a:spcPct val="115000"/>
              </a:lnSpc>
              <a:spcAft>
                <a:spcPts val="100"/>
              </a:spcAft>
            </a:pPr>
            <a:r>
              <a:rPr sz="1100" b="0" i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      – </a:t>
            </a:r>
            <a:r>
              <a:rPr sz="1200" b="0" i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电磁—热—结构（电主轴、直线电机）</a:t>
            </a:r>
          </a:p>
          <a:p>
            <a:pPr>
              <a:lnSpc>
                <a:spcPct val="115000"/>
              </a:lnSpc>
              <a:spcAft>
                <a:spcPts val="100"/>
              </a:spcAft>
            </a:pPr>
            <a:r>
              <a:rPr sz="1100" b="0" i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      – </a:t>
            </a:r>
            <a:r>
              <a:rPr sz="1200" b="0" i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流—固—热（气浮/液压元件）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700" b="0" i="0">
                <a:solidFill>
                  <a:srgbClr val="009EB8"/>
                </a:solidFill>
                <a:latin typeface="Microsoft YaHei"/>
                <a:ea typeface="Microsoft YaHei"/>
                <a:cs typeface="Microsoft YaHei"/>
              </a:rPr>
              <a:t>■ </a:t>
            </a:r>
            <a:r>
              <a:rPr sz="1400" b="1" i="0">
                <a:solidFill>
                  <a:srgbClr val="122E55"/>
                </a:solidFill>
                <a:latin typeface="Microsoft YaHei"/>
                <a:ea typeface="Microsoft YaHei"/>
                <a:cs typeface="Microsoft YaHei"/>
              </a:rPr>
              <a:t>结构优化</a:t>
            </a:r>
          </a:p>
          <a:p>
            <a:pPr>
              <a:lnSpc>
                <a:spcPct val="115000"/>
              </a:lnSpc>
              <a:spcAft>
                <a:spcPts val="100"/>
              </a:spcAft>
            </a:pPr>
            <a:r>
              <a:rPr sz="1100" b="0" i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      – </a:t>
            </a:r>
            <a:r>
              <a:rPr sz="1200" b="0" i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拓扑/尺寸/形状优化：轻量化 + 高刚度 + 热对称</a:t>
            </a:r>
          </a:p>
          <a:p>
            <a:pPr>
              <a:lnSpc>
                <a:spcPct val="115000"/>
              </a:lnSpc>
              <a:spcAft>
                <a:spcPts val="100"/>
              </a:spcAft>
            </a:pPr>
            <a:r>
              <a:rPr sz="1100" b="0" i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      – </a:t>
            </a:r>
            <a:r>
              <a:rPr sz="1200" b="0" i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点阵/仿生结构（结合增材制造）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700" b="0" i="0">
                <a:solidFill>
                  <a:srgbClr val="009EB8"/>
                </a:solidFill>
                <a:latin typeface="Microsoft YaHei"/>
                <a:ea typeface="Microsoft YaHei"/>
                <a:cs typeface="Microsoft YaHei"/>
              </a:rPr>
              <a:t>■ </a:t>
            </a:r>
            <a:r>
              <a:rPr sz="1400" b="1" i="0">
                <a:solidFill>
                  <a:srgbClr val="122E55"/>
                </a:solidFill>
                <a:latin typeface="Microsoft YaHei"/>
                <a:ea typeface="Microsoft YaHei"/>
                <a:cs typeface="Microsoft YaHei"/>
              </a:rPr>
              <a:t>误差建模与补偿</a:t>
            </a:r>
          </a:p>
          <a:p>
            <a:pPr>
              <a:lnSpc>
                <a:spcPct val="115000"/>
              </a:lnSpc>
              <a:spcAft>
                <a:spcPts val="100"/>
              </a:spcAft>
            </a:pPr>
            <a:r>
              <a:rPr sz="1100" b="0" i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      – </a:t>
            </a:r>
            <a:r>
              <a:rPr sz="1200" b="0" i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几何误差：多体系统理论/齐次坐标变换，21 项误差（三轴）</a:t>
            </a:r>
          </a:p>
          <a:p>
            <a:pPr>
              <a:lnSpc>
                <a:spcPct val="115000"/>
              </a:lnSpc>
              <a:spcAft>
                <a:spcPts val="100"/>
              </a:spcAft>
            </a:pPr>
            <a:r>
              <a:rPr sz="1100" b="0" i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      – </a:t>
            </a:r>
            <a:r>
              <a:rPr sz="1200" b="0" i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热误差：温度传感 + 回归/神经网络/物理模型，补偿可降低热误差 50–80%</a:t>
            </a:r>
          </a:p>
          <a:p>
            <a:pPr>
              <a:lnSpc>
                <a:spcPct val="115000"/>
              </a:lnSpc>
              <a:spcAft>
                <a:spcPts val="100"/>
              </a:spcAft>
            </a:pPr>
            <a:r>
              <a:rPr sz="1100" b="0" i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      – </a:t>
            </a:r>
            <a:r>
              <a:rPr sz="1200" b="0" i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动态误差：前馈、迭代学习、交叉耦合控制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92240" y="1234440"/>
            <a:ext cx="5212080" cy="50292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29400" y="1325880"/>
            <a:ext cx="49377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400" b="1" i="0">
                <a:solidFill>
                  <a:srgbClr val="122E55"/>
                </a:solidFill>
                <a:latin typeface="Microsoft YaHei"/>
                <a:ea typeface="Microsoft YaHei"/>
                <a:cs typeface="Microsoft YaHei"/>
              </a:rPr>
              <a:t>热误差补偿技术路线（示意）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675120" y="1783080"/>
            <a:ext cx="4846320" cy="566928"/>
          </a:xfrm>
          <a:prstGeom prst="rect">
            <a:avLst/>
          </a:prstGeom>
          <a:solidFill>
            <a:srgbClr val="009E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36576" bIns="36576"/>
          <a:lstStyle/>
          <a:p>
            <a:pPr algn="l"/>
            <a:r>
              <a:rPr sz="12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1. 温度/位移传感布点优化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675120" y="2532888"/>
            <a:ext cx="4846320" cy="566928"/>
          </a:xfrm>
          <a:prstGeom prst="rect">
            <a:avLst/>
          </a:prstGeom>
          <a:solidFill>
            <a:srgbClr val="122E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36576" bIns="36576"/>
          <a:lstStyle/>
          <a:p>
            <a:pPr algn="l"/>
            <a:r>
              <a:rPr sz="12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2. 热特性试验与数据采集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675120" y="3282696"/>
            <a:ext cx="4846320" cy="566928"/>
          </a:xfrm>
          <a:prstGeom prst="rect">
            <a:avLst/>
          </a:prstGeom>
          <a:solidFill>
            <a:srgbClr val="009E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36576" bIns="36576"/>
          <a:lstStyle/>
          <a:p>
            <a:pPr algn="l"/>
            <a:r>
              <a:rPr sz="12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3. 建模（回归 / 热模态 / 机器学习）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675120" y="4032504"/>
            <a:ext cx="4846320" cy="566928"/>
          </a:xfrm>
          <a:prstGeom prst="rect">
            <a:avLst/>
          </a:prstGeom>
          <a:solidFill>
            <a:srgbClr val="122E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36576" bIns="36576"/>
          <a:lstStyle/>
          <a:p>
            <a:pPr algn="l"/>
            <a:r>
              <a:rPr sz="12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4. 数控系统实时补偿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675120" y="4782312"/>
            <a:ext cx="4846320" cy="566928"/>
          </a:xfrm>
          <a:prstGeom prst="rect">
            <a:avLst/>
          </a:prstGeom>
          <a:solidFill>
            <a:srgbClr val="009E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36576" bIns="36576"/>
          <a:lstStyle/>
          <a:p>
            <a:pPr algn="l"/>
            <a:r>
              <a:rPr sz="12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5. 鲁棒性验证（工况、季节）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29400" y="5577840"/>
            <a:ext cx="4937760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150" b="0" i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科学问题：热误差模型的泛化性与鲁棒性（工况变化下失效）；结合面特性辨识；“物理 + 数据”混合建模。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5720"/>
          </a:xfrm>
          <a:prstGeom prst="rect">
            <a:avLst/>
          </a:prstGeom>
          <a:solidFill>
            <a:srgbClr val="009E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950976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3.6 可靠性工程：从“能用”到“耐用”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21792"/>
            <a:ext cx="969264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0" i="0">
                <a:solidFill>
                  <a:srgbClr val="DDF4F8"/>
                </a:solidFill>
                <a:latin typeface="Microsoft YaHei"/>
                <a:ea typeface="Microsoft YaHei"/>
                <a:cs typeface="Microsoft YaHei"/>
              </a:rPr>
              <a:t>高端装备的本质竞争力：MTBF 与精度保持性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82735" y="201168"/>
            <a:ext cx="265176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1200" b="0" i="0">
                <a:solidFill>
                  <a:srgbClr val="8D99AE"/>
                </a:solidFill>
                <a:latin typeface="Microsoft YaHei"/>
                <a:ea typeface="Microsoft YaHei"/>
                <a:cs typeface="Microsoft YaHei"/>
              </a:rPr>
              <a:t>第三部分 · 共性技术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6419088"/>
            <a:ext cx="11185855" cy="0"/>
          </a:xfrm>
          <a:prstGeom prst="line">
            <a:avLst/>
          </a:prstGeom>
          <a:ln w="9525">
            <a:solidFill>
              <a:srgbClr val="D9DE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2920" y="6446520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000" b="0" i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先进制造装备关键零部件研发及前沿技术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17175" y="6446520"/>
            <a:ext cx="13716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1000" b="0" i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35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234440"/>
            <a:ext cx="2659303" cy="1325880"/>
          </a:xfrm>
          <a:prstGeom prst="rect">
            <a:avLst/>
          </a:prstGeom>
          <a:solidFill>
            <a:srgbClr val="DD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1234440"/>
            <a:ext cx="73152" cy="1325880"/>
          </a:xfrm>
          <a:prstGeom prst="rect">
            <a:avLst/>
          </a:prstGeom>
          <a:solidFill>
            <a:srgbClr val="009E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1289304"/>
            <a:ext cx="2476423" cy="6400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2400" b="1" i="0">
                <a:solidFill>
                  <a:srgbClr val="122E55"/>
                </a:solidFill>
                <a:latin typeface="Microsoft YaHei"/>
                <a:ea typeface="Microsoft YaHei"/>
                <a:cs typeface="Microsoft YaHei"/>
              </a:rPr>
              <a:t>MTBF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1920240"/>
            <a:ext cx="2476423" cy="5943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平均无故障时间：国产数控机床由 ~1000 h 提升至 &gt; 2000 h（04 专项），国际先进 &gt; 3000 h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45103" y="1234440"/>
            <a:ext cx="2659303" cy="1325880"/>
          </a:xfrm>
          <a:prstGeom prst="rect">
            <a:avLst/>
          </a:prstGeom>
          <a:solidFill>
            <a:srgbClr val="DD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345103" y="1234440"/>
            <a:ext cx="73152" cy="1325880"/>
          </a:xfrm>
          <a:prstGeom prst="rect">
            <a:avLst/>
          </a:prstGeom>
          <a:solidFill>
            <a:srgbClr val="009E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82263" y="1289304"/>
            <a:ext cx="2476423" cy="6400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2400" b="1" i="0">
                <a:solidFill>
                  <a:srgbClr val="122E55"/>
                </a:solidFill>
                <a:latin typeface="Microsoft YaHei"/>
                <a:ea typeface="Microsoft YaHei"/>
                <a:cs typeface="Microsoft YaHei"/>
              </a:rPr>
              <a:t>L10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82263" y="1920240"/>
            <a:ext cx="2476423" cy="5943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轴承 90% 可靠度额定寿命；高端主轴轴承要求数万小时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87287" y="1234440"/>
            <a:ext cx="2659303" cy="1325880"/>
          </a:xfrm>
          <a:prstGeom prst="rect">
            <a:avLst/>
          </a:prstGeom>
          <a:solidFill>
            <a:srgbClr val="DD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87287" y="1234440"/>
            <a:ext cx="73152" cy="1325880"/>
          </a:xfrm>
          <a:prstGeom prst="rect">
            <a:avLst/>
          </a:prstGeom>
          <a:solidFill>
            <a:srgbClr val="009E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24447" y="1289304"/>
            <a:ext cx="2476423" cy="6400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2400" b="1" i="0">
                <a:solidFill>
                  <a:srgbClr val="122E55"/>
                </a:solidFill>
                <a:latin typeface="Microsoft YaHei"/>
                <a:ea typeface="Microsoft YaHei"/>
                <a:cs typeface="Microsoft YaHei"/>
              </a:rPr>
              <a:t>Weibull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24447" y="1920240"/>
            <a:ext cx="2476423" cy="5943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寿命分布主流模型；形状参数 β 区分早期/随机/耗损失效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029471" y="1234440"/>
            <a:ext cx="2659303" cy="1325880"/>
          </a:xfrm>
          <a:prstGeom prst="rect">
            <a:avLst/>
          </a:prstGeom>
          <a:solidFill>
            <a:srgbClr val="DD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029471" y="1234440"/>
            <a:ext cx="73152" cy="1325880"/>
          </a:xfrm>
          <a:prstGeom prst="rect">
            <a:avLst/>
          </a:prstGeom>
          <a:solidFill>
            <a:srgbClr val="009E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66631" y="1289304"/>
            <a:ext cx="2476423" cy="6400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2400" b="1" i="0">
                <a:solidFill>
                  <a:srgbClr val="122E55"/>
                </a:solidFill>
                <a:latin typeface="Microsoft YaHei"/>
                <a:ea typeface="Microsoft YaHei"/>
                <a:cs typeface="Microsoft YaHei"/>
              </a:rPr>
              <a:t>PoF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66631" y="1920240"/>
            <a:ext cx="2476423" cy="5943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失效物理：基于机理的寿命预测，替代纯统计方法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" y="2743200"/>
            <a:ext cx="3606698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02920" y="2743200"/>
            <a:ext cx="3606698" cy="457200"/>
          </a:xfrm>
          <a:prstGeom prst="rect">
            <a:avLst/>
          </a:prstGeom>
          <a:solidFill>
            <a:srgbClr val="009E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可靠性设计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76072" y="3273552"/>
            <a:ext cx="3460394" cy="208483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可靠性分配与预计、FMEA/FTA</a:t>
            </a:r>
          </a:p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降额设计、冗余、容错</a:t>
            </a:r>
          </a:p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热设计、EMC 设计、防护设计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292498" y="2743200"/>
            <a:ext cx="3606698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292498" y="2743200"/>
            <a:ext cx="3606698" cy="457200"/>
          </a:xfrm>
          <a:prstGeom prst="rect">
            <a:avLst/>
          </a:prstGeom>
          <a:solidFill>
            <a:srgbClr val="122E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可靠性试验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65650" y="3273552"/>
            <a:ext cx="3460394" cy="208483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加速寿命试验（ALT）、加速退化试验（ADT）</a:t>
            </a:r>
          </a:p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强化试验（HALT）、环境应力筛选（ESS）</a:t>
            </a:r>
          </a:p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专用台架：轴承、减速器、丝杠、电主轴寿命台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082076" y="2743200"/>
            <a:ext cx="3606698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082076" y="2743200"/>
            <a:ext cx="3606698" cy="457200"/>
          </a:xfrm>
          <a:prstGeom prst="rect">
            <a:avLst/>
          </a:prstGeom>
          <a:solidFill>
            <a:srgbClr val="F2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可靠性评估与增长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55228" y="3273552"/>
            <a:ext cx="3460394" cy="208483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现场数据采集与故障统计、Weibull/贝叶斯评估</a:t>
            </a:r>
          </a:p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可靠性增长（Duane 模型）、FRACAS 闭环</a:t>
            </a:r>
          </a:p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精度保持性评价方法与标准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02920" y="5486400"/>
            <a:ext cx="11185855" cy="594360"/>
          </a:xfrm>
          <a:prstGeom prst="rect">
            <a:avLst/>
          </a:prstGeom>
          <a:solidFill>
            <a:srgbClr val="FDF1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02920" y="5486400"/>
            <a:ext cx="73152" cy="594360"/>
          </a:xfrm>
          <a:prstGeom prst="rect">
            <a:avLst/>
          </a:prstGeom>
          <a:solidFill>
            <a:srgbClr val="F2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67512" y="5486400"/>
            <a:ext cx="10957255" cy="5943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250" b="1" i="0">
                <a:solidFill>
                  <a:srgbClr val="122E55"/>
                </a:solidFill>
                <a:latin typeface="Microsoft YaHei"/>
                <a:ea typeface="Microsoft YaHei"/>
                <a:cs typeface="Microsoft YaHei"/>
              </a:rPr>
              <a:t>学术机会：多失效模式竞争下的寿命预测；小样本/无失效数据的可靠性评估；精度退化（而非功能失效）的建模与加速试验方法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5720"/>
          </a:xfrm>
          <a:prstGeom prst="rect">
            <a:avLst/>
          </a:prstGeom>
          <a:solidFill>
            <a:srgbClr val="009E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950976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3.7 精密测试与性能评价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21792"/>
            <a:ext cx="969264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0" i="0">
                <a:solidFill>
                  <a:srgbClr val="DDF4F8"/>
                </a:solidFill>
                <a:latin typeface="Microsoft YaHei"/>
                <a:ea typeface="Microsoft YaHei"/>
                <a:cs typeface="Microsoft YaHei"/>
              </a:rPr>
              <a:t>标准化、可比较的测试是零部件研发的“度量衡”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82735" y="201168"/>
            <a:ext cx="265176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1200" b="0" i="0">
                <a:solidFill>
                  <a:srgbClr val="8D99AE"/>
                </a:solidFill>
                <a:latin typeface="Microsoft YaHei"/>
                <a:ea typeface="Microsoft YaHei"/>
                <a:cs typeface="Microsoft YaHei"/>
              </a:rPr>
              <a:t>第三部分 · 共性技术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6419088"/>
            <a:ext cx="11185855" cy="0"/>
          </a:xfrm>
          <a:prstGeom prst="line">
            <a:avLst/>
          </a:prstGeom>
          <a:ln w="9525">
            <a:solidFill>
              <a:srgbClr val="D9DE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2920" y="6446520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000" b="0" i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先进制造装备关键零部件研发及前沿技术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17175" y="6446520"/>
            <a:ext cx="13716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1000" b="0" i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36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02920" y="1234440"/>
          <a:ext cx="11185852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4487"/>
                <a:gridCol w="3112585"/>
                <a:gridCol w="3501658"/>
                <a:gridCol w="3307122"/>
              </a:tblGrid>
              <a:tr h="548640"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对象</a:t>
                      </a:r>
                    </a:p>
                  </a:txBody>
                  <a:tcPr marL="64008" marR="64008" marT="27432" marB="27432" anchor="ctr">
                    <a:solidFill>
                      <a:srgbClr val="0B1F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测试内容</a:t>
                      </a:r>
                    </a:p>
                  </a:txBody>
                  <a:tcPr marL="64008" marR="64008" marT="27432" marB="27432" anchor="ctr">
                    <a:solidFill>
                      <a:srgbClr val="0B1F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仪器/方法</a:t>
                      </a:r>
                    </a:p>
                  </a:txBody>
                  <a:tcPr marL="64008" marR="64008" marT="27432" marB="27432" anchor="ctr">
                    <a:solidFill>
                      <a:srgbClr val="0B1F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相关标准</a:t>
                      </a:r>
                    </a:p>
                  </a:txBody>
                  <a:tcPr marL="64008" marR="64008" marT="27432" marB="27432" anchor="ctr">
                    <a:solidFill>
                      <a:srgbClr val="0B1F3A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50" b="1" i="0">
                          <a:solidFill>
                            <a:srgbClr val="122E5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轴承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旋转精度、摩擦力矩、振动噪声、温升、寿命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圆度仪、波纹度仪、振动测试机、寿命台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ISO 492、ISO 15242、GB/T 307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50" b="1" i="0">
                          <a:solidFill>
                            <a:srgbClr val="122E5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丝杠/导轨</a:t>
                      </a:r>
                    </a:p>
                  </a:txBody>
                  <a:tcPr marL="64008" marR="64008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行程偏差、预紧力矩、刚度、噪声</a:t>
                      </a:r>
                    </a:p>
                  </a:txBody>
                  <a:tcPr marL="64008" marR="64008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激光干涉仪、扭矩传感器、刚度试验台</a:t>
                      </a:r>
                    </a:p>
                  </a:txBody>
                  <a:tcPr marL="64008" marR="64008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ISO 3408、JIS B1192、GB/T 17587</a:t>
                      </a:r>
                    </a:p>
                  </a:txBody>
                  <a:tcPr marL="64008" marR="64008" marT="27432" marB="27432" anchor="ctr">
                    <a:solidFill>
                      <a:srgbClr val="F2F4F7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50" b="1" i="0">
                          <a:solidFill>
                            <a:srgbClr val="122E5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减速器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传动误差、回差、刚度、效率、寿命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双读数头角度测量、扭矩加载台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GB/T 37718、JB/T 系列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50" b="1" i="0">
                          <a:solidFill>
                            <a:srgbClr val="122E5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电主轴</a:t>
                      </a:r>
                    </a:p>
                  </a:txBody>
                  <a:tcPr marL="64008" marR="64008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回转精度、热漂移、动刚度、动平衡</a:t>
                      </a:r>
                    </a:p>
                  </a:txBody>
                  <a:tcPr marL="64008" marR="64008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电容位移传感器、锤击/激振模态、动平衡机</a:t>
                      </a:r>
                    </a:p>
                  </a:txBody>
                  <a:tcPr marL="64008" marR="64008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ISO 230-3、ISO 21940、GB/T 17421</a:t>
                      </a:r>
                    </a:p>
                  </a:txBody>
                  <a:tcPr marL="64008" marR="64008" marT="27432" marB="27432" anchor="ctr">
                    <a:solidFill>
                      <a:srgbClr val="F2F4F7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50" b="1" i="0">
                          <a:solidFill>
                            <a:srgbClr val="122E5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整机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几何/定位/热/动态精度、圆度轨迹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激光干涉仪、球杆仪、激光跟踪仪、R-test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ISO 230 系列、ISO 10791、ISO 13041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502920" y="4754880"/>
            <a:ext cx="11185855" cy="1828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650" b="0" i="0">
                <a:solidFill>
                  <a:srgbClr val="009EB8"/>
                </a:solidFill>
                <a:latin typeface="Microsoft YaHei"/>
                <a:ea typeface="Microsoft YaHei"/>
                <a:cs typeface="Microsoft YaHei"/>
              </a:rPr>
              <a:t>■ </a:t>
            </a:r>
            <a:r>
              <a:rPr sz="1350" b="1" i="0">
                <a:solidFill>
                  <a:srgbClr val="122E55"/>
                </a:solidFill>
                <a:latin typeface="Microsoft YaHei"/>
                <a:ea typeface="Microsoft YaHei"/>
                <a:cs typeface="Microsoft YaHei"/>
              </a:rPr>
              <a:t>趋势</a:t>
            </a:r>
            <a:r>
              <a:rPr sz="135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：从静态到动态、从离线到在线/在机、从单项指标到工况下的综合性能；测试数据标准化与共享</a:t>
            </a:r>
          </a:p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650" b="0" i="0">
                <a:solidFill>
                  <a:srgbClr val="009EB8"/>
                </a:solidFill>
                <a:latin typeface="Microsoft YaHei"/>
                <a:ea typeface="Microsoft YaHei"/>
                <a:cs typeface="Microsoft YaHei"/>
              </a:rPr>
              <a:t>■ </a:t>
            </a:r>
            <a:r>
              <a:rPr sz="1350" b="1" i="0">
                <a:solidFill>
                  <a:srgbClr val="122E55"/>
                </a:solidFill>
                <a:latin typeface="Microsoft YaHei"/>
                <a:ea typeface="Microsoft YaHei"/>
                <a:cs typeface="Microsoft YaHei"/>
              </a:rPr>
              <a:t>学术机会</a:t>
            </a:r>
            <a:r>
              <a:rPr sz="135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：新型测试原理（多自由度误差同步测量）、精度退化的快速评估方法、参与国际标准制定（ISO/TC 39、TC 4、TC 213）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5720"/>
          </a:xfrm>
          <a:prstGeom prst="rect">
            <a:avLst/>
          </a:prstGeom>
          <a:solidFill>
            <a:srgbClr val="009E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950976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3.8 数字化研发：仿真驱动、模型为中心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21792"/>
            <a:ext cx="969264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0" i="0">
                <a:solidFill>
                  <a:srgbClr val="DDF4F8"/>
                </a:solidFill>
                <a:latin typeface="Microsoft YaHei"/>
                <a:ea typeface="Microsoft YaHei"/>
                <a:cs typeface="Microsoft YaHei"/>
              </a:rPr>
              <a:t>MBSE、CAE、数字孪生与知识工程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82735" y="201168"/>
            <a:ext cx="265176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1200" b="0" i="0">
                <a:solidFill>
                  <a:srgbClr val="8D99AE"/>
                </a:solidFill>
                <a:latin typeface="Microsoft YaHei"/>
                <a:ea typeface="Microsoft YaHei"/>
                <a:cs typeface="Microsoft YaHei"/>
              </a:rPr>
              <a:t>第三部分 · 共性技术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6419088"/>
            <a:ext cx="11185855" cy="0"/>
          </a:xfrm>
          <a:prstGeom prst="line">
            <a:avLst/>
          </a:prstGeom>
          <a:ln w="9525">
            <a:solidFill>
              <a:srgbClr val="D9DE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2920" y="6446520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000" b="0" i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先进制造装备关键零部件研发及前沿技术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17175" y="6446520"/>
            <a:ext cx="13716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1000" b="0" i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37</a:t>
            </a:r>
          </a:p>
        </p:txBody>
      </p:sp>
      <p:sp>
        <p:nvSpPr>
          <p:cNvPr id="10" name="Pentagon 9"/>
          <p:cNvSpPr/>
          <p:nvPr/>
        </p:nvSpPr>
        <p:spPr>
          <a:xfrm>
            <a:off x="502920" y="1234440"/>
            <a:ext cx="2310323" cy="777240"/>
          </a:xfrm>
          <a:prstGeom prst="homePlate">
            <a:avLst/>
          </a:prstGeom>
          <a:solidFill>
            <a:srgbClr val="122E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36576" bIns="36576"/>
          <a:lstStyle/>
          <a:p>
            <a:pPr algn="ctr"/>
            <a:r>
              <a:rPr sz="12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需求建模 MBSE</a:t>
            </a:r>
          </a:p>
        </p:txBody>
      </p:sp>
      <p:sp>
        <p:nvSpPr>
          <p:cNvPr id="11" name="Chevron 10"/>
          <p:cNvSpPr/>
          <p:nvPr/>
        </p:nvSpPr>
        <p:spPr>
          <a:xfrm>
            <a:off x="2740091" y="1234440"/>
            <a:ext cx="2310323" cy="777240"/>
          </a:xfrm>
          <a:prstGeom prst="chevron">
            <a:avLst/>
          </a:prstGeom>
          <a:solidFill>
            <a:srgbClr val="009E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36576" bIns="36576"/>
          <a:lstStyle/>
          <a:p>
            <a:pPr algn="ctr"/>
            <a:r>
              <a:rPr sz="12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多学科仿真 CAE</a:t>
            </a:r>
          </a:p>
        </p:txBody>
      </p:sp>
      <p:sp>
        <p:nvSpPr>
          <p:cNvPr id="12" name="Chevron 11"/>
          <p:cNvSpPr/>
          <p:nvPr/>
        </p:nvSpPr>
        <p:spPr>
          <a:xfrm>
            <a:off x="4977262" y="1234440"/>
            <a:ext cx="2310323" cy="777240"/>
          </a:xfrm>
          <a:prstGeom prst="chevron">
            <a:avLst/>
          </a:prstGeom>
          <a:solidFill>
            <a:srgbClr val="122E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36576" bIns="36576"/>
          <a:lstStyle/>
          <a:p>
            <a:pPr algn="ctr"/>
            <a:r>
              <a:rPr sz="12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代理模型与优化</a:t>
            </a:r>
          </a:p>
        </p:txBody>
      </p:sp>
      <p:sp>
        <p:nvSpPr>
          <p:cNvPr id="13" name="Chevron 12"/>
          <p:cNvSpPr/>
          <p:nvPr/>
        </p:nvSpPr>
        <p:spPr>
          <a:xfrm>
            <a:off x="7214433" y="1234440"/>
            <a:ext cx="2310323" cy="777240"/>
          </a:xfrm>
          <a:prstGeom prst="chevron">
            <a:avLst/>
          </a:prstGeom>
          <a:solidFill>
            <a:srgbClr val="009E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36576" bIns="36576"/>
          <a:lstStyle/>
          <a:p>
            <a:pPr algn="ctr"/>
            <a:r>
              <a:rPr sz="12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虚拟试验 V&amp;V</a:t>
            </a:r>
          </a:p>
        </p:txBody>
      </p:sp>
      <p:sp>
        <p:nvSpPr>
          <p:cNvPr id="14" name="Chevron 13"/>
          <p:cNvSpPr/>
          <p:nvPr/>
        </p:nvSpPr>
        <p:spPr>
          <a:xfrm>
            <a:off x="9451604" y="1234440"/>
            <a:ext cx="2310323" cy="777240"/>
          </a:xfrm>
          <a:prstGeom prst="chevron">
            <a:avLst/>
          </a:prstGeom>
          <a:solidFill>
            <a:srgbClr val="122E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36576" bIns="36576"/>
          <a:lstStyle/>
          <a:p>
            <a:pPr algn="ctr"/>
            <a:r>
              <a:rPr sz="12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数字孪生反馈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2240280"/>
            <a:ext cx="3606698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2920" y="2240280"/>
            <a:ext cx="3606698" cy="457200"/>
          </a:xfrm>
          <a:prstGeom prst="rect">
            <a:avLst/>
          </a:prstGeom>
          <a:solidFill>
            <a:srgbClr val="009E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工具链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6072" y="2770632"/>
            <a:ext cx="3460394" cy="245059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CAD/CAE/CAM 一体化；多物理场求解器（ANSYS、COMSOL、Abaqus）与国产 CAE 自主化</a:t>
            </a:r>
          </a:p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专用工具：轴承（BEAST、ROMAX）、齿轮（KISSsoft、MASTA）</a:t>
            </a:r>
          </a:p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仿真可信度评估（V&amp;V）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92498" y="2240280"/>
            <a:ext cx="3606698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292498" y="2240280"/>
            <a:ext cx="3606698" cy="457200"/>
          </a:xfrm>
          <a:prstGeom prst="rect">
            <a:avLst/>
          </a:prstGeom>
          <a:solidFill>
            <a:srgbClr val="122E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知识工程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65650" y="2770632"/>
            <a:ext cx="3460394" cy="245059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设计规则库、工艺参数库、失效案例库</a:t>
            </a:r>
          </a:p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设计知识的显性化与复用</a:t>
            </a:r>
          </a:p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大模型辅助的知识检索与设计助手（探索中）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82076" y="2240280"/>
            <a:ext cx="3606698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082076" y="2240280"/>
            <a:ext cx="3606698" cy="457200"/>
          </a:xfrm>
          <a:prstGeom prst="rect">
            <a:avLst/>
          </a:prstGeom>
          <a:solidFill>
            <a:srgbClr val="F2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数字孪生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55228" y="2770632"/>
            <a:ext cx="3460394" cy="245059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零部件级：主轴/丝杠热态与寿命孪生</a:t>
            </a:r>
          </a:p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装备级：几何—热—动态误差的实时镜像</a:t>
            </a:r>
          </a:p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难点：模型降阶、实时性、模型更新（数据同化）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5486400"/>
            <a:ext cx="11185855" cy="594360"/>
          </a:xfrm>
          <a:prstGeom prst="rect">
            <a:avLst/>
          </a:prstGeom>
          <a:solidFill>
            <a:srgbClr val="FDF1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02920" y="5486400"/>
            <a:ext cx="73152" cy="594360"/>
          </a:xfrm>
          <a:prstGeom prst="rect">
            <a:avLst/>
          </a:prstGeom>
          <a:solidFill>
            <a:srgbClr val="F2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7512" y="5486400"/>
            <a:ext cx="10957255" cy="5943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250" b="1" i="0">
                <a:solidFill>
                  <a:srgbClr val="122E55"/>
                </a:solidFill>
                <a:latin typeface="Microsoft YaHei"/>
                <a:ea typeface="Microsoft YaHei"/>
                <a:cs typeface="Microsoft YaHei"/>
              </a:rPr>
              <a:t>核心观点：数字化研发的瓶颈不是软件而是“模型 + 数据 + 知识”；国产 CAE 与专用零部件设计软件的自主化本身就是重要研究方向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122E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103120"/>
            <a:ext cx="3200400" cy="18288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1000" b="1" i="0">
                <a:solidFill>
                  <a:srgbClr val="009EB8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3931920"/>
            <a:ext cx="320040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800" b="0" i="0">
                <a:solidFill>
                  <a:srgbClr val="8D99AE"/>
                </a:solidFill>
                <a:latin typeface="Microsoft YaHei"/>
                <a:ea typeface="Microsoft YaHei"/>
                <a:cs typeface="Microsoft YaHei"/>
              </a:rPr>
              <a:t>第四部分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46320" y="2194560"/>
            <a:ext cx="6949440" cy="15544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前沿技术与颠覆性方向</a:t>
            </a:r>
          </a:p>
        </p:txBody>
      </p:sp>
      <p:sp>
        <p:nvSpPr>
          <p:cNvPr id="7" name="Rectangle 6"/>
          <p:cNvSpPr/>
          <p:nvPr/>
        </p:nvSpPr>
        <p:spPr>
          <a:xfrm>
            <a:off x="4846320" y="3840480"/>
            <a:ext cx="1097280" cy="54864"/>
          </a:xfrm>
          <a:prstGeom prst="rect">
            <a:avLst/>
          </a:prstGeom>
          <a:solidFill>
            <a:srgbClr val="F2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846320" y="4023360"/>
            <a:ext cx="640080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800" b="0" i="0">
                <a:solidFill>
                  <a:srgbClr val="DDF4F8"/>
                </a:solidFill>
                <a:latin typeface="Microsoft YaHei"/>
                <a:ea typeface="Microsoft YaHei"/>
                <a:cs typeface="Microsoft YaHei"/>
              </a:rPr>
              <a:t>约 25 分钟</a:t>
            </a:r>
          </a:p>
        </p:txBody>
      </p:sp>
      <p:sp>
        <p:nvSpPr>
          <p:cNvPr id="9" name="Rectangle 8"/>
          <p:cNvSpPr/>
          <p:nvPr/>
        </p:nvSpPr>
        <p:spPr>
          <a:xfrm>
            <a:off x="4846320" y="5760720"/>
            <a:ext cx="1234440" cy="91440"/>
          </a:xfrm>
          <a:prstGeom prst="rect">
            <a:avLst/>
          </a:prstGeom>
          <a:solidFill>
            <a:srgbClr val="009E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46320" y="5897880"/>
            <a:ext cx="123444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000" b="0" i="0">
                <a:solidFill>
                  <a:srgbClr val="8D99AE"/>
                </a:solidFill>
                <a:latin typeface="Microsoft YaHei"/>
                <a:ea typeface="Microsoft YaHei"/>
                <a:cs typeface="Microsoft YaHei"/>
              </a:rPr>
              <a:t>绪论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5760720"/>
            <a:ext cx="1234440" cy="91440"/>
          </a:xfrm>
          <a:prstGeom prst="rect">
            <a:avLst/>
          </a:prstGeom>
          <a:solidFill>
            <a:srgbClr val="009E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0" y="5897880"/>
            <a:ext cx="123444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000" b="0" i="0">
                <a:solidFill>
                  <a:srgbClr val="8D99AE"/>
                </a:solidFill>
                <a:latin typeface="Microsoft YaHei"/>
                <a:ea typeface="Microsoft YaHei"/>
                <a:cs typeface="Microsoft YaHei"/>
              </a:rPr>
              <a:t>核心零部件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589520" y="5760720"/>
            <a:ext cx="1234440" cy="91440"/>
          </a:xfrm>
          <a:prstGeom prst="rect">
            <a:avLst/>
          </a:prstGeom>
          <a:solidFill>
            <a:srgbClr val="009E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89520" y="5897880"/>
            <a:ext cx="123444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000" b="0" i="0">
                <a:solidFill>
                  <a:srgbClr val="8D99AE"/>
                </a:solidFill>
                <a:latin typeface="Microsoft YaHei"/>
                <a:ea typeface="Microsoft YaHei"/>
                <a:cs typeface="Microsoft YaHei"/>
              </a:rPr>
              <a:t>共性技术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961120" y="5760720"/>
            <a:ext cx="1234440" cy="91440"/>
          </a:xfrm>
          <a:prstGeom prst="rect">
            <a:avLst/>
          </a:prstGeom>
          <a:solidFill>
            <a:srgbClr val="009E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0" y="5897880"/>
            <a:ext cx="123444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000" b="0" i="0">
                <a:solidFill>
                  <a:srgbClr val="DDF4F8"/>
                </a:solidFill>
                <a:latin typeface="Microsoft YaHei"/>
                <a:ea typeface="Microsoft YaHei"/>
                <a:cs typeface="Microsoft YaHei"/>
              </a:rPr>
              <a:t>前沿技术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332720" y="5760720"/>
            <a:ext cx="1234440" cy="91440"/>
          </a:xfrm>
          <a:prstGeom prst="rect">
            <a:avLst/>
          </a:prstGeom>
          <a:solidFill>
            <a:srgbClr val="8D99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332720" y="5897880"/>
            <a:ext cx="123444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000" b="0" i="0">
                <a:solidFill>
                  <a:srgbClr val="8D99AE"/>
                </a:solidFill>
                <a:latin typeface="Microsoft YaHei"/>
                <a:ea typeface="Microsoft YaHei"/>
                <a:cs typeface="Microsoft YaHei"/>
              </a:rPr>
              <a:t>趋势与建议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5720"/>
          </a:xfrm>
          <a:prstGeom prst="rect">
            <a:avLst/>
          </a:prstGeom>
          <a:solidFill>
            <a:srgbClr val="009E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950976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前沿技术全景：八大方向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21792"/>
            <a:ext cx="969264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0" i="0">
                <a:solidFill>
                  <a:srgbClr val="DDF4F8"/>
                </a:solidFill>
                <a:latin typeface="Microsoft YaHei"/>
                <a:ea typeface="Microsoft YaHei"/>
                <a:cs typeface="Microsoft YaHei"/>
              </a:rPr>
              <a:t>“更智能、更极端、更集成、更绿色”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82735" y="201168"/>
            <a:ext cx="265176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1200" b="0" i="0">
                <a:solidFill>
                  <a:srgbClr val="8D99AE"/>
                </a:solidFill>
                <a:latin typeface="Microsoft YaHei"/>
                <a:ea typeface="Microsoft YaHei"/>
                <a:cs typeface="Microsoft YaHei"/>
              </a:rPr>
              <a:t>第四部分 · 前沿技术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6419088"/>
            <a:ext cx="11185855" cy="0"/>
          </a:xfrm>
          <a:prstGeom prst="line">
            <a:avLst/>
          </a:prstGeom>
          <a:ln w="9525">
            <a:solidFill>
              <a:srgbClr val="D9DE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2920" y="6446520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000" b="0" i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先进制造装备关键零部件研发及前沿技术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17175" y="6446520"/>
            <a:ext cx="13716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1000" b="0" i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39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234440"/>
            <a:ext cx="2743200" cy="1645920"/>
          </a:xfrm>
          <a:prstGeom prst="rect">
            <a:avLst/>
          </a:prstGeom>
          <a:solidFill>
            <a:srgbClr val="009E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① 智能零部件</a:t>
            </a:r>
          </a:p>
          <a:p>
            <a:pPr algn="ctr"/>
            <a:r>
              <a:rPr sz="14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ctr"/>
            <a:r>
              <a:rPr sz="14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自感知 · 自诊断 · 自适应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19272" y="1234440"/>
            <a:ext cx="2743200" cy="1645920"/>
          </a:xfrm>
          <a:prstGeom prst="rect">
            <a:avLst/>
          </a:prstGeom>
          <a:solidFill>
            <a:srgbClr val="122E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② 增材制造使能</a:t>
            </a:r>
          </a:p>
          <a:p>
            <a:pPr algn="ctr"/>
            <a:r>
              <a:rPr sz="14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ctr"/>
            <a:r>
              <a:rPr sz="14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拓扑优化 · 点阵 · 一体化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35624" y="1234440"/>
            <a:ext cx="2743200" cy="1645920"/>
          </a:xfrm>
          <a:prstGeom prst="rect">
            <a:avLst/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③ 非接触与磁悬浮</a:t>
            </a:r>
          </a:p>
          <a:p>
            <a:pPr algn="ctr"/>
            <a:r>
              <a:rPr sz="14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ctr"/>
            <a:r>
              <a:rPr sz="14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无磨损 · 超高速 · 主动控制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951976" y="1234440"/>
            <a:ext cx="2743200" cy="1645920"/>
          </a:xfrm>
          <a:prstGeom prst="rect">
            <a:avLst/>
          </a:prstGeom>
          <a:solidFill>
            <a:srgbClr val="F2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1" i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④ 先进材料</a:t>
            </a:r>
          </a:p>
          <a:p>
            <a:pPr algn="ctr"/>
            <a:r>
              <a:rPr sz="1400" b="1" i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ctr"/>
            <a:r>
              <a:rPr sz="1400" b="1" i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高熵合金 · 陶瓷基复合 · 功能材料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3063240"/>
            <a:ext cx="2743200" cy="1645920"/>
          </a:xfrm>
          <a:prstGeom prst="rect">
            <a:avLst/>
          </a:prstGeom>
          <a:solidFill>
            <a:srgbClr val="009E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⑤ AI 驱动研发</a:t>
            </a:r>
          </a:p>
          <a:p>
            <a:pPr algn="ctr"/>
            <a:r>
              <a:rPr sz="14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ctr"/>
            <a:r>
              <a:rPr sz="14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生成式设计 · 代理模型 · PINN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319272" y="3063240"/>
            <a:ext cx="2743200" cy="1645920"/>
          </a:xfrm>
          <a:prstGeom prst="rect">
            <a:avLst/>
          </a:prstGeom>
          <a:solidFill>
            <a:srgbClr val="122E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⑥ PHM 与数字孪生</a:t>
            </a:r>
          </a:p>
          <a:p>
            <a:pPr algn="ctr"/>
            <a:r>
              <a:rPr sz="14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ctr"/>
            <a:r>
              <a:rPr sz="14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预测性维护 · 模型—数据融合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35624" y="3063240"/>
            <a:ext cx="2743200" cy="1645920"/>
          </a:xfrm>
          <a:prstGeom prst="rect">
            <a:avLst/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⑦ 微纳与新型驱动</a:t>
            </a:r>
          </a:p>
          <a:p>
            <a:pPr algn="ctr"/>
            <a:r>
              <a:rPr sz="14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ctr"/>
            <a:r>
              <a:rPr sz="14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压电 · 柔性机构 · MEMS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951976" y="3063240"/>
            <a:ext cx="2743200" cy="1645920"/>
          </a:xfrm>
          <a:prstGeom prst="rect">
            <a:avLst/>
          </a:prstGeom>
          <a:solidFill>
            <a:srgbClr val="F2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1" i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⑧ 极端制造部件</a:t>
            </a:r>
          </a:p>
          <a:p>
            <a:pPr algn="ctr"/>
            <a:r>
              <a:rPr sz="1400" b="1" i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ctr"/>
            <a:r>
              <a:rPr sz="1400" b="1" i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纳米定位 · 真空 · EUV 光学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5120640"/>
            <a:ext cx="11185855" cy="548640"/>
          </a:xfrm>
          <a:prstGeom prst="rect">
            <a:avLst/>
          </a:prstGeom>
          <a:solidFill>
            <a:srgbClr val="FDF1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2920" y="5120640"/>
            <a:ext cx="73152" cy="548640"/>
          </a:xfrm>
          <a:prstGeom prst="rect">
            <a:avLst/>
          </a:prstGeom>
          <a:solidFill>
            <a:srgbClr val="F2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7512" y="5120640"/>
            <a:ext cx="10957255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350" b="1" i="0">
                <a:solidFill>
                  <a:srgbClr val="122E55"/>
                </a:solidFill>
                <a:latin typeface="Microsoft YaHei"/>
                <a:ea typeface="Microsoft YaHei"/>
                <a:cs typeface="Microsoft YaHei"/>
              </a:rPr>
              <a:t>贯穿主线：传感 + 计算 + 材料 的融合，使零部件从“被动的机械要素”转变为“主动的信息物理单元”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5760720"/>
            <a:ext cx="11185855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250" b="0" i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另有两个横向主题：高速高精运动控制前沿、绿色低碳与可持续制造，将在本部分末尾讨论。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5720"/>
          </a:xfrm>
          <a:prstGeom prst="rect">
            <a:avLst/>
          </a:prstGeom>
          <a:solidFill>
            <a:srgbClr val="009E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950976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4.1 智能零部件：自感知、自诊断、自适应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21792"/>
            <a:ext cx="969264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0" i="0">
                <a:solidFill>
                  <a:srgbClr val="DDF4F8"/>
                </a:solidFill>
                <a:latin typeface="Microsoft YaHei"/>
                <a:ea typeface="Microsoft YaHei"/>
                <a:cs typeface="Microsoft YaHei"/>
              </a:rPr>
              <a:t>把传感器、计算与执行嵌入零部件本体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82735" y="201168"/>
            <a:ext cx="265176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1200" b="0" i="0">
                <a:solidFill>
                  <a:srgbClr val="8D99AE"/>
                </a:solidFill>
                <a:latin typeface="Microsoft YaHei"/>
                <a:ea typeface="Microsoft YaHei"/>
                <a:cs typeface="Microsoft YaHei"/>
              </a:rPr>
              <a:t>第四部分 · 前沿技术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6419088"/>
            <a:ext cx="11185855" cy="0"/>
          </a:xfrm>
          <a:prstGeom prst="line">
            <a:avLst/>
          </a:prstGeom>
          <a:ln w="9525">
            <a:solidFill>
              <a:srgbClr val="D9DE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2920" y="6446520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000" b="0" i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先进制造装备关键零部件研发及前沿技术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17175" y="6446520"/>
            <a:ext cx="13716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1000" b="0" i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40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234440"/>
            <a:ext cx="5501487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1234440"/>
            <a:ext cx="5501487" cy="457200"/>
          </a:xfrm>
          <a:prstGeom prst="rect">
            <a:avLst/>
          </a:prstGeom>
          <a:solidFill>
            <a:srgbClr val="009E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智能轴承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6072" y="1764792"/>
            <a:ext cx="5355183" cy="130759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嵌入式温度/振动/载荷/转速传感（薄膜、光纤、压电）</a:t>
            </a:r>
          </a:p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自供能（能量收集）与无线传输</a:t>
            </a:r>
          </a:p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预紧主动调控（压电作动器）</a:t>
            </a:r>
          </a:p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进展：SKF Insight、Schaeffler 传感轴承、国内多所高校样机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87287" y="1234440"/>
            <a:ext cx="5501487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87287" y="1234440"/>
            <a:ext cx="5501487" cy="457200"/>
          </a:xfrm>
          <a:prstGeom prst="rect">
            <a:avLst/>
          </a:prstGeom>
          <a:solidFill>
            <a:srgbClr val="122E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智能主轴 / 刀柄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60439" y="1764792"/>
            <a:ext cx="5355183" cy="130759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内置位移、振动、温度、功率传感</a:t>
            </a:r>
          </a:p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颤振在线识别与主动抑制（主动阻尼器、变转速）</a:t>
            </a:r>
          </a:p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刀具磨损/破损监测</a:t>
            </a:r>
          </a:p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进展：智能刀柄（无线应变/振动），商业化初期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3291840"/>
            <a:ext cx="5501487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2920" y="3291840"/>
            <a:ext cx="5501487" cy="457200"/>
          </a:xfrm>
          <a:prstGeom prst="rect">
            <a:avLst/>
          </a:prstGeom>
          <a:solidFill>
            <a:srgbClr val="F2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智能丝杠 / 导轨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6072" y="3822192"/>
            <a:ext cx="5355183" cy="130759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预压、润滑状态、温度场在线感知</a:t>
            </a:r>
          </a:p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热伸长实时估计与补偿</a:t>
            </a:r>
          </a:p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剩余寿命预测</a:t>
            </a:r>
          </a:p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进展：集成温度传感的丝杠、润滑监测模块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87287" y="3291840"/>
            <a:ext cx="5501487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87287" y="3291840"/>
            <a:ext cx="5501487" cy="457200"/>
          </a:xfrm>
          <a:prstGeom prst="rect">
            <a:avLst/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智能减速器 / 关节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60439" y="3822192"/>
            <a:ext cx="5355183" cy="130759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内置扭矩传感、温度、振动</a:t>
            </a:r>
          </a:p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回差与刚度在线辨识</a:t>
            </a:r>
          </a:p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面向协作机器人的碰撞检测与柔顺控制</a:t>
            </a:r>
          </a:p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进展：一体化关节模组标配双编码器 + 扭矩传感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5349240"/>
            <a:ext cx="11185855" cy="548640"/>
          </a:xfrm>
          <a:prstGeom prst="rect">
            <a:avLst/>
          </a:prstGeom>
          <a:solidFill>
            <a:srgbClr val="FDF1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02920" y="5349240"/>
            <a:ext cx="73152" cy="548640"/>
          </a:xfrm>
          <a:prstGeom prst="rect">
            <a:avLst/>
          </a:prstGeom>
          <a:solidFill>
            <a:srgbClr val="F2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7512" y="5349240"/>
            <a:ext cx="10957255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250" b="1" i="0">
                <a:solidFill>
                  <a:srgbClr val="122E55"/>
                </a:solidFill>
                <a:latin typeface="Microsoft YaHei"/>
                <a:ea typeface="Microsoft YaHei"/>
                <a:cs typeface="Microsoft YaHei"/>
              </a:rPr>
              <a:t>科学问题：微型传感器在高速/高温/强电磁环境下的可靠嵌入；弱信号提取与特征解耦；传感—结构一体化对零部件本体性能的影响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5720"/>
          </a:xfrm>
          <a:prstGeom prst="rect">
            <a:avLst/>
          </a:prstGeom>
          <a:solidFill>
            <a:srgbClr val="009E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950976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4.2 增材制造使能的零部件创新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21792"/>
            <a:ext cx="969264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0" i="0">
                <a:solidFill>
                  <a:srgbClr val="DDF4F8"/>
                </a:solidFill>
                <a:latin typeface="Microsoft YaHei"/>
                <a:ea typeface="Microsoft YaHei"/>
                <a:cs typeface="Microsoft YaHei"/>
              </a:rPr>
              <a:t>设计自由度的释放：从“可制造性约束设计”到“性能驱动设计”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82735" y="201168"/>
            <a:ext cx="265176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1200" b="0" i="0">
                <a:solidFill>
                  <a:srgbClr val="8D99AE"/>
                </a:solidFill>
                <a:latin typeface="Microsoft YaHei"/>
                <a:ea typeface="Microsoft YaHei"/>
                <a:cs typeface="Microsoft YaHei"/>
              </a:rPr>
              <a:t>第四部分 · 前沿技术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6419088"/>
            <a:ext cx="11185855" cy="0"/>
          </a:xfrm>
          <a:prstGeom prst="line">
            <a:avLst/>
          </a:prstGeom>
          <a:ln w="9525">
            <a:solidFill>
              <a:srgbClr val="D9DE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2920" y="6446520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000" b="0" i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先进制造装备关键零部件研发及前沿技术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17175" y="6446520"/>
            <a:ext cx="13716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1000" b="0" i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41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234440"/>
            <a:ext cx="5852160" cy="502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700" b="0" i="0">
                <a:solidFill>
                  <a:srgbClr val="009EB8"/>
                </a:solidFill>
                <a:latin typeface="Microsoft YaHei"/>
                <a:ea typeface="Microsoft YaHei"/>
                <a:cs typeface="Microsoft YaHei"/>
              </a:rPr>
              <a:t>■ </a:t>
            </a:r>
            <a:r>
              <a:rPr sz="1400" b="1" i="0">
                <a:solidFill>
                  <a:srgbClr val="122E55"/>
                </a:solidFill>
                <a:latin typeface="Microsoft YaHei"/>
                <a:ea typeface="Microsoft YaHei"/>
                <a:cs typeface="Microsoft YaHei"/>
              </a:rPr>
              <a:t>设计范式改变</a:t>
            </a:r>
          </a:p>
          <a:p>
            <a:pPr>
              <a:lnSpc>
                <a:spcPct val="115000"/>
              </a:lnSpc>
              <a:spcAft>
                <a:spcPts val="100"/>
              </a:spcAft>
            </a:pPr>
            <a:r>
              <a:rPr sz="1100" b="0" i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      – </a:t>
            </a:r>
            <a:r>
              <a:rPr sz="1200" b="0" i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拓扑优化 + 点阵/TPMS 结构：刚度—质量比提升 30–50%</a:t>
            </a:r>
          </a:p>
          <a:p>
            <a:pPr>
              <a:lnSpc>
                <a:spcPct val="115000"/>
              </a:lnSpc>
              <a:spcAft>
                <a:spcPts val="100"/>
              </a:spcAft>
            </a:pPr>
            <a:r>
              <a:rPr sz="1100" b="0" i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      – </a:t>
            </a:r>
            <a:r>
              <a:rPr sz="1200" b="0" i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随形冷却/润滑流道：主轴壳体、液压阀块、电机壳体热管理</a:t>
            </a:r>
          </a:p>
          <a:p>
            <a:pPr>
              <a:lnSpc>
                <a:spcPct val="115000"/>
              </a:lnSpc>
              <a:spcAft>
                <a:spcPts val="100"/>
              </a:spcAft>
            </a:pPr>
            <a:r>
              <a:rPr sz="1100" b="0" i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      – </a:t>
            </a:r>
            <a:r>
              <a:rPr sz="1200" b="0" i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多零件一体化：减少装配接口与误差链（如液压阀块 70% 减重）</a:t>
            </a:r>
          </a:p>
          <a:p>
            <a:pPr>
              <a:lnSpc>
                <a:spcPct val="115000"/>
              </a:lnSpc>
              <a:spcAft>
                <a:spcPts val="100"/>
              </a:spcAft>
            </a:pPr>
            <a:r>
              <a:rPr sz="1100" b="0" i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      – </a:t>
            </a:r>
            <a:r>
              <a:rPr sz="1200" b="0" i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多材料/梯度材料：耐磨表面 + 高韧心部，热膨胀匹配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700" b="0" i="0">
                <a:solidFill>
                  <a:srgbClr val="009EB8"/>
                </a:solidFill>
                <a:latin typeface="Microsoft YaHei"/>
                <a:ea typeface="Microsoft YaHei"/>
                <a:cs typeface="Microsoft YaHei"/>
              </a:rPr>
              <a:t>■ </a:t>
            </a:r>
            <a:r>
              <a:rPr sz="1400" b="1" i="0">
                <a:solidFill>
                  <a:srgbClr val="122E55"/>
                </a:solidFill>
                <a:latin typeface="Microsoft YaHei"/>
                <a:ea typeface="Microsoft YaHei"/>
                <a:cs typeface="Microsoft YaHei"/>
              </a:rPr>
              <a:t>典型应用探索</a:t>
            </a:r>
          </a:p>
          <a:p>
            <a:pPr>
              <a:lnSpc>
                <a:spcPct val="115000"/>
              </a:lnSpc>
              <a:spcAft>
                <a:spcPts val="100"/>
              </a:spcAft>
            </a:pPr>
            <a:r>
              <a:rPr sz="1100" b="0" i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      – </a:t>
            </a:r>
            <a:r>
              <a:rPr sz="1200" b="0" i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轻量化机器人臂、机床运动部件（龙门横梁、滑枕）</a:t>
            </a:r>
          </a:p>
          <a:p>
            <a:pPr>
              <a:lnSpc>
                <a:spcPct val="115000"/>
              </a:lnSpc>
              <a:spcAft>
                <a:spcPts val="100"/>
              </a:spcAft>
            </a:pPr>
            <a:r>
              <a:rPr sz="1100" b="0" i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      – </a:t>
            </a:r>
            <a:r>
              <a:rPr sz="1200" b="0" i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增材刀体与随形冷却刀具；拓扑优化刀柄</a:t>
            </a:r>
          </a:p>
          <a:p>
            <a:pPr>
              <a:lnSpc>
                <a:spcPct val="115000"/>
              </a:lnSpc>
              <a:spcAft>
                <a:spcPts val="100"/>
              </a:spcAft>
            </a:pPr>
            <a:r>
              <a:rPr sz="1100" b="0" i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      – </a:t>
            </a:r>
            <a:r>
              <a:rPr sz="1200" b="0" i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增材制造气浮节流器（多孔结构）与微流道</a:t>
            </a:r>
          </a:p>
          <a:p>
            <a:pPr>
              <a:lnSpc>
                <a:spcPct val="115000"/>
              </a:lnSpc>
              <a:spcAft>
                <a:spcPts val="100"/>
              </a:spcAft>
            </a:pPr>
            <a:r>
              <a:rPr sz="1100" b="0" i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      – </a:t>
            </a:r>
            <a:r>
              <a:rPr sz="1200" b="0" i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航空发动机轴承座、整体叶盘等极端部件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700" b="0" i="0">
                <a:solidFill>
                  <a:srgbClr val="009EB8"/>
                </a:solidFill>
                <a:latin typeface="Microsoft YaHei"/>
                <a:ea typeface="Microsoft YaHei"/>
                <a:cs typeface="Microsoft YaHei"/>
              </a:rPr>
              <a:t>■ </a:t>
            </a:r>
            <a:r>
              <a:rPr sz="1400" b="1" i="0">
                <a:solidFill>
                  <a:srgbClr val="122E55"/>
                </a:solidFill>
                <a:latin typeface="Microsoft YaHei"/>
                <a:ea typeface="Microsoft YaHei"/>
                <a:cs typeface="Microsoft YaHei"/>
              </a:rPr>
              <a:t>局限与挑战</a:t>
            </a:r>
          </a:p>
          <a:p>
            <a:pPr>
              <a:lnSpc>
                <a:spcPct val="115000"/>
              </a:lnSpc>
              <a:spcAft>
                <a:spcPts val="100"/>
              </a:spcAft>
            </a:pPr>
            <a:r>
              <a:rPr sz="1100" b="0" i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      – </a:t>
            </a:r>
            <a:r>
              <a:rPr sz="1200" b="0" i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尺寸精度 ±0.1 mm、表面 Ra 5–15 μm，需后续精加工；疲劳性能离散；内部缺陷；成本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0" y="1234440"/>
            <a:ext cx="5120640" cy="50292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20840" y="1325880"/>
            <a:ext cx="48463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400" b="1" i="0">
                <a:solidFill>
                  <a:srgbClr val="122E55"/>
                </a:solidFill>
                <a:latin typeface="Microsoft YaHei"/>
                <a:ea typeface="Microsoft YaHei"/>
                <a:cs typeface="Microsoft YaHei"/>
              </a:rPr>
              <a:t>“增材 + 减材 + 智能”复合制造路线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766560" y="1783080"/>
            <a:ext cx="4754880" cy="566928"/>
          </a:xfrm>
          <a:prstGeom prst="rect">
            <a:avLst/>
          </a:prstGeom>
          <a:solidFill>
            <a:srgbClr val="009E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36576" bIns="36576"/>
          <a:lstStyle/>
          <a:p>
            <a:pPr algn="l"/>
            <a:r>
              <a:rPr sz="12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性能需求 → 拓扑/点阵生成式设计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766560" y="2514600"/>
            <a:ext cx="4754880" cy="566928"/>
          </a:xfrm>
          <a:prstGeom prst="rect">
            <a:avLst/>
          </a:prstGeom>
          <a:solidFill>
            <a:srgbClr val="122E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36576" bIns="36576"/>
          <a:lstStyle/>
          <a:p>
            <a:pPr algn="l"/>
            <a:r>
              <a:rPr sz="12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增材成形（SLM/EBM/DED）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766560" y="3246120"/>
            <a:ext cx="4754880" cy="566928"/>
          </a:xfrm>
          <a:prstGeom prst="rect">
            <a:avLst/>
          </a:prstGeom>
          <a:solidFill>
            <a:srgbClr val="009E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36576" bIns="36576"/>
          <a:lstStyle/>
          <a:p>
            <a:pPr algn="l"/>
            <a:r>
              <a:rPr sz="12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热处理 / HIP 消除缺陷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766560" y="3977640"/>
            <a:ext cx="4754880" cy="566928"/>
          </a:xfrm>
          <a:prstGeom prst="rect">
            <a:avLst/>
          </a:prstGeom>
          <a:solidFill>
            <a:srgbClr val="122E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36576" bIns="36576"/>
          <a:lstStyle/>
          <a:p>
            <a:pPr algn="l"/>
            <a:r>
              <a:rPr sz="12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精密减材加工关键配合面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766560" y="4709160"/>
            <a:ext cx="4754880" cy="566928"/>
          </a:xfrm>
          <a:prstGeom prst="rect">
            <a:avLst/>
          </a:prstGeom>
          <a:solidFill>
            <a:srgbClr val="009E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36576" bIns="36576"/>
          <a:lstStyle/>
          <a:p>
            <a:pPr algn="l"/>
            <a:r>
              <a:rPr sz="12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无损检测（CT）与性能验证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20840" y="5532120"/>
            <a:ext cx="484632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150" b="0" i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科学问题：增材零部件的工艺—组织—缺陷—疲劳关系；面向增材的零部件设计理论（DfAM）；点阵结构的阻尼与动力学特性。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5720"/>
          </a:xfrm>
          <a:prstGeom prst="rect">
            <a:avLst/>
          </a:prstGeom>
          <a:solidFill>
            <a:srgbClr val="009E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950976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4.3 非接触支承与磁悬浮技术前沿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21792"/>
            <a:ext cx="969264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0" i="0">
                <a:solidFill>
                  <a:srgbClr val="DDF4F8"/>
                </a:solidFill>
                <a:latin typeface="Microsoft YaHei"/>
                <a:ea typeface="Microsoft YaHei"/>
                <a:cs typeface="Microsoft YaHei"/>
              </a:rPr>
              <a:t>“零磨损”带来的超高速、超洁净与主动可控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82735" y="201168"/>
            <a:ext cx="265176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1200" b="0" i="0">
                <a:solidFill>
                  <a:srgbClr val="8D99AE"/>
                </a:solidFill>
                <a:latin typeface="Microsoft YaHei"/>
                <a:ea typeface="Microsoft YaHei"/>
                <a:cs typeface="Microsoft YaHei"/>
              </a:rPr>
              <a:t>第四部分 · 前沿技术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6419088"/>
            <a:ext cx="11185855" cy="0"/>
          </a:xfrm>
          <a:prstGeom prst="line">
            <a:avLst/>
          </a:prstGeom>
          <a:ln w="9525">
            <a:solidFill>
              <a:srgbClr val="D9DE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2920" y="6446520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000" b="0" i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先进制造装备关键零部件研发及前沿技术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17175" y="6446520"/>
            <a:ext cx="13716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1000" b="0" i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42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234440"/>
            <a:ext cx="2659303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1234440"/>
            <a:ext cx="2659303" cy="457200"/>
          </a:xfrm>
          <a:prstGeom prst="rect">
            <a:avLst/>
          </a:prstGeom>
          <a:solidFill>
            <a:srgbClr val="009E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磁悬浮电主轴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6072" y="1764792"/>
            <a:ext cx="2512999" cy="290779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转速 &gt; 60 000–100 000 r/min，无需润滑</a:t>
            </a:r>
          </a:p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主动控制刚度/阻尼，可实现回转误差主动补偿、颤振主动抑制</a:t>
            </a:r>
          </a:p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挑战：功放、控制带宽、断电保护、成本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45103" y="1234440"/>
            <a:ext cx="2659303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345103" y="1234440"/>
            <a:ext cx="2659303" cy="457200"/>
          </a:xfrm>
          <a:prstGeom prst="rect">
            <a:avLst/>
          </a:prstGeom>
          <a:solidFill>
            <a:srgbClr val="122E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磁悬浮平面电机 / 工件台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18255" y="1764792"/>
            <a:ext cx="2512999" cy="290779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六自由度无接触运动，适合真空与超洁净</a:t>
            </a:r>
          </a:p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半导体光刻、晶圆检测的下一代平台</a:t>
            </a:r>
          </a:p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挑战：多自由度解耦控制、纳米级测量、热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87287" y="1234440"/>
            <a:ext cx="2659303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87287" y="1234440"/>
            <a:ext cx="2659303" cy="457200"/>
          </a:xfrm>
          <a:prstGeom prst="rect">
            <a:avLst/>
          </a:prstGeom>
          <a:solidFill>
            <a:srgbClr val="F2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超导磁悬浮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0439" y="1764792"/>
            <a:ext cx="2512999" cy="290779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高温超导体的钉扎效应实现被动稳定悬浮</a:t>
            </a:r>
          </a:p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零功耗、本征稳定</a:t>
            </a:r>
          </a:p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应用探索：超高速飞轮、超精密隔振、磁悬浮轴承</a:t>
            </a:r>
          </a:p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挑战：低温系统、承载与刚度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029471" y="1234440"/>
            <a:ext cx="2659303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029471" y="1234440"/>
            <a:ext cx="2659303" cy="457200"/>
          </a:xfrm>
          <a:prstGeom prst="rect">
            <a:avLst/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气磁混合与新型气浮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02623" y="1764792"/>
            <a:ext cx="2512999" cy="290779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气浮刚度 + 磁力预载/主动调节</a:t>
            </a:r>
          </a:p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多孔质石墨节流、微孔阵列（增材/激光制造）</a:t>
            </a:r>
          </a:p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主动气浮（压电调节节流）实现纳米级误差补偿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4892040"/>
            <a:ext cx="11185855" cy="17373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650" b="0" i="0">
                <a:solidFill>
                  <a:srgbClr val="009EB8"/>
                </a:solidFill>
                <a:latin typeface="Microsoft YaHei"/>
                <a:ea typeface="Microsoft YaHei"/>
                <a:cs typeface="Microsoft YaHei"/>
              </a:rPr>
              <a:t>■ </a:t>
            </a:r>
            <a:r>
              <a:rPr sz="1350" b="1" i="0">
                <a:solidFill>
                  <a:srgbClr val="122E55"/>
                </a:solidFill>
                <a:latin typeface="Microsoft YaHei"/>
                <a:ea typeface="Microsoft YaHei"/>
                <a:cs typeface="Microsoft YaHei"/>
              </a:rPr>
              <a:t>科学问题</a:t>
            </a:r>
            <a:r>
              <a:rPr sz="135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：高速磁悬浮转子的非线性动力学与鲁棒控制；自传感（self-sensing）磁轴承的信号解耦；气膜微尺度流动的稳定性与极限刚度</a:t>
            </a:r>
          </a:p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650" b="0" i="0">
                <a:solidFill>
                  <a:srgbClr val="009EB8"/>
                </a:solidFill>
                <a:latin typeface="Microsoft YaHei"/>
                <a:ea typeface="Microsoft YaHei"/>
                <a:cs typeface="Microsoft YaHei"/>
              </a:rPr>
              <a:t>■ </a:t>
            </a:r>
            <a:r>
              <a:rPr sz="1350" b="1" i="0">
                <a:solidFill>
                  <a:srgbClr val="122E55"/>
                </a:solidFill>
                <a:latin typeface="Microsoft YaHei"/>
                <a:ea typeface="Microsoft YaHei"/>
                <a:cs typeface="Microsoft YaHei"/>
              </a:rPr>
              <a:t>工程趋势</a:t>
            </a:r>
            <a:r>
              <a:rPr sz="135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：非接触支承 + 直驱 + 纳米测量 的“三位一体”成为极端精密装备的标准架构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5720"/>
          </a:xfrm>
          <a:prstGeom prst="rect">
            <a:avLst/>
          </a:prstGeom>
          <a:solidFill>
            <a:srgbClr val="009E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950976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4.4 先进材料：从“选材”到“设计材料”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21792"/>
            <a:ext cx="969264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0" i="0">
                <a:solidFill>
                  <a:srgbClr val="DDF4F8"/>
                </a:solidFill>
                <a:latin typeface="Microsoft YaHei"/>
                <a:ea typeface="Microsoft YaHei"/>
                <a:cs typeface="Microsoft YaHei"/>
              </a:rPr>
              <a:t>新材料体系为零部件性能跃升提供可能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82735" y="201168"/>
            <a:ext cx="265176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1200" b="0" i="0">
                <a:solidFill>
                  <a:srgbClr val="8D99AE"/>
                </a:solidFill>
                <a:latin typeface="Microsoft YaHei"/>
                <a:ea typeface="Microsoft YaHei"/>
                <a:cs typeface="Microsoft YaHei"/>
              </a:rPr>
              <a:t>第四部分 · 前沿技术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6419088"/>
            <a:ext cx="11185855" cy="0"/>
          </a:xfrm>
          <a:prstGeom prst="line">
            <a:avLst/>
          </a:prstGeom>
          <a:ln w="9525">
            <a:solidFill>
              <a:srgbClr val="D9DE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2920" y="6446520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000" b="0" i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先进制造装备关键零部件研发及前沿技术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17175" y="6446520"/>
            <a:ext cx="13716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1000" b="0" i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43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02920" y="1234440"/>
          <a:ext cx="11185853" cy="38039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3791"/>
                <a:gridCol w="3660825"/>
                <a:gridCol w="3660825"/>
                <a:gridCol w="1830412"/>
              </a:tblGrid>
              <a:tr h="475488"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材料类别</a:t>
                      </a:r>
                    </a:p>
                  </a:txBody>
                  <a:tcPr marL="64008" marR="64008" marT="27432" marB="27432" anchor="ctr">
                    <a:solidFill>
                      <a:srgbClr val="0B1F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特点</a:t>
                      </a:r>
                    </a:p>
                  </a:txBody>
                  <a:tcPr marL="64008" marR="64008" marT="27432" marB="27432" anchor="ctr">
                    <a:solidFill>
                      <a:srgbClr val="0B1F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零部件应用前景</a:t>
                      </a:r>
                    </a:p>
                  </a:txBody>
                  <a:tcPr marL="64008" marR="64008" marT="27432" marB="27432" anchor="ctr">
                    <a:solidFill>
                      <a:srgbClr val="0B1F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成熟度</a:t>
                      </a:r>
                    </a:p>
                  </a:txBody>
                  <a:tcPr marL="64008" marR="64008" marT="27432" marB="27432" anchor="ctr">
                    <a:solidFill>
                      <a:srgbClr val="0B1F3A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150" b="1" i="0">
                          <a:solidFill>
                            <a:srgbClr val="122E5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高熵合金（HEA）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多主元固溶、高强韧、耐磨耐蚀、耐高/低温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极端环境轴承、耐磨涂层、紧固件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实验室—小批量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150" b="1" i="0">
                          <a:solidFill>
                            <a:srgbClr val="122E5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陶瓷基复合材料（CMC）</a:t>
                      </a:r>
                    </a:p>
                  </a:txBody>
                  <a:tcPr marL="64008" marR="64008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耐高温（&gt; 1200 ℃）、低密度、抗热震</a:t>
                      </a:r>
                    </a:p>
                  </a:txBody>
                  <a:tcPr marL="64008" marR="64008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航空发动机热端部件、高温轴承座、刀具</a:t>
                      </a:r>
                    </a:p>
                  </a:txBody>
                  <a:tcPr marL="64008" marR="64008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航空领域工程化</a:t>
                      </a:r>
                    </a:p>
                  </a:txBody>
                  <a:tcPr marL="64008" marR="64008" marT="27432" marB="27432" anchor="ctr">
                    <a:solidFill>
                      <a:srgbClr val="F2F4F7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150" b="1" i="0">
                          <a:solidFill>
                            <a:srgbClr val="122E5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金属玻璃（非晶合金）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高强度、高弹性极限、低损耗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精密弹性元件、齿轮（微型）、柔轮探索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小尺寸工程化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150" b="1" i="0">
                          <a:solidFill>
                            <a:srgbClr val="122E5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碳纤维复合材料</a:t>
                      </a:r>
                    </a:p>
                  </a:txBody>
                  <a:tcPr marL="64008" marR="64008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高比刚度、低热膨胀、高阻尼</a:t>
                      </a:r>
                    </a:p>
                  </a:txBody>
                  <a:tcPr marL="64008" marR="64008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机器人臂、机床运动部件、测量结构件</a:t>
                      </a:r>
                    </a:p>
                  </a:txBody>
                  <a:tcPr marL="64008" marR="64008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工程应用中</a:t>
                      </a:r>
                    </a:p>
                  </a:txBody>
                  <a:tcPr marL="64008" marR="64008" marT="27432" marB="27432" anchor="ctr">
                    <a:solidFill>
                      <a:srgbClr val="F2F4F7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150" b="1" i="0">
                          <a:solidFill>
                            <a:srgbClr val="122E5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功能梯度材料（FGM）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成分/组织连续过渡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耐磨表面 + 韧性基体、热应力缓解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增材推动中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150" b="1" i="0">
                          <a:solidFill>
                            <a:srgbClr val="122E5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超硬/超润滑材料</a:t>
                      </a:r>
                    </a:p>
                  </a:txBody>
                  <a:tcPr marL="64008" marR="64008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纳米孪晶金刚石、石墨烯、结构超滑</a:t>
                      </a:r>
                    </a:p>
                  </a:txBody>
                  <a:tcPr marL="64008" marR="64008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超精密刀具、超低摩擦运动副</a:t>
                      </a:r>
                    </a:p>
                  </a:txBody>
                  <a:tcPr marL="64008" marR="64008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基础研究</a:t>
                      </a:r>
                    </a:p>
                  </a:txBody>
                  <a:tcPr marL="64008" marR="64008" marT="27432" marB="27432" anchor="ctr">
                    <a:solidFill>
                      <a:srgbClr val="F2F4F7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150" b="1" i="0">
                          <a:solidFill>
                            <a:srgbClr val="122E5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宽禁带半导体（SiC/GaN）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高频、高温、低损耗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伺服驱动器、磁悬浮功放、电主轴驱动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快速产业化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502920" y="5486400"/>
            <a:ext cx="11185855" cy="594360"/>
          </a:xfrm>
          <a:prstGeom prst="rect">
            <a:avLst/>
          </a:prstGeom>
          <a:solidFill>
            <a:srgbClr val="FDF1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5486400"/>
            <a:ext cx="73152" cy="594360"/>
          </a:xfrm>
          <a:prstGeom prst="rect">
            <a:avLst/>
          </a:prstGeom>
          <a:solidFill>
            <a:srgbClr val="F2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" y="5486400"/>
            <a:ext cx="10957255" cy="5943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300" b="1" i="0">
                <a:solidFill>
                  <a:srgbClr val="122E55"/>
                </a:solidFill>
                <a:latin typeface="Microsoft YaHei"/>
                <a:ea typeface="Microsoft YaHei"/>
                <a:cs typeface="Microsoft YaHei"/>
              </a:rPr>
              <a:t>材料基因组（MGI）与 ICME：以计算 + 高通量实验 + 数据加速材料研发，是零部件材料“设计”的方法论基础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5720"/>
          </a:xfrm>
          <a:prstGeom prst="rect">
            <a:avLst/>
          </a:prstGeom>
          <a:solidFill>
            <a:srgbClr val="009E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950976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4.5 AI 驱动的零部件设计与制造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21792"/>
            <a:ext cx="969264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0" i="0">
                <a:solidFill>
                  <a:srgbClr val="DDF4F8"/>
                </a:solidFill>
                <a:latin typeface="Microsoft YaHei"/>
                <a:ea typeface="Microsoft YaHei"/>
                <a:cs typeface="Microsoft YaHei"/>
              </a:rPr>
              <a:t>从“仿真驱动”到“数据 + 物理 + 智能”驱动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82735" y="201168"/>
            <a:ext cx="265176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1200" b="0" i="0">
                <a:solidFill>
                  <a:srgbClr val="8D99AE"/>
                </a:solidFill>
                <a:latin typeface="Microsoft YaHei"/>
                <a:ea typeface="Microsoft YaHei"/>
                <a:cs typeface="Microsoft YaHei"/>
              </a:rPr>
              <a:t>第四部分 · 前沿技术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6419088"/>
            <a:ext cx="11185855" cy="0"/>
          </a:xfrm>
          <a:prstGeom prst="line">
            <a:avLst/>
          </a:prstGeom>
          <a:ln w="9525">
            <a:solidFill>
              <a:srgbClr val="D9DE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2920" y="6446520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000" b="0" i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先进制造装备关键零部件研发及前沿技术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17175" y="6446520"/>
            <a:ext cx="13716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1000" b="0" i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44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234440"/>
            <a:ext cx="2659303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1234440"/>
            <a:ext cx="2659303" cy="457200"/>
          </a:xfrm>
          <a:prstGeom prst="rect">
            <a:avLst/>
          </a:prstGeom>
          <a:solidFill>
            <a:srgbClr val="009E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生成式设计与代理模型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6072" y="1764792"/>
            <a:ext cx="2512999" cy="290779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拓扑/形状生成（扩散模型、GAN）</a:t>
            </a:r>
          </a:p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高保真仿真的代理模型（神经网络、高斯过程）加速多目标优化 10–100×</a:t>
            </a:r>
          </a:p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案例：轴承保持架、齿形、结构件的 AI 辅助设计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45103" y="1234440"/>
            <a:ext cx="2659303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345103" y="1234440"/>
            <a:ext cx="2659303" cy="457200"/>
          </a:xfrm>
          <a:prstGeom prst="rect">
            <a:avLst/>
          </a:prstGeom>
          <a:solidFill>
            <a:srgbClr val="122E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物理信息神经网络（PINN）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18255" y="1764792"/>
            <a:ext cx="2512999" cy="290779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将 PDE 约束嵌入网络，小样本下仍物理一致</a:t>
            </a:r>
          </a:p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应用：热场重构与热误差预测、EHL 油膜求解、疲劳寿命</a:t>
            </a:r>
          </a:p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挑战：训练难度、多尺度问题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87287" y="1234440"/>
            <a:ext cx="2659303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87287" y="1234440"/>
            <a:ext cx="2659303" cy="457200"/>
          </a:xfrm>
          <a:prstGeom prst="rect">
            <a:avLst/>
          </a:prstGeom>
          <a:solidFill>
            <a:srgbClr val="F2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工艺智能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0439" y="1764792"/>
            <a:ext cx="2512999" cy="290779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磨削/热处理/装配参数优化（贝叶斯优化、强化学习）</a:t>
            </a:r>
          </a:p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过程监控：声发射、振动、视觉的在线质量判别</a:t>
            </a:r>
          </a:p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挑战：数据获取成本、跨机台迁移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029471" y="1234440"/>
            <a:ext cx="2659303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029471" y="1234440"/>
            <a:ext cx="2659303" cy="457200"/>
          </a:xfrm>
          <a:prstGeom prst="rect">
            <a:avLst/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知识与大模型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02623" y="1764792"/>
            <a:ext cx="2512999" cy="290779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设计标准、失效案例、工艺知识的检索增强（RAG）</a:t>
            </a:r>
          </a:p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多模态（图纸、仿真、报告）理解</a:t>
            </a:r>
          </a:p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挑战：幻觉、专业可靠性、知识产权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4892040"/>
            <a:ext cx="11185855" cy="17373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650" b="0" i="0">
                <a:solidFill>
                  <a:srgbClr val="009EB8"/>
                </a:solidFill>
                <a:latin typeface="Microsoft YaHei"/>
                <a:ea typeface="Microsoft YaHei"/>
                <a:cs typeface="Microsoft YaHei"/>
              </a:rPr>
              <a:t>■ </a:t>
            </a:r>
            <a:r>
              <a:rPr sz="1350" b="1" i="0">
                <a:solidFill>
                  <a:srgbClr val="122E55"/>
                </a:solidFill>
                <a:latin typeface="Microsoft YaHei"/>
                <a:ea typeface="Microsoft YaHei"/>
                <a:cs typeface="Microsoft YaHei"/>
              </a:rPr>
              <a:t>学术难点</a:t>
            </a:r>
            <a:r>
              <a:rPr sz="135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：小样本与数据不平衡；可解释性与物理一致性；跨工况/跨设备泛化（迁移学习、域适应）；仿真—实测数据融合（多保真建模）</a:t>
            </a:r>
          </a:p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650" b="0" i="0">
                <a:solidFill>
                  <a:srgbClr val="009EB8"/>
                </a:solidFill>
                <a:latin typeface="Microsoft YaHei"/>
                <a:ea typeface="Microsoft YaHei"/>
                <a:cs typeface="Microsoft YaHei"/>
              </a:rPr>
              <a:t>■ </a:t>
            </a:r>
            <a:r>
              <a:rPr sz="1350" b="1" i="0">
                <a:solidFill>
                  <a:srgbClr val="122E55"/>
                </a:solidFill>
                <a:latin typeface="Microsoft YaHei"/>
                <a:ea typeface="Microsoft YaHei"/>
                <a:cs typeface="Microsoft YaHei"/>
              </a:rPr>
              <a:t>审慎观点</a:t>
            </a:r>
            <a:r>
              <a:rPr sz="135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：AI 是加速器而非替代品 —— 机理模型与高质量试验数据仍是零部件研发的根基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5720"/>
          </a:xfrm>
          <a:prstGeom prst="rect">
            <a:avLst/>
          </a:prstGeom>
          <a:solidFill>
            <a:srgbClr val="009E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950976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4.6 PHM 与数字孪生：从“定期维护”到“预测性维护”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21792"/>
            <a:ext cx="969264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0" i="0">
                <a:solidFill>
                  <a:srgbClr val="DDF4F8"/>
                </a:solidFill>
                <a:latin typeface="Microsoft YaHei"/>
                <a:ea typeface="Microsoft YaHei"/>
                <a:cs typeface="Microsoft YaHei"/>
              </a:rPr>
              <a:t>零部件健康状态的感知、评估与预测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82735" y="201168"/>
            <a:ext cx="265176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1200" b="0" i="0">
                <a:solidFill>
                  <a:srgbClr val="8D99AE"/>
                </a:solidFill>
                <a:latin typeface="Microsoft YaHei"/>
                <a:ea typeface="Microsoft YaHei"/>
                <a:cs typeface="Microsoft YaHei"/>
              </a:rPr>
              <a:t>第四部分 · 前沿技术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6419088"/>
            <a:ext cx="11185855" cy="0"/>
          </a:xfrm>
          <a:prstGeom prst="line">
            <a:avLst/>
          </a:prstGeom>
          <a:ln w="9525">
            <a:solidFill>
              <a:srgbClr val="D9DE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2920" y="6446520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000" b="0" i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先进制造装备关键零部件研发及前沿技术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17175" y="6446520"/>
            <a:ext cx="13716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1000" b="0" i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45</a:t>
            </a:r>
          </a:p>
        </p:txBody>
      </p:sp>
      <p:sp>
        <p:nvSpPr>
          <p:cNvPr id="10" name="Pentagon 9"/>
          <p:cNvSpPr/>
          <p:nvPr/>
        </p:nvSpPr>
        <p:spPr>
          <a:xfrm>
            <a:off x="502920" y="1234440"/>
            <a:ext cx="2310323" cy="777240"/>
          </a:xfrm>
          <a:prstGeom prst="homePlate">
            <a:avLst/>
          </a:prstGeom>
          <a:solidFill>
            <a:srgbClr val="122E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36576" bIns="36576"/>
          <a:lstStyle/>
          <a:p>
            <a:pPr algn="ctr"/>
            <a:r>
              <a:rPr sz="13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状态感知（传感/边缘）</a:t>
            </a:r>
          </a:p>
        </p:txBody>
      </p:sp>
      <p:sp>
        <p:nvSpPr>
          <p:cNvPr id="11" name="Chevron 10"/>
          <p:cNvSpPr/>
          <p:nvPr/>
        </p:nvSpPr>
        <p:spPr>
          <a:xfrm>
            <a:off x="2740091" y="1234440"/>
            <a:ext cx="2310323" cy="777240"/>
          </a:xfrm>
          <a:prstGeom prst="chevron">
            <a:avLst/>
          </a:prstGeom>
          <a:solidFill>
            <a:srgbClr val="009E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36576" bIns="36576"/>
          <a:lstStyle/>
          <a:p>
            <a:pPr algn="ctr"/>
            <a:r>
              <a:rPr sz="13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特征提取与健康指标</a:t>
            </a:r>
          </a:p>
        </p:txBody>
      </p:sp>
      <p:sp>
        <p:nvSpPr>
          <p:cNvPr id="12" name="Chevron 11"/>
          <p:cNvSpPr/>
          <p:nvPr/>
        </p:nvSpPr>
        <p:spPr>
          <a:xfrm>
            <a:off x="4977262" y="1234440"/>
            <a:ext cx="2310323" cy="777240"/>
          </a:xfrm>
          <a:prstGeom prst="chevron">
            <a:avLst/>
          </a:prstGeom>
          <a:solidFill>
            <a:srgbClr val="122E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36576" bIns="36576"/>
          <a:lstStyle/>
          <a:p>
            <a:pPr algn="ctr"/>
            <a:r>
              <a:rPr sz="13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故障诊断（分类/定位）</a:t>
            </a:r>
          </a:p>
        </p:txBody>
      </p:sp>
      <p:sp>
        <p:nvSpPr>
          <p:cNvPr id="13" name="Chevron 12"/>
          <p:cNvSpPr/>
          <p:nvPr/>
        </p:nvSpPr>
        <p:spPr>
          <a:xfrm>
            <a:off x="7214433" y="1234440"/>
            <a:ext cx="2310323" cy="777240"/>
          </a:xfrm>
          <a:prstGeom prst="chevron">
            <a:avLst/>
          </a:prstGeom>
          <a:solidFill>
            <a:srgbClr val="009E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36576" bIns="36576"/>
          <a:lstStyle/>
          <a:p>
            <a:pPr algn="ctr"/>
            <a:r>
              <a:rPr sz="13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退化建模与 RUL 预测</a:t>
            </a:r>
          </a:p>
        </p:txBody>
      </p:sp>
      <p:sp>
        <p:nvSpPr>
          <p:cNvPr id="14" name="Chevron 13"/>
          <p:cNvSpPr/>
          <p:nvPr/>
        </p:nvSpPr>
        <p:spPr>
          <a:xfrm>
            <a:off x="9451604" y="1234440"/>
            <a:ext cx="2310323" cy="777240"/>
          </a:xfrm>
          <a:prstGeom prst="chevron">
            <a:avLst/>
          </a:prstGeom>
          <a:solidFill>
            <a:srgbClr val="122E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36576" bIns="36576"/>
          <a:lstStyle/>
          <a:p>
            <a:pPr algn="ctr"/>
            <a:r>
              <a:rPr sz="13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维护决策与闭环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2240280"/>
            <a:ext cx="3606698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2920" y="2240280"/>
            <a:ext cx="3606698" cy="457200"/>
          </a:xfrm>
          <a:prstGeom prst="rect">
            <a:avLst/>
          </a:prstGeom>
          <a:solidFill>
            <a:srgbClr val="009E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数据驱动方法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6072" y="2770632"/>
            <a:ext cx="3460394" cy="245059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深度学习（CNN、LSTM、Transformer）用于振动/电流信号诊断</a:t>
            </a:r>
          </a:p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无监督/自监督学习应对缺少故障样本</a:t>
            </a:r>
          </a:p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挑战：标注、泛化、可解释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92498" y="2240280"/>
            <a:ext cx="3606698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292498" y="2240280"/>
            <a:ext cx="3606698" cy="457200"/>
          </a:xfrm>
          <a:prstGeom prst="rect">
            <a:avLst/>
          </a:prstGeom>
          <a:solidFill>
            <a:srgbClr val="122E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模型驱动与混合方法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65650" y="2770632"/>
            <a:ext cx="3460394" cy="245059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失效物理模型（Paris 裂纹扩展、Archard 磨损）+ 粒子滤波/贝叶斯更新</a:t>
            </a:r>
          </a:p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“物理 + 数据”混合（灰箱）模型</a:t>
            </a:r>
          </a:p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优势：外推能力、小样本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82076" y="2240280"/>
            <a:ext cx="3606698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082076" y="2240280"/>
            <a:ext cx="3606698" cy="457200"/>
          </a:xfrm>
          <a:prstGeom prst="rect">
            <a:avLst/>
          </a:prstGeom>
          <a:solidFill>
            <a:srgbClr val="F2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数字孪生架构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55228" y="2770632"/>
            <a:ext cx="3460394" cy="245059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物理实体 ↔ 虚拟模型 ↔ 数据 ↔ 服务</a:t>
            </a:r>
          </a:p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降阶模型（ROM）实现实时性</a:t>
            </a:r>
          </a:p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模型更新（数据同化）保证长期一致性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5486400"/>
            <a:ext cx="11185855" cy="594360"/>
          </a:xfrm>
          <a:prstGeom prst="rect">
            <a:avLst/>
          </a:prstGeom>
          <a:solidFill>
            <a:srgbClr val="FDF1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02920" y="5486400"/>
            <a:ext cx="73152" cy="594360"/>
          </a:xfrm>
          <a:prstGeom prst="rect">
            <a:avLst/>
          </a:prstGeom>
          <a:solidFill>
            <a:srgbClr val="F2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7512" y="5486400"/>
            <a:ext cx="10957255" cy="5943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250" b="1" i="0">
                <a:solidFill>
                  <a:srgbClr val="122E55"/>
                </a:solidFill>
                <a:latin typeface="Microsoft YaHei"/>
                <a:ea typeface="Microsoft YaHei"/>
                <a:cs typeface="Microsoft YaHei"/>
              </a:rPr>
              <a:t>科学问题：精度退化（而非功能失效）的健康指标构建；多部件耦合退化建模；少样本/零样本故障诊断；孪生模型的可信度评估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5720"/>
          </a:xfrm>
          <a:prstGeom prst="rect">
            <a:avLst/>
          </a:prstGeom>
          <a:solidFill>
            <a:srgbClr val="009E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950976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4.7 微纳制造与新型驱动：超越电磁与滚动的新原理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21792"/>
            <a:ext cx="969264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0" i="0">
                <a:solidFill>
                  <a:srgbClr val="DDF4F8"/>
                </a:solidFill>
                <a:latin typeface="Microsoft YaHei"/>
                <a:ea typeface="Microsoft YaHei"/>
                <a:cs typeface="Microsoft YaHei"/>
              </a:rPr>
              <a:t>压电、柔性机构、MEMS 与智能材料驱动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82735" y="201168"/>
            <a:ext cx="265176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1200" b="0" i="0">
                <a:solidFill>
                  <a:srgbClr val="8D99AE"/>
                </a:solidFill>
                <a:latin typeface="Microsoft YaHei"/>
                <a:ea typeface="Microsoft YaHei"/>
                <a:cs typeface="Microsoft YaHei"/>
              </a:rPr>
              <a:t>第四部分 · 前沿技术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6419088"/>
            <a:ext cx="11185855" cy="0"/>
          </a:xfrm>
          <a:prstGeom prst="line">
            <a:avLst/>
          </a:prstGeom>
          <a:ln w="9525">
            <a:solidFill>
              <a:srgbClr val="D9DE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2920" y="6446520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000" b="0" i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先进制造装备关键零部件研发及前沿技术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17175" y="6446520"/>
            <a:ext cx="13716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1000" b="0" i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46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02920" y="1234440"/>
          <a:ext cx="11185853" cy="3520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37171"/>
                <a:gridCol w="2847308"/>
                <a:gridCol w="3050687"/>
                <a:gridCol w="3050687"/>
              </a:tblGrid>
              <a:tr h="502920"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驱动原理</a:t>
                      </a:r>
                    </a:p>
                  </a:txBody>
                  <a:tcPr marL="64008" marR="64008" marT="27432" marB="27432" anchor="ctr">
                    <a:solidFill>
                      <a:srgbClr val="0B1F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特点</a:t>
                      </a:r>
                    </a:p>
                  </a:txBody>
                  <a:tcPr marL="64008" marR="64008" marT="27432" marB="27432" anchor="ctr">
                    <a:solidFill>
                      <a:srgbClr val="0B1F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典型性能</a:t>
                      </a:r>
                    </a:p>
                  </a:txBody>
                  <a:tcPr marL="64008" marR="64008" marT="27432" marB="27432" anchor="ctr">
                    <a:solidFill>
                      <a:srgbClr val="0B1F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零部件应用</a:t>
                      </a:r>
                    </a:p>
                  </a:txBody>
                  <a:tcPr marL="64008" marR="64008" marT="27432" marB="27432" anchor="ctr">
                    <a:solidFill>
                      <a:srgbClr val="0B1F3A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150" b="1" i="0">
                          <a:solidFill>
                            <a:srgbClr val="122E5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压电（PZT）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高分辨率、高带宽、大力、小行程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分辨率 sub-nm；行程 μm–百 μm（放大后 mm）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纳米定位台、快刀伺服（FTS）、主动阻尼、微量进给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150" b="1" i="0">
                          <a:solidFill>
                            <a:srgbClr val="122E5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柔性机构（柔性铰链）</a:t>
                      </a:r>
                    </a:p>
                  </a:txBody>
                  <a:tcPr marL="64008" marR="64008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无摩擦、无间隙、免润滑</a:t>
                      </a:r>
                    </a:p>
                  </a:txBody>
                  <a:tcPr marL="64008" marR="64008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重复性 nm 级，寿命长</a:t>
                      </a:r>
                    </a:p>
                  </a:txBody>
                  <a:tcPr marL="64008" marR="64008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精密定位、微夹持、精密对准</a:t>
                      </a:r>
                    </a:p>
                  </a:txBody>
                  <a:tcPr marL="64008" marR="64008" marT="27432" marB="27432" anchor="ctr">
                    <a:solidFill>
                      <a:srgbClr val="F2F4F7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150" b="1" i="0">
                          <a:solidFill>
                            <a:srgbClr val="122E5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音圈电机（VCM）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直驱、高动态、行程 mm 级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加速度 &gt; 10 g、带宽 kHz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高速贴片、光学调焦、主动隔振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150" b="1" i="0">
                          <a:solidFill>
                            <a:srgbClr val="122E5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磁致伸缩（Terfenol-D、Galfenol）</a:t>
                      </a:r>
                    </a:p>
                  </a:txBody>
                  <a:tcPr marL="64008" marR="64008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大应变、大力、低电压</a:t>
                      </a:r>
                    </a:p>
                  </a:txBody>
                  <a:tcPr marL="64008" marR="64008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应变 ~1000 ppm</a:t>
                      </a:r>
                    </a:p>
                  </a:txBody>
                  <a:tcPr marL="64008" marR="64008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精密作动器、振动主动控制</a:t>
                      </a:r>
                    </a:p>
                  </a:txBody>
                  <a:tcPr marL="64008" marR="64008" marT="27432" marB="27432" anchor="ctr">
                    <a:solidFill>
                      <a:srgbClr val="F2F4F7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150" b="1" i="0">
                          <a:solidFill>
                            <a:srgbClr val="122E5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形状记忆合金 / 介电弹性体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大变形、轻质、柔顺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应变 &gt; 5%（SMA）、&gt; 100%（DE）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软体机器人、仿生执行器、可变刚度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150" b="1" i="0">
                          <a:solidFill>
                            <a:srgbClr val="122E5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MEMS 传感与执行</a:t>
                      </a:r>
                    </a:p>
                  </a:txBody>
                  <a:tcPr marL="64008" marR="64008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微型化、批量化、低成本</a:t>
                      </a:r>
                    </a:p>
                  </a:txBody>
                  <a:tcPr marL="64008" marR="64008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加速度计、陀螺、压力、微镜</a:t>
                      </a:r>
                    </a:p>
                  </a:txBody>
                  <a:tcPr marL="64008" marR="64008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机器人惯性测量、智能零部件嵌入式传感</a:t>
                      </a:r>
                    </a:p>
                  </a:txBody>
                  <a:tcPr marL="64008" marR="64008" marT="27432" marB="27432" anchor="ctr"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502920" y="5257800"/>
            <a:ext cx="11185855" cy="502920"/>
          </a:xfrm>
          <a:prstGeom prst="rect">
            <a:avLst/>
          </a:prstGeom>
          <a:solidFill>
            <a:srgbClr val="FDF1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5257800"/>
            <a:ext cx="73152" cy="502920"/>
          </a:xfrm>
          <a:prstGeom prst="rect">
            <a:avLst/>
          </a:prstGeom>
          <a:solidFill>
            <a:srgbClr val="F2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" y="5257800"/>
            <a:ext cx="10957255" cy="5029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250" b="1" i="0">
                <a:solidFill>
                  <a:srgbClr val="122E55"/>
                </a:solidFill>
                <a:latin typeface="Microsoft YaHei"/>
                <a:ea typeface="Microsoft YaHei"/>
                <a:cs typeface="Microsoft YaHei"/>
              </a:rPr>
              <a:t>趋势：宏—微复合驱动（粗精双级）；柔性机构的拓扑优化设计；超精密装备中压电快刀伺服、主动隔振平台已成标配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5806440"/>
            <a:ext cx="11185855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250" b="0" i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科学问题：压电迟滞/蠕变的建模与补偿；柔性机构大变形非线性动力学；智能材料驱动的疲劳与可靠性。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5720"/>
          </a:xfrm>
          <a:prstGeom prst="rect">
            <a:avLst/>
          </a:prstGeom>
          <a:solidFill>
            <a:srgbClr val="009E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950976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4.8 极端制造中的零部件：精度与环境的双重极限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21792"/>
            <a:ext cx="969264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0" i="0">
                <a:solidFill>
                  <a:srgbClr val="DDF4F8"/>
                </a:solidFill>
                <a:latin typeface="Microsoft YaHei"/>
                <a:ea typeface="Microsoft YaHei"/>
                <a:cs typeface="Microsoft YaHei"/>
              </a:rPr>
              <a:t>以光刻机为代表的极端装备，牵引零部件技术的天花板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82735" y="201168"/>
            <a:ext cx="265176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1200" b="0" i="0">
                <a:solidFill>
                  <a:srgbClr val="8D99AE"/>
                </a:solidFill>
                <a:latin typeface="Microsoft YaHei"/>
                <a:ea typeface="Microsoft YaHei"/>
                <a:cs typeface="Microsoft YaHei"/>
              </a:rPr>
              <a:t>第四部分 · 前沿技术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6419088"/>
            <a:ext cx="11185855" cy="0"/>
          </a:xfrm>
          <a:prstGeom prst="line">
            <a:avLst/>
          </a:prstGeom>
          <a:ln w="9525">
            <a:solidFill>
              <a:srgbClr val="D9DE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2920" y="6446520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000" b="0" i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先进制造装备关键零部件研发及前沿技术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17175" y="6446520"/>
            <a:ext cx="13716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1000" b="0" i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47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234440"/>
            <a:ext cx="5501487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1234440"/>
            <a:ext cx="5501487" cy="457200"/>
          </a:xfrm>
          <a:prstGeom prst="rect">
            <a:avLst/>
          </a:prstGeom>
          <a:solidFill>
            <a:srgbClr val="009E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光刻机双工件台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6072" y="1764792"/>
            <a:ext cx="5355183" cy="135331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定位精度亚纳米—纳米级，加速度数 g，同步误差 nm</a:t>
            </a:r>
          </a:p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气浮/磁浮 + 直线/平面电机 + 平面光栅/干涉仪</a:t>
            </a:r>
          </a:p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粗精双级、主动隔振、热控制（mK 级）</a:t>
            </a:r>
          </a:p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涉及：超精密导向、直驱、测量、控制的极限集成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87287" y="1234440"/>
            <a:ext cx="5501487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87287" y="1234440"/>
            <a:ext cx="5501487" cy="457200"/>
          </a:xfrm>
          <a:prstGeom prst="rect">
            <a:avLst/>
          </a:prstGeom>
          <a:solidFill>
            <a:srgbClr val="122E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EUV / DUV 光学部件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60439" y="1764792"/>
            <a:ext cx="5355183" cy="135331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EUV 反射镜面形误差 &lt; 0.1 nm RMS（原子级）</a:t>
            </a:r>
          </a:p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低热膨胀玻璃陶瓷（Zerodur/ULE）、多层膜</a:t>
            </a:r>
          </a:p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超精密抛光（IBF、MRF）与纳米检测</a:t>
            </a:r>
          </a:p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涉及：超精密加工测量的极限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3337560"/>
            <a:ext cx="5501487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2920" y="3337560"/>
            <a:ext cx="5501487" cy="457200"/>
          </a:xfrm>
          <a:prstGeom prst="rect">
            <a:avLst/>
          </a:prstGeom>
          <a:solidFill>
            <a:srgbClr val="F2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真空 / 洁净环境部件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6072" y="3867912"/>
            <a:ext cx="5355183" cy="135331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真空兼容轴承（固体润滑、陶瓷）、磁流体密封</a:t>
            </a:r>
          </a:p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低放气材料、低颗粒运动副</a:t>
            </a:r>
          </a:p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真空直驱电机、非接触传感</a:t>
            </a:r>
          </a:p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涉及：材料、润滑、密封的极限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87287" y="3337560"/>
            <a:ext cx="5501487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87287" y="3337560"/>
            <a:ext cx="5501487" cy="457200"/>
          </a:xfrm>
          <a:prstGeom prst="rect">
            <a:avLst/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低温 / 高温 / 辐照部件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60439" y="3867912"/>
            <a:ext cx="5355183" cy="135331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液氢/液氧泵轴承（航天）、超导低温运动机构</a:t>
            </a:r>
          </a:p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航空发动机 &gt; 300 ℃ 主轴承</a:t>
            </a:r>
          </a:p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核环境机器人（辐照老化）</a:t>
            </a:r>
          </a:p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涉及：材料与润滑在极端温度/辐照下的性能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5440680"/>
            <a:ext cx="11185855" cy="548640"/>
          </a:xfrm>
          <a:prstGeom prst="rect">
            <a:avLst/>
          </a:prstGeom>
          <a:solidFill>
            <a:srgbClr val="FDF1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02920" y="5440680"/>
            <a:ext cx="73152" cy="548640"/>
          </a:xfrm>
          <a:prstGeom prst="rect">
            <a:avLst/>
          </a:prstGeom>
          <a:solidFill>
            <a:srgbClr val="F2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7512" y="5440680"/>
            <a:ext cx="10957255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250" b="1" i="0">
                <a:solidFill>
                  <a:srgbClr val="122E55"/>
                </a:solidFill>
                <a:latin typeface="Microsoft YaHei"/>
                <a:ea typeface="Microsoft YaHei"/>
                <a:cs typeface="Microsoft YaHei"/>
              </a:rPr>
              <a:t>启示：极端制造装备是零部件技术的“珠峰”，攻克过程中形成的材料、工艺、测量与控制能力将反哺整个装备产业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5720"/>
          </a:xfrm>
          <a:prstGeom prst="rect">
            <a:avLst/>
          </a:prstGeom>
          <a:solidFill>
            <a:srgbClr val="009E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950976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4.9 高速高精运动控制前沿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21792"/>
            <a:ext cx="969264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0" i="0">
                <a:solidFill>
                  <a:srgbClr val="DDF4F8"/>
                </a:solidFill>
                <a:latin typeface="Microsoft YaHei"/>
                <a:ea typeface="Microsoft YaHei"/>
                <a:cs typeface="Microsoft YaHei"/>
              </a:rPr>
              <a:t>控制算法是“软零部件”：以算法弥补硬件、释放硬件潜能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82735" y="201168"/>
            <a:ext cx="265176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1200" b="0" i="0">
                <a:solidFill>
                  <a:srgbClr val="8D99AE"/>
                </a:solidFill>
                <a:latin typeface="Microsoft YaHei"/>
                <a:ea typeface="Microsoft YaHei"/>
                <a:cs typeface="Microsoft YaHei"/>
              </a:rPr>
              <a:t>第四部分 · 前沿技术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6419088"/>
            <a:ext cx="11185855" cy="0"/>
          </a:xfrm>
          <a:prstGeom prst="line">
            <a:avLst/>
          </a:prstGeom>
          <a:ln w="9525">
            <a:solidFill>
              <a:srgbClr val="D9DE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2920" y="6446520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000" b="0" i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先进制造装备关键零部件研发及前沿技术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17175" y="6446520"/>
            <a:ext cx="13716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1000" b="0" i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48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234440"/>
            <a:ext cx="2659303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1234440"/>
            <a:ext cx="2659303" cy="457200"/>
          </a:xfrm>
          <a:prstGeom prst="rect">
            <a:avLst/>
          </a:prstGeom>
          <a:solidFill>
            <a:srgbClr val="009E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迭代学习与重复控制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6072" y="1764792"/>
            <a:ext cx="2512999" cy="263347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利用重复轨迹的误差信息逐次修正</a:t>
            </a:r>
          </a:p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光刻工件台、重复加工轨迹</a:t>
            </a:r>
          </a:p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跟踪误差降低一个数量级以上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45103" y="1234440"/>
            <a:ext cx="2659303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345103" y="1234440"/>
            <a:ext cx="2659303" cy="457200"/>
          </a:xfrm>
          <a:prstGeom prst="rect">
            <a:avLst/>
          </a:prstGeom>
          <a:solidFill>
            <a:srgbClr val="122E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模型预测控制（MPC）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18255" y="1764792"/>
            <a:ext cx="2512999" cy="263347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显式处理约束（加速度、电流、热）</a:t>
            </a:r>
          </a:p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多轴协调、磁悬浮轴承控制</a:t>
            </a:r>
          </a:p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挑战：实时计算（μs 级周期）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87287" y="1234440"/>
            <a:ext cx="2659303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87287" y="1234440"/>
            <a:ext cx="2659303" cy="457200"/>
          </a:xfrm>
          <a:prstGeom prst="rect">
            <a:avLst/>
          </a:prstGeom>
          <a:solidFill>
            <a:srgbClr val="F2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主动振动抑制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0439" y="1764792"/>
            <a:ext cx="2512999" cy="263347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输入整形、陷波、主动阻尼</a:t>
            </a:r>
          </a:p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颤振抑制（变主轴转速、主动刀柄）</a:t>
            </a:r>
          </a:p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柔性结构的模态控制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029471" y="1234440"/>
            <a:ext cx="2659303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029471" y="1234440"/>
            <a:ext cx="2659303" cy="457200"/>
          </a:xfrm>
          <a:prstGeom prst="rect">
            <a:avLst/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数据驱动与学习控制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02623" y="1764792"/>
            <a:ext cx="2512999" cy="263347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摩擦/齿槽力等非线性的学习前馈</a:t>
            </a:r>
          </a:p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参数自整定、强化学习调参</a:t>
            </a:r>
          </a:p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挑战：安全性与稳定性保证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4617720"/>
            <a:ext cx="11185855" cy="20116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650" b="0" i="0">
                <a:solidFill>
                  <a:srgbClr val="009EB8"/>
                </a:solidFill>
                <a:latin typeface="Microsoft YaHei"/>
                <a:ea typeface="Microsoft YaHei"/>
                <a:cs typeface="Microsoft YaHei"/>
              </a:rPr>
              <a:t>■ </a:t>
            </a:r>
            <a:r>
              <a:rPr sz="1350" b="1" i="0">
                <a:solidFill>
                  <a:srgbClr val="122E55"/>
                </a:solidFill>
                <a:latin typeface="Microsoft YaHei"/>
                <a:ea typeface="Microsoft YaHei"/>
                <a:cs typeface="Microsoft YaHei"/>
              </a:rPr>
              <a:t>机电一体化协同设计</a:t>
            </a:r>
            <a:r>
              <a:rPr sz="135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：结构动力学（固有频率、模态）与控制带宽的匹配是高动态系统设计的核心；控制可“软化”机械缺陷，但不能无中生有</a:t>
            </a:r>
          </a:p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650" b="0" i="0">
                <a:solidFill>
                  <a:srgbClr val="009EB8"/>
                </a:solidFill>
                <a:latin typeface="Microsoft YaHei"/>
                <a:ea typeface="Microsoft YaHei"/>
                <a:cs typeface="Microsoft YaHei"/>
              </a:rPr>
              <a:t>■ </a:t>
            </a:r>
            <a:r>
              <a:rPr sz="1350" b="1" i="0">
                <a:solidFill>
                  <a:srgbClr val="122E55"/>
                </a:solidFill>
                <a:latin typeface="Microsoft YaHei"/>
                <a:ea typeface="Microsoft YaHei"/>
                <a:cs typeface="Microsoft YaHei"/>
              </a:rPr>
              <a:t>趋势</a:t>
            </a:r>
            <a:r>
              <a:rPr sz="135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：计算能力提升（FPGA、多核）使复杂算法进入 μs 级控制周期；控制—测量—结构的一体化设计（“控制可设计性”）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5720"/>
          </a:xfrm>
          <a:prstGeom prst="rect">
            <a:avLst/>
          </a:prstGeom>
          <a:solidFill>
            <a:srgbClr val="009E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950976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4.10 绿色低碳与可持续：零部件的全生命周期视角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21792"/>
            <a:ext cx="969264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0" i="0">
                <a:solidFill>
                  <a:srgbClr val="DDF4F8"/>
                </a:solidFill>
                <a:latin typeface="Microsoft YaHei"/>
                <a:ea typeface="Microsoft YaHei"/>
                <a:cs typeface="Microsoft YaHei"/>
              </a:rPr>
              <a:t>“双碳”目标下，高效、长寿命、可再制造成为新指标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82735" y="201168"/>
            <a:ext cx="265176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1200" b="0" i="0">
                <a:solidFill>
                  <a:srgbClr val="8D99AE"/>
                </a:solidFill>
                <a:latin typeface="Microsoft YaHei"/>
                <a:ea typeface="Microsoft YaHei"/>
                <a:cs typeface="Microsoft YaHei"/>
              </a:rPr>
              <a:t>第四部分 · 前沿技术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6419088"/>
            <a:ext cx="11185855" cy="0"/>
          </a:xfrm>
          <a:prstGeom prst="line">
            <a:avLst/>
          </a:prstGeom>
          <a:ln w="9525">
            <a:solidFill>
              <a:srgbClr val="D9DE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2920" y="6446520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000" b="0" i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先进制造装备关键零部件研发及前沿技术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17175" y="6446520"/>
            <a:ext cx="13716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1000" b="0" i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49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234440"/>
            <a:ext cx="2659303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1234440"/>
            <a:ext cx="2659303" cy="457200"/>
          </a:xfrm>
          <a:prstGeom prst="rect">
            <a:avLst/>
          </a:prstGeom>
          <a:solidFill>
            <a:srgbClr val="009E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高效与节能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6072" y="1764792"/>
            <a:ext cx="2512999" cy="217627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低摩擦轴承与密封（降低摩擦损耗 20–30%）</a:t>
            </a:r>
          </a:p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高效传动（行星 vs 蜗轮）、高效电机（IE4/IE5）</a:t>
            </a:r>
          </a:p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液压系统节能（变量泵、数字液压）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45103" y="1234440"/>
            <a:ext cx="2659303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345103" y="1234440"/>
            <a:ext cx="2659303" cy="457200"/>
          </a:xfrm>
          <a:prstGeom prst="rect">
            <a:avLst/>
          </a:prstGeom>
          <a:solidFill>
            <a:srgbClr val="122E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长寿命与再制造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18255" y="1764792"/>
            <a:ext cx="2512999" cy="217627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延寿设计、表面再制造（激光熔覆、热喷涂）</a:t>
            </a:r>
          </a:p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主轴、丝杠、液压件再制造产业</a:t>
            </a:r>
          </a:p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再制造性能评价与认证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87287" y="1234440"/>
            <a:ext cx="2659303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87287" y="1234440"/>
            <a:ext cx="2659303" cy="457200"/>
          </a:xfrm>
          <a:prstGeom prst="rect">
            <a:avLst/>
          </a:prstGeom>
          <a:solidFill>
            <a:srgbClr val="F2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绿色工艺与材料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0439" y="1764792"/>
            <a:ext cx="2512999" cy="217627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干切/微量润滑，减少切削液</a:t>
            </a:r>
          </a:p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无钴硬质合金、稀土减量永磁</a:t>
            </a:r>
          </a:p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可回收设计与材料流分析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029471" y="1234440"/>
            <a:ext cx="2659303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029471" y="1234440"/>
            <a:ext cx="2659303" cy="457200"/>
          </a:xfrm>
          <a:prstGeom prst="rect">
            <a:avLst/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全生命周期评价（LCA）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02623" y="1764792"/>
            <a:ext cx="2512999" cy="217627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从材料—制造—使用—回收的碳足迹核算</a:t>
            </a:r>
          </a:p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零部件碳标签与绿色供应链</a:t>
            </a:r>
          </a:p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学术机会：零部件 LCA 数据库与方法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4160520"/>
            <a:ext cx="11185855" cy="548640"/>
          </a:xfrm>
          <a:prstGeom prst="rect">
            <a:avLst/>
          </a:prstGeom>
          <a:solidFill>
            <a:srgbClr val="FDF1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02920" y="4160520"/>
            <a:ext cx="73152" cy="548640"/>
          </a:xfrm>
          <a:prstGeom prst="rect">
            <a:avLst/>
          </a:prstGeom>
          <a:solidFill>
            <a:srgbClr val="F2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7512" y="4160520"/>
            <a:ext cx="10957255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350" b="1" i="0">
                <a:solidFill>
                  <a:srgbClr val="122E55"/>
                </a:solidFill>
                <a:latin typeface="Microsoft YaHei"/>
                <a:ea typeface="Microsoft YaHei"/>
                <a:cs typeface="Microsoft YaHei"/>
              </a:rPr>
              <a:t>观点：绿色不只是约束，也是差异化竞争力 —— 低摩擦、长寿命、可再制造本身就是高端零部件的核心指标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4892040"/>
            <a:ext cx="11185855" cy="1554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650" b="0" i="0">
                <a:solidFill>
                  <a:srgbClr val="009EB8"/>
                </a:solidFill>
                <a:latin typeface="Microsoft YaHei"/>
                <a:ea typeface="Microsoft YaHei"/>
                <a:cs typeface="Microsoft YaHei"/>
              </a:rPr>
              <a:t>■ </a:t>
            </a:r>
            <a:r>
              <a:rPr sz="1350" b="1" i="0">
                <a:solidFill>
                  <a:srgbClr val="122E55"/>
                </a:solidFill>
                <a:latin typeface="Microsoft YaHei"/>
                <a:ea typeface="Microsoft YaHei"/>
                <a:cs typeface="Microsoft YaHei"/>
              </a:rPr>
              <a:t>量级参考</a:t>
            </a:r>
            <a:r>
              <a:rPr sz="135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：工业电机消耗全球电力约 40–45%；机床主轴与进给系统摩擦损耗、液压系统节流损失是装备运行能耗的主要组成</a:t>
            </a:r>
          </a:p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650" b="0" i="0">
                <a:solidFill>
                  <a:srgbClr val="009EB8"/>
                </a:solidFill>
                <a:latin typeface="Microsoft YaHei"/>
                <a:ea typeface="Microsoft YaHei"/>
                <a:cs typeface="Microsoft YaHei"/>
              </a:rPr>
              <a:t>■ </a:t>
            </a:r>
            <a:r>
              <a:rPr sz="1350" b="1" i="0">
                <a:solidFill>
                  <a:srgbClr val="122E55"/>
                </a:solidFill>
                <a:latin typeface="Microsoft YaHei"/>
                <a:ea typeface="Microsoft YaHei"/>
                <a:cs typeface="Microsoft YaHei"/>
              </a:rPr>
              <a:t>研究方向</a:t>
            </a:r>
            <a:r>
              <a:rPr sz="135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：低摩擦运动副设计与润滑；再制造零部件的性能恢复与寿命评估；零部件级 LCA 方法与数据库；面向回收的材料与结构设计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5720"/>
          </a:xfrm>
          <a:prstGeom prst="rect">
            <a:avLst/>
          </a:prstGeom>
          <a:solidFill>
            <a:srgbClr val="009E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950976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4.11 颠覆性技术展望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21792"/>
            <a:ext cx="969264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0" i="0">
                <a:solidFill>
                  <a:srgbClr val="DDF4F8"/>
                </a:solidFill>
                <a:latin typeface="Microsoft YaHei"/>
                <a:ea typeface="Microsoft YaHei"/>
                <a:cs typeface="Microsoft YaHei"/>
              </a:rPr>
              <a:t>可能重塑零部件形态与制造方式的远期方向（10–20 年）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82735" y="201168"/>
            <a:ext cx="265176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1200" b="0" i="0">
                <a:solidFill>
                  <a:srgbClr val="8D99AE"/>
                </a:solidFill>
                <a:latin typeface="Microsoft YaHei"/>
                <a:ea typeface="Microsoft YaHei"/>
                <a:cs typeface="Microsoft YaHei"/>
              </a:rPr>
              <a:t>第四部分 · 前沿技术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6419088"/>
            <a:ext cx="11185855" cy="0"/>
          </a:xfrm>
          <a:prstGeom prst="line">
            <a:avLst/>
          </a:prstGeom>
          <a:ln w="9525">
            <a:solidFill>
              <a:srgbClr val="D9DE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2920" y="6446520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000" b="0" i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先进制造装备关键零部件研发及前沿技术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17175" y="6446520"/>
            <a:ext cx="13716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1000" b="0" i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50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234440"/>
            <a:ext cx="3606698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1234440"/>
            <a:ext cx="3606698" cy="457200"/>
          </a:xfrm>
          <a:prstGeom prst="rect">
            <a:avLst/>
          </a:prstGeom>
          <a:solidFill>
            <a:srgbClr val="009E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原子级制造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6072" y="1764792"/>
            <a:ext cx="3460394" cy="139903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单原子操纵、原子层去除/沉积（ALE/ALD）</a:t>
            </a:r>
          </a:p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面向 EUV 光学、量子器件的原子级精度</a:t>
            </a:r>
          </a:p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从“近原子尺度制造”到“原子制造”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92498" y="1234440"/>
            <a:ext cx="3606698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92498" y="1234440"/>
            <a:ext cx="3606698" cy="457200"/>
          </a:xfrm>
          <a:prstGeom prst="rect">
            <a:avLst/>
          </a:prstGeom>
          <a:solidFill>
            <a:srgbClr val="122E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量子传感与计量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65650" y="1764792"/>
            <a:ext cx="3460394" cy="139903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原子干涉、NV 色心磁强计、光钟</a:t>
            </a:r>
          </a:p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超越经典极限的位移、加速度、角速度测量</a:t>
            </a:r>
          </a:p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未来的纳米定位与导航基准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82076" y="1234440"/>
            <a:ext cx="3606698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82076" y="1234440"/>
            <a:ext cx="3606698" cy="457200"/>
          </a:xfrm>
          <a:prstGeom prst="rect">
            <a:avLst/>
          </a:prstGeom>
          <a:solidFill>
            <a:srgbClr val="F2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自修复与自适应材料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55228" y="1764792"/>
            <a:ext cx="3460394" cy="139903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微胶囊/血管网络自修复、可逆共价键</a:t>
            </a:r>
          </a:p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可变刚度/可变阻尼材料</a:t>
            </a:r>
          </a:p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零部件“自愈”延寿的可能性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3383280"/>
            <a:ext cx="3606698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2920" y="3383280"/>
            <a:ext cx="3606698" cy="457200"/>
          </a:xfrm>
          <a:prstGeom prst="rect">
            <a:avLst/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软体与仿生零部件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6072" y="3913632"/>
            <a:ext cx="3460394" cy="139903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软体执行器、仿生关节与肌腱</a:t>
            </a:r>
          </a:p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人形机器人与医疗装备驱动</a:t>
            </a:r>
          </a:p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传统“刚性精密”范式之外的新路径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92498" y="3383280"/>
            <a:ext cx="3606698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292498" y="3383280"/>
            <a:ext cx="3606698" cy="457200"/>
          </a:xfrm>
          <a:prstGeom prst="rect">
            <a:avLst/>
          </a:prstGeom>
          <a:solidFill>
            <a:srgbClr val="8D99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数字材料与可编程物质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65650" y="3913632"/>
            <a:ext cx="3460394" cy="139903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体素化多材料增材、可编程机械超材料</a:t>
            </a:r>
          </a:p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按需设计刚度、泊松比、热膨胀</a:t>
            </a:r>
          </a:p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“结构即功能”的零部件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82076" y="3383280"/>
            <a:ext cx="3606698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82076" y="3383280"/>
            <a:ext cx="3606698" cy="457200"/>
          </a:xfrm>
          <a:prstGeom prst="rect">
            <a:avLst/>
          </a:prstGeom>
          <a:solidFill>
            <a:srgbClr val="D64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全自主研发系统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55228" y="3913632"/>
            <a:ext cx="3460394" cy="139903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AI + 机器人实验室的闭环材料/工艺研发</a:t>
            </a:r>
          </a:p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自主设计—制造—测试—迭代</a:t>
            </a:r>
          </a:p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零部件研发周期的数量级缩短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5486400"/>
            <a:ext cx="11185855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250" b="0" i="1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注：以上方向多处于基础研究或概念验证阶段，不确定性高。学术界的价值恰在于提前布局高风险、高回报方向，为 10–20 年后的产业变革储备知识与人才。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122E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103120"/>
            <a:ext cx="3200400" cy="18288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1000" b="1" i="0">
                <a:solidFill>
                  <a:srgbClr val="009EB8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3931920"/>
            <a:ext cx="320040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800" b="0" i="0">
                <a:solidFill>
                  <a:srgbClr val="8D99AE"/>
                </a:solidFill>
                <a:latin typeface="Microsoft YaHei"/>
                <a:ea typeface="Microsoft YaHei"/>
                <a:cs typeface="Microsoft YaHei"/>
              </a:rPr>
              <a:t>第五部分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46320" y="2194560"/>
            <a:ext cx="6949440" cy="15544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发展趋势、研究建议与总结</a:t>
            </a:r>
          </a:p>
        </p:txBody>
      </p:sp>
      <p:sp>
        <p:nvSpPr>
          <p:cNvPr id="7" name="Rectangle 6"/>
          <p:cNvSpPr/>
          <p:nvPr/>
        </p:nvSpPr>
        <p:spPr>
          <a:xfrm>
            <a:off x="4846320" y="3840480"/>
            <a:ext cx="1097280" cy="54864"/>
          </a:xfrm>
          <a:prstGeom prst="rect">
            <a:avLst/>
          </a:prstGeom>
          <a:solidFill>
            <a:srgbClr val="F2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846320" y="4023360"/>
            <a:ext cx="640080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800" b="0" i="0">
                <a:solidFill>
                  <a:srgbClr val="DDF4F8"/>
                </a:solidFill>
                <a:latin typeface="Microsoft YaHei"/>
                <a:ea typeface="Microsoft YaHei"/>
                <a:cs typeface="Microsoft YaHei"/>
              </a:rPr>
              <a:t>约 10 分钟</a:t>
            </a:r>
          </a:p>
        </p:txBody>
      </p:sp>
      <p:sp>
        <p:nvSpPr>
          <p:cNvPr id="9" name="Rectangle 8"/>
          <p:cNvSpPr/>
          <p:nvPr/>
        </p:nvSpPr>
        <p:spPr>
          <a:xfrm>
            <a:off x="4846320" y="5760720"/>
            <a:ext cx="1234440" cy="91440"/>
          </a:xfrm>
          <a:prstGeom prst="rect">
            <a:avLst/>
          </a:prstGeom>
          <a:solidFill>
            <a:srgbClr val="009E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46320" y="5897880"/>
            <a:ext cx="123444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000" b="0" i="0">
                <a:solidFill>
                  <a:srgbClr val="8D99AE"/>
                </a:solidFill>
                <a:latin typeface="Microsoft YaHei"/>
                <a:ea typeface="Microsoft YaHei"/>
                <a:cs typeface="Microsoft YaHei"/>
              </a:rPr>
              <a:t>绪论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5760720"/>
            <a:ext cx="1234440" cy="91440"/>
          </a:xfrm>
          <a:prstGeom prst="rect">
            <a:avLst/>
          </a:prstGeom>
          <a:solidFill>
            <a:srgbClr val="009E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0" y="5897880"/>
            <a:ext cx="123444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000" b="0" i="0">
                <a:solidFill>
                  <a:srgbClr val="8D99AE"/>
                </a:solidFill>
                <a:latin typeface="Microsoft YaHei"/>
                <a:ea typeface="Microsoft YaHei"/>
                <a:cs typeface="Microsoft YaHei"/>
              </a:rPr>
              <a:t>核心零部件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589520" y="5760720"/>
            <a:ext cx="1234440" cy="91440"/>
          </a:xfrm>
          <a:prstGeom prst="rect">
            <a:avLst/>
          </a:prstGeom>
          <a:solidFill>
            <a:srgbClr val="009E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89520" y="5897880"/>
            <a:ext cx="123444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000" b="0" i="0">
                <a:solidFill>
                  <a:srgbClr val="8D99AE"/>
                </a:solidFill>
                <a:latin typeface="Microsoft YaHei"/>
                <a:ea typeface="Microsoft YaHei"/>
                <a:cs typeface="Microsoft YaHei"/>
              </a:rPr>
              <a:t>共性技术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961120" y="5760720"/>
            <a:ext cx="1234440" cy="91440"/>
          </a:xfrm>
          <a:prstGeom prst="rect">
            <a:avLst/>
          </a:prstGeom>
          <a:solidFill>
            <a:srgbClr val="009E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0" y="5897880"/>
            <a:ext cx="123444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000" b="0" i="0">
                <a:solidFill>
                  <a:srgbClr val="8D99AE"/>
                </a:solidFill>
                <a:latin typeface="Microsoft YaHei"/>
                <a:ea typeface="Microsoft YaHei"/>
                <a:cs typeface="Microsoft YaHei"/>
              </a:rPr>
              <a:t>前沿技术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332720" y="5760720"/>
            <a:ext cx="1234440" cy="91440"/>
          </a:xfrm>
          <a:prstGeom prst="rect">
            <a:avLst/>
          </a:prstGeom>
          <a:solidFill>
            <a:srgbClr val="009E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332720" y="5897880"/>
            <a:ext cx="123444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000" b="0" i="0">
                <a:solidFill>
                  <a:srgbClr val="DDF4F8"/>
                </a:solidFill>
                <a:latin typeface="Microsoft YaHei"/>
                <a:ea typeface="Microsoft YaHei"/>
                <a:cs typeface="Microsoft YaHei"/>
              </a:rPr>
              <a:t>趋势与建议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5720"/>
          </a:xfrm>
          <a:prstGeom prst="rect">
            <a:avLst/>
          </a:prstGeom>
          <a:solidFill>
            <a:srgbClr val="009E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950976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5.1 技术发展趋势总览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21792"/>
            <a:ext cx="969264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0" i="0">
                <a:solidFill>
                  <a:srgbClr val="DDF4F8"/>
                </a:solidFill>
                <a:latin typeface="Microsoft YaHei"/>
                <a:ea typeface="Microsoft YaHei"/>
                <a:cs typeface="Microsoft YaHei"/>
              </a:rPr>
              <a:t>六化并进：精密化、高速化、智能化、集成化、极端化、绿色化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82735" y="201168"/>
            <a:ext cx="265176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1200" b="0" i="0">
                <a:solidFill>
                  <a:srgbClr val="8D99AE"/>
                </a:solidFill>
                <a:latin typeface="Microsoft YaHei"/>
                <a:ea typeface="Microsoft YaHei"/>
                <a:cs typeface="Microsoft YaHei"/>
              </a:rPr>
              <a:t>第五部分 · 趋势与建议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6419088"/>
            <a:ext cx="11185855" cy="0"/>
          </a:xfrm>
          <a:prstGeom prst="line">
            <a:avLst/>
          </a:prstGeom>
          <a:ln w="9525">
            <a:solidFill>
              <a:srgbClr val="D9DE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2920" y="6446520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000" b="0" i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先进制造装备关键零部件研发及前沿技术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17175" y="6446520"/>
            <a:ext cx="13716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1000" b="0" i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52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234440"/>
            <a:ext cx="36576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1234440"/>
            <a:ext cx="109728" cy="1828800"/>
          </a:xfrm>
          <a:prstGeom prst="rect">
            <a:avLst/>
          </a:prstGeom>
          <a:solidFill>
            <a:srgbClr val="009E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1371600"/>
            <a:ext cx="320040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2200" b="1" i="0">
                <a:solidFill>
                  <a:srgbClr val="122E55"/>
                </a:solidFill>
                <a:latin typeface="Microsoft YaHei"/>
                <a:ea typeface="Microsoft YaHei"/>
                <a:cs typeface="Microsoft YaHei"/>
              </a:rPr>
              <a:t>精密化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1965960"/>
            <a:ext cx="3200400" cy="10058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μm → nm → 原子级；精度保持性成为核心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51960" y="1234440"/>
            <a:ext cx="36576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51960" y="1234440"/>
            <a:ext cx="109728" cy="1828800"/>
          </a:xfrm>
          <a:prstGeom prst="rect">
            <a:avLst/>
          </a:prstGeom>
          <a:solidFill>
            <a:srgbClr val="122E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26280" y="1371600"/>
            <a:ext cx="320040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2200" b="1" i="0">
                <a:solidFill>
                  <a:srgbClr val="122E55"/>
                </a:solidFill>
                <a:latin typeface="Microsoft YaHei"/>
                <a:ea typeface="Microsoft YaHei"/>
                <a:cs typeface="Microsoft YaHei"/>
              </a:rPr>
              <a:t>高速化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6280" y="1965960"/>
            <a:ext cx="3200400" cy="10058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更高 DN 值、更高加速度、更高带宽；热与动力学的极限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01000" y="1234440"/>
            <a:ext cx="36576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01000" y="1234440"/>
            <a:ext cx="109728" cy="1828800"/>
          </a:xfrm>
          <a:prstGeom prst="rect">
            <a:avLst/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75320" y="1371600"/>
            <a:ext cx="320040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2200" b="1" i="0">
                <a:solidFill>
                  <a:srgbClr val="122E55"/>
                </a:solidFill>
                <a:latin typeface="Microsoft YaHei"/>
                <a:ea typeface="Microsoft YaHei"/>
                <a:cs typeface="Microsoft YaHei"/>
              </a:rPr>
              <a:t>智能化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75320" y="1965960"/>
            <a:ext cx="3200400" cy="10058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自感知—自诊断—自适应；AI 融入设计、制造与运维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3246120"/>
            <a:ext cx="36576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02920" y="3246120"/>
            <a:ext cx="109728" cy="1828800"/>
          </a:xfrm>
          <a:prstGeom prst="rect">
            <a:avLst/>
          </a:prstGeom>
          <a:solidFill>
            <a:srgbClr val="F2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3383280"/>
            <a:ext cx="320040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2200" b="1" i="0">
                <a:solidFill>
                  <a:srgbClr val="122E55"/>
                </a:solidFill>
                <a:latin typeface="Microsoft YaHei"/>
                <a:ea typeface="Microsoft YaHei"/>
                <a:cs typeface="Microsoft YaHei"/>
              </a:rPr>
              <a:t>集成化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3977640"/>
            <a:ext cx="3200400" cy="10058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机电液控一体、部件即系统（关节模组、智能主轴）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251960" y="3246120"/>
            <a:ext cx="36576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251960" y="3246120"/>
            <a:ext cx="109728" cy="1828800"/>
          </a:xfrm>
          <a:prstGeom prst="rect">
            <a:avLst/>
          </a:prstGeom>
          <a:solidFill>
            <a:srgbClr val="009E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26280" y="3383280"/>
            <a:ext cx="320040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2200" b="1" i="0">
                <a:solidFill>
                  <a:srgbClr val="122E55"/>
                </a:solidFill>
                <a:latin typeface="Microsoft YaHei"/>
                <a:ea typeface="Microsoft YaHei"/>
                <a:cs typeface="Microsoft YaHei"/>
              </a:rPr>
              <a:t>极端化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26280" y="3977640"/>
            <a:ext cx="3200400" cy="10058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真空、洁净、超高/低温、强辐射；极端制造牵引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001000" y="3246120"/>
            <a:ext cx="36576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001000" y="3246120"/>
            <a:ext cx="109728" cy="1828800"/>
          </a:xfrm>
          <a:prstGeom prst="rect">
            <a:avLst/>
          </a:prstGeom>
          <a:solidFill>
            <a:srgbClr val="122E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75320" y="3383280"/>
            <a:ext cx="320040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2200" b="1" i="0">
                <a:solidFill>
                  <a:srgbClr val="122E55"/>
                </a:solidFill>
                <a:latin typeface="Microsoft YaHei"/>
                <a:ea typeface="Microsoft YaHei"/>
                <a:cs typeface="Microsoft YaHei"/>
              </a:rPr>
              <a:t>绿色化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75320" y="3977640"/>
            <a:ext cx="3200400" cy="10058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高效、长寿命、可再制造、全生命周期低碳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02920" y="5440680"/>
            <a:ext cx="11185855" cy="548640"/>
          </a:xfrm>
          <a:prstGeom prst="rect">
            <a:avLst/>
          </a:prstGeom>
          <a:solidFill>
            <a:srgbClr val="FDF1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02920" y="5440680"/>
            <a:ext cx="73152" cy="548640"/>
          </a:xfrm>
          <a:prstGeom prst="rect">
            <a:avLst/>
          </a:prstGeom>
          <a:solidFill>
            <a:srgbClr val="F2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67512" y="5440680"/>
            <a:ext cx="10957255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250" b="1" i="0">
                <a:solidFill>
                  <a:srgbClr val="122E55"/>
                </a:solidFill>
                <a:latin typeface="Microsoft YaHei"/>
                <a:ea typeface="Microsoft YaHei"/>
                <a:cs typeface="Microsoft YaHei"/>
              </a:rPr>
              <a:t>底层驱动力：下游装备（半导体、新能源、航空航天、机器人）需求升级 + 材料/传感/计算技术进步 + 自主可控的战略需求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5720"/>
          </a:xfrm>
          <a:prstGeom prst="rect">
            <a:avLst/>
          </a:prstGeom>
          <a:solidFill>
            <a:srgbClr val="009E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950976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5.2 技术路线图（2025—2035，示意）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21792"/>
            <a:ext cx="969264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0" i="0">
                <a:solidFill>
                  <a:srgbClr val="DDF4F8"/>
                </a:solidFill>
                <a:latin typeface="Microsoft YaHei"/>
                <a:ea typeface="Microsoft YaHei"/>
                <a:cs typeface="Microsoft YaHei"/>
              </a:rPr>
              <a:t>分阶段目标：补短板 → 锻长板 → 引领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82735" y="201168"/>
            <a:ext cx="265176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1200" b="0" i="0">
                <a:solidFill>
                  <a:srgbClr val="8D99AE"/>
                </a:solidFill>
                <a:latin typeface="Microsoft YaHei"/>
                <a:ea typeface="Microsoft YaHei"/>
                <a:cs typeface="Microsoft YaHei"/>
              </a:rPr>
              <a:t>第五部分 · 趋势与建议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6419088"/>
            <a:ext cx="11185855" cy="0"/>
          </a:xfrm>
          <a:prstGeom prst="line">
            <a:avLst/>
          </a:prstGeom>
          <a:ln w="9525">
            <a:solidFill>
              <a:srgbClr val="D9DE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2920" y="6446520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000" b="0" i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先进制造装备关键零部件研发及前沿技术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17175" y="6446520"/>
            <a:ext cx="13716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1000" b="0" i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53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234440"/>
            <a:ext cx="3657600" cy="548640"/>
          </a:xfrm>
          <a:prstGeom prst="rect">
            <a:avLst/>
          </a:prstGeom>
          <a:solidFill>
            <a:srgbClr val="009E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2025–2027  补短板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1783080"/>
            <a:ext cx="3657600" cy="356616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1920240"/>
            <a:ext cx="3474720" cy="338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550" b="0" i="0">
                <a:solidFill>
                  <a:srgbClr val="009EB8"/>
                </a:solidFill>
                <a:latin typeface="Microsoft YaHei"/>
                <a:ea typeface="Microsoft YaHei"/>
                <a:cs typeface="Microsoft YaHei"/>
              </a:rPr>
              <a:t>■ </a:t>
            </a:r>
            <a:r>
              <a:rPr sz="125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高端轴承、RV 减速器、高端数控系统的批量一致性与可靠性达到国际主流水平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550" b="0" i="0">
                <a:solidFill>
                  <a:srgbClr val="009EB8"/>
                </a:solidFill>
                <a:latin typeface="Microsoft YaHei"/>
                <a:ea typeface="Microsoft YaHei"/>
                <a:cs typeface="Microsoft YaHei"/>
              </a:rPr>
              <a:t>■ </a:t>
            </a:r>
            <a:r>
              <a:rPr sz="125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建成零部件试验验证与数据平台；标准体系完善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550" b="0" i="0">
                <a:solidFill>
                  <a:srgbClr val="009EB8"/>
                </a:solidFill>
                <a:latin typeface="Microsoft YaHei"/>
                <a:ea typeface="Microsoft YaHei"/>
                <a:cs typeface="Microsoft YaHei"/>
              </a:rPr>
              <a:t>■ </a:t>
            </a:r>
            <a:r>
              <a:rPr sz="125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智能零部件商业化初期；增材零部件工程应用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51960" y="1234440"/>
            <a:ext cx="3657600" cy="548640"/>
          </a:xfrm>
          <a:prstGeom prst="rect">
            <a:avLst/>
          </a:prstGeom>
          <a:solidFill>
            <a:srgbClr val="122E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2028–2030  锻长板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51960" y="1783080"/>
            <a:ext cx="3657600" cy="356616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43400" y="1920240"/>
            <a:ext cx="3474720" cy="338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550" b="0" i="0">
                <a:solidFill>
                  <a:srgbClr val="009EB8"/>
                </a:solidFill>
                <a:latin typeface="Microsoft YaHei"/>
                <a:ea typeface="Microsoft YaHei"/>
                <a:cs typeface="Microsoft YaHei"/>
              </a:rPr>
              <a:t>■ </a:t>
            </a:r>
            <a:r>
              <a:rPr sz="125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半导体装备核心运动部件（工件台、真空传输）自主可控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550" b="0" i="0">
                <a:solidFill>
                  <a:srgbClr val="009EB8"/>
                </a:solidFill>
                <a:latin typeface="Microsoft YaHei"/>
                <a:ea typeface="Microsoft YaHei"/>
                <a:cs typeface="Microsoft YaHei"/>
              </a:rPr>
              <a:t>■ </a:t>
            </a:r>
            <a:r>
              <a:rPr sz="125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智能主轴/轴承/关节模组规模应用；PHM 与数字孪生成熟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550" b="0" i="0">
                <a:solidFill>
                  <a:srgbClr val="009EB8"/>
                </a:solidFill>
                <a:latin typeface="Microsoft YaHei"/>
                <a:ea typeface="Microsoft YaHei"/>
                <a:cs typeface="Microsoft YaHei"/>
              </a:rPr>
              <a:t>■ </a:t>
            </a:r>
            <a:r>
              <a:rPr sz="125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新材料（陶瓷、复合材料）零部件工程化；AI 驱动研发普及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01000" y="1234440"/>
            <a:ext cx="3657600" cy="548640"/>
          </a:xfrm>
          <a:prstGeom prst="rect">
            <a:avLst/>
          </a:prstGeom>
          <a:solidFill>
            <a:srgbClr val="F2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500" b="1" i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2031–2035  引领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01000" y="1783080"/>
            <a:ext cx="3657600" cy="356616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92440" y="1920240"/>
            <a:ext cx="3474720" cy="338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550" b="0" i="0">
                <a:solidFill>
                  <a:srgbClr val="009EB8"/>
                </a:solidFill>
                <a:latin typeface="Microsoft YaHei"/>
                <a:ea typeface="Microsoft YaHei"/>
                <a:cs typeface="Microsoft YaHei"/>
              </a:rPr>
              <a:t>■ </a:t>
            </a:r>
            <a:r>
              <a:rPr sz="125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在若干细分领域（磁悬浮、超精密、机器人关节）形成国际领先产品与标准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550" b="0" i="0">
                <a:solidFill>
                  <a:srgbClr val="009EB8"/>
                </a:solidFill>
                <a:latin typeface="Microsoft YaHei"/>
                <a:ea typeface="Microsoft YaHei"/>
                <a:cs typeface="Microsoft YaHei"/>
              </a:rPr>
              <a:t>■ </a:t>
            </a:r>
            <a:r>
              <a:rPr sz="125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原子级制造、量子计量等颠覆性技术开始工程验证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550" b="0" i="0">
                <a:solidFill>
                  <a:srgbClr val="009EB8"/>
                </a:solidFill>
                <a:latin typeface="Microsoft YaHei"/>
                <a:ea typeface="Microsoft YaHei"/>
                <a:cs typeface="Microsoft YaHei"/>
              </a:rPr>
              <a:t>■ </a:t>
            </a:r>
            <a:r>
              <a:rPr sz="125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零部件研发范式转向“自主智能研发系统”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02920" y="5532120"/>
            <a:ext cx="11185855" cy="0"/>
          </a:xfrm>
          <a:prstGeom prst="line">
            <a:avLst/>
          </a:prstGeom>
          <a:ln w="38100">
            <a:solidFill>
              <a:srgbClr val="009E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Isosceles Triangle 19"/>
          <p:cNvSpPr/>
          <p:nvPr/>
        </p:nvSpPr>
        <p:spPr>
          <a:xfrm>
            <a:off x="11414455" y="5394960"/>
            <a:ext cx="274320" cy="274320"/>
          </a:xfrm>
          <a:prstGeom prst="triangle">
            <a:avLst/>
          </a:prstGeom>
          <a:solidFill>
            <a:srgbClr val="009E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5669280"/>
            <a:ext cx="11185855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250" b="0" i="1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贯穿始终：基础研究（机理、材料、测量）持续投入；人才培养；国际合作与标准参与。路线图为示意，具体节点需结合产业实际动态调整。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5720"/>
          </a:xfrm>
          <a:prstGeom prst="rect">
            <a:avLst/>
          </a:prstGeom>
          <a:solidFill>
            <a:srgbClr val="009E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950976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5.3 值得关注的基础科学问题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21792"/>
            <a:ext cx="969264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0" i="0">
                <a:solidFill>
                  <a:srgbClr val="DDF4F8"/>
                </a:solidFill>
                <a:latin typeface="Microsoft YaHei"/>
                <a:ea typeface="Microsoft YaHei"/>
                <a:cs typeface="Microsoft YaHei"/>
              </a:rPr>
              <a:t>面向学术界：零部件研发背后的“硬核”科学问题清单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82735" y="201168"/>
            <a:ext cx="265176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1200" b="0" i="0">
                <a:solidFill>
                  <a:srgbClr val="8D99AE"/>
                </a:solidFill>
                <a:latin typeface="Microsoft YaHei"/>
                <a:ea typeface="Microsoft YaHei"/>
                <a:cs typeface="Microsoft YaHei"/>
              </a:rPr>
              <a:t>第五部分 · 趋势与建议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6419088"/>
            <a:ext cx="11185855" cy="0"/>
          </a:xfrm>
          <a:prstGeom prst="line">
            <a:avLst/>
          </a:prstGeom>
          <a:ln w="9525">
            <a:solidFill>
              <a:srgbClr val="D9DE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2920" y="6446520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000" b="0" i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先进制造装备关键零部件研发及前沿技术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17175" y="6446520"/>
            <a:ext cx="13716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1000" b="0" i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54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02920" y="1234440"/>
          <a:ext cx="11185853" cy="45354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5295"/>
                <a:gridCol w="6692391"/>
                <a:gridCol w="2868167"/>
              </a:tblGrid>
              <a:tr h="566928">
                <a:tc>
                  <a:txBody>
                    <a:bodyPr wrap="square"/>
                    <a:lstStyle/>
                    <a:p>
                      <a:pPr algn="ctr"/>
                      <a:r>
                        <a:rPr sz="11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领域</a:t>
                      </a:r>
                    </a:p>
                  </a:txBody>
                  <a:tcPr marL="64008" marR="64008" marT="27432" marB="27432" anchor="ctr">
                    <a:solidFill>
                      <a:srgbClr val="0B1F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科学问题</a:t>
                      </a:r>
                    </a:p>
                  </a:txBody>
                  <a:tcPr marL="64008" marR="64008" marT="27432" marB="27432" anchor="ctr">
                    <a:solidFill>
                      <a:srgbClr val="0B1F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涉及零部件</a:t>
                      </a:r>
                    </a:p>
                  </a:txBody>
                  <a:tcPr marL="64008" marR="64008" marT="27432" marB="27432" anchor="ctr">
                    <a:solidFill>
                      <a:srgbClr val="0B1F3A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122E5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接触力学与摩擦学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滚动接触疲劳的多尺度起裂与扩展机理；极端工况（高速/真空/低温）润滑失效机理；表面完整性—服役性能的定量关系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轴承、丝杠、减速器、液压副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122E5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多场耦合动力学</a:t>
                      </a:r>
                    </a:p>
                  </a:txBody>
                  <a:tcPr marL="64008" marR="64008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热—结构—电磁—流体耦合下高速转子/运动系统的非线性动力学与稳定性；结合面特性辨识</a:t>
                      </a:r>
                    </a:p>
                  </a:txBody>
                  <a:tcPr marL="64008" marR="64008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电主轴、磁悬浮、直驱系统</a:t>
                      </a:r>
                    </a:p>
                  </a:txBody>
                  <a:tcPr marL="64008" marR="64008" marT="27432" marB="27432" anchor="ctr">
                    <a:solidFill>
                      <a:srgbClr val="F2F4F7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122E5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精度理论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误差生成—传递—演化（退化）的统一建模；误差均化与误差分离的极限；精度保持性的预测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所有精密零部件与整机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122E5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材料科学</a:t>
                      </a:r>
                    </a:p>
                  </a:txBody>
                  <a:tcPr marL="64008" marR="64008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夹杂物/缺陷—疲劳寿命的概率关系；组织—性能—工艺的 ICME；新材料（HEA、CMC）的服役行为</a:t>
                      </a:r>
                    </a:p>
                  </a:txBody>
                  <a:tcPr marL="64008" marR="64008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轴承钢、齿轮钢、陶瓷</a:t>
                      </a:r>
                    </a:p>
                  </a:txBody>
                  <a:tcPr marL="64008" marR="64008" marT="27432" marB="27432" anchor="ctr">
                    <a:solidFill>
                      <a:srgbClr val="F2F4F7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122E5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测量与感知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纳米/亚纳米测量的新原理与溯源；嵌入式弱信号传感与解耦；多自由度同步测量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光栅、智能零部件、工件台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122E5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智能与信息</a:t>
                      </a:r>
                    </a:p>
                  </a:txBody>
                  <a:tcPr marL="64008" marR="64008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物理—数据融合建模的理论框架；小样本可靠性/寿命推断；可解释、可泛化的工业 AI</a:t>
                      </a:r>
                    </a:p>
                  </a:txBody>
                  <a:tcPr marL="64008" marR="64008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PHM、数字孪生、AI 设计</a:t>
                      </a:r>
                    </a:p>
                  </a:txBody>
                  <a:tcPr marL="64008" marR="64008" marT="27432" marB="27432" anchor="ctr">
                    <a:solidFill>
                      <a:srgbClr val="F2F4F7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122E5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制造科学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纳米尺度材料去除与亚表面损伤机理；增材工艺—组织—缺陷—性能链；面向性能的装配理论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超精密零件、增材零部件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502920" y="5669280"/>
            <a:ext cx="11185855" cy="457200"/>
          </a:xfrm>
          <a:prstGeom prst="rect">
            <a:avLst/>
          </a:prstGeom>
          <a:solidFill>
            <a:srgbClr val="FDF1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5669280"/>
            <a:ext cx="73152" cy="457200"/>
          </a:xfrm>
          <a:prstGeom prst="rect">
            <a:avLst/>
          </a:prstGeom>
          <a:solidFill>
            <a:srgbClr val="F2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" y="5669280"/>
            <a:ext cx="10957255" cy="4572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250" b="1" i="0">
                <a:solidFill>
                  <a:srgbClr val="122E55"/>
                </a:solidFill>
                <a:latin typeface="Microsoft YaHei"/>
                <a:ea typeface="Microsoft YaHei"/>
                <a:cs typeface="Microsoft YaHei"/>
              </a:rPr>
              <a:t>这些问题的共同特征：跨尺度（nm–m）、跨学科（力/热/电磁/材料/信息）、跨阶段（设计—制造—服役）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5720"/>
          </a:xfrm>
          <a:prstGeom prst="rect">
            <a:avLst/>
          </a:prstGeom>
          <a:solidFill>
            <a:srgbClr val="009E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950976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5.4 产学研协同与成果转化模式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21792"/>
            <a:ext cx="969264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0" i="0">
                <a:solidFill>
                  <a:srgbClr val="DDF4F8"/>
                </a:solidFill>
                <a:latin typeface="Microsoft YaHei"/>
                <a:ea typeface="Microsoft YaHei"/>
                <a:cs typeface="Microsoft YaHei"/>
              </a:rPr>
              <a:t>零部件研发的特殊性决定了需要长期、深度、互信的合作机制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82735" y="201168"/>
            <a:ext cx="265176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1200" b="0" i="0">
                <a:solidFill>
                  <a:srgbClr val="8D99AE"/>
                </a:solidFill>
                <a:latin typeface="Microsoft YaHei"/>
                <a:ea typeface="Microsoft YaHei"/>
                <a:cs typeface="Microsoft YaHei"/>
              </a:rPr>
              <a:t>第五部分 · 趋势与建议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6419088"/>
            <a:ext cx="11185855" cy="0"/>
          </a:xfrm>
          <a:prstGeom prst="line">
            <a:avLst/>
          </a:prstGeom>
          <a:ln w="9525">
            <a:solidFill>
              <a:srgbClr val="D9DE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2920" y="6446520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000" b="0" i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先进制造装备关键零部件研发及前沿技术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17175" y="6446520"/>
            <a:ext cx="13716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1000" b="0" i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55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234440"/>
            <a:ext cx="5501487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1234440"/>
            <a:ext cx="5501487" cy="457200"/>
          </a:xfrm>
          <a:prstGeom prst="rect">
            <a:avLst/>
          </a:prstGeom>
          <a:solidFill>
            <a:srgbClr val="009E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联合实验室 / 创新中心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6072" y="1764792"/>
            <a:ext cx="5355183" cy="130759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高校机理研究 + 企业工程化 + 整机厂应用验证</a:t>
            </a:r>
          </a:p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共享试验平台与数据库（如轴承、减速器寿命台）</a:t>
            </a:r>
          </a:p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国内：国家制造业创新中心、省级共性技术平台</a:t>
            </a:r>
          </a:p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国际参照：Fraunhofer IPT/IWU、RWTH WZL、Berkeley/Michigan 联盟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87287" y="1234440"/>
            <a:ext cx="5501487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87287" y="1234440"/>
            <a:ext cx="5501487" cy="457200"/>
          </a:xfrm>
          <a:prstGeom prst="rect">
            <a:avLst/>
          </a:prstGeom>
          <a:solidFill>
            <a:srgbClr val="122E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“一条龙”应用示范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60439" y="1764792"/>
            <a:ext cx="5355183" cy="130759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整机厂承诺装机验证 → 零部件厂迭代 → 高校提供测试与分析</a:t>
            </a:r>
          </a:p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破解“首台套”“不敢用”难题</a:t>
            </a:r>
          </a:p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04 专项经验：应用牵引下的技术成熟度提升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3291840"/>
            <a:ext cx="5501487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2920" y="3291840"/>
            <a:ext cx="5501487" cy="457200"/>
          </a:xfrm>
          <a:prstGeom prst="rect">
            <a:avLst/>
          </a:prstGeom>
          <a:solidFill>
            <a:srgbClr val="F2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人才双向流动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6072" y="3822192"/>
            <a:ext cx="5355183" cy="130759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工程博士、联合培养研究生、企业导师</a:t>
            </a:r>
          </a:p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高校教师企业挂职、企业工程师进实验室</a:t>
            </a:r>
          </a:p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零部件研发经验高度依赖“人”的隐性知识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87287" y="3291840"/>
            <a:ext cx="5501487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87287" y="3291840"/>
            <a:ext cx="5501487" cy="457200"/>
          </a:xfrm>
          <a:prstGeom prst="rect">
            <a:avLst/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标准、专利与数据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60439" y="3822192"/>
            <a:ext cx="5355183" cy="130759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共同参与标准制定，形成技术话语权</a:t>
            </a:r>
          </a:p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专利池与交叉许可</a:t>
            </a:r>
          </a:p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预竞争阶段的数据共享机制（试验数据、失效案例）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5349240"/>
            <a:ext cx="11185855" cy="548640"/>
          </a:xfrm>
          <a:prstGeom prst="rect">
            <a:avLst/>
          </a:prstGeom>
          <a:solidFill>
            <a:srgbClr val="FDF1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02920" y="5349240"/>
            <a:ext cx="73152" cy="548640"/>
          </a:xfrm>
          <a:prstGeom prst="rect">
            <a:avLst/>
          </a:prstGeom>
          <a:solidFill>
            <a:srgbClr val="F2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7512" y="5349240"/>
            <a:ext cx="10957255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250" b="1" i="0">
                <a:solidFill>
                  <a:srgbClr val="122E55"/>
                </a:solidFill>
                <a:latin typeface="Microsoft YaHei"/>
                <a:ea typeface="Microsoft YaHei"/>
                <a:cs typeface="Microsoft YaHei"/>
              </a:rPr>
              <a:t>关键认识：零部件研发回报周期长（5–10 年），需要“耐心资本”与长期考核机制；短期项目制难以积累工程数据与隐性知识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5720"/>
          </a:xfrm>
          <a:prstGeom prst="rect">
            <a:avLst/>
          </a:prstGeom>
          <a:solidFill>
            <a:srgbClr val="009E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950976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5.5 对研究团队的几点建议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21792"/>
            <a:ext cx="969264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0" i="0">
                <a:solidFill>
                  <a:srgbClr val="DDF4F8"/>
                </a:solidFill>
                <a:latin typeface="Microsoft YaHei"/>
                <a:ea typeface="Microsoft YaHei"/>
                <a:cs typeface="Microsoft YaHei"/>
              </a:rPr>
              <a:t>如何在零部件研究中做出有学术深度又有产业价值的工作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82735" y="201168"/>
            <a:ext cx="265176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1200" b="0" i="0">
                <a:solidFill>
                  <a:srgbClr val="8D99AE"/>
                </a:solidFill>
                <a:latin typeface="Microsoft YaHei"/>
                <a:ea typeface="Microsoft YaHei"/>
                <a:cs typeface="Microsoft YaHei"/>
              </a:rPr>
              <a:t>第五部分 · 趋势与建议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6419088"/>
            <a:ext cx="11185855" cy="0"/>
          </a:xfrm>
          <a:prstGeom prst="line">
            <a:avLst/>
          </a:prstGeom>
          <a:ln w="9525">
            <a:solidFill>
              <a:srgbClr val="D9DE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2920" y="6446520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000" b="0" i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先进制造装备关键零部件研发及前沿技术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17175" y="6446520"/>
            <a:ext cx="13716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1000" b="0" i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56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234440"/>
            <a:ext cx="5532120" cy="146304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12648" y="1371600"/>
            <a:ext cx="457200" cy="457200"/>
          </a:xfrm>
          <a:prstGeom prst="ellipse">
            <a:avLst/>
          </a:prstGeom>
          <a:solidFill>
            <a:srgbClr val="009E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1325880"/>
            <a:ext cx="475488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450" b="1" i="0">
                <a:solidFill>
                  <a:srgbClr val="122E55"/>
                </a:solidFill>
                <a:latin typeface="Microsoft YaHei"/>
                <a:ea typeface="Microsoft YaHei"/>
                <a:cs typeface="Microsoft YaHei"/>
              </a:rPr>
              <a:t>选题：从真实瓶颈中提炼科学问题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1783080"/>
            <a:ext cx="4754880" cy="914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深入企业现场，理解失效模式与工艺难点；将“做不好”转化为可研究的机理/模型/方法问题，避免“伪问题”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72200" y="1234440"/>
            <a:ext cx="5532120" cy="146304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281928" y="1371600"/>
            <a:ext cx="457200" cy="457200"/>
          </a:xfrm>
          <a:prstGeom prst="ellipse">
            <a:avLst/>
          </a:prstGeom>
          <a:solidFill>
            <a:srgbClr val="F2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1" i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0" y="1325880"/>
            <a:ext cx="475488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450" b="1" i="0">
                <a:solidFill>
                  <a:srgbClr val="122E55"/>
                </a:solidFill>
                <a:latin typeface="Microsoft YaHei"/>
                <a:ea typeface="Microsoft YaHei"/>
                <a:cs typeface="Microsoft YaHei"/>
              </a:rPr>
              <a:t>方法：机理 + 数据 + 试验三位一体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0" y="1783080"/>
            <a:ext cx="4754880" cy="914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不迷信仿真或 AI；建立自己的试验能力（哪怕是小型台架）；重视测量不确定度与数据质量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2834640"/>
            <a:ext cx="5532120" cy="146304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12648" y="2971800"/>
            <a:ext cx="457200" cy="457200"/>
          </a:xfrm>
          <a:prstGeom prst="ellipse">
            <a:avLst/>
          </a:prstGeom>
          <a:solidFill>
            <a:srgbClr val="009E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88720" y="2926080"/>
            <a:ext cx="475488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450" b="1" i="0">
                <a:solidFill>
                  <a:srgbClr val="122E55"/>
                </a:solidFill>
                <a:latin typeface="Microsoft YaHei"/>
                <a:ea typeface="Microsoft YaHei"/>
                <a:cs typeface="Microsoft YaHei"/>
              </a:rPr>
              <a:t>积累：建设平台与数据库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88720" y="3383280"/>
            <a:ext cx="4754880" cy="914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零部件研究的壁垒是数据与经验；坚持方向 5–10 年，形成可复用的试验平台、模型工具与数据资产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72200" y="2834640"/>
            <a:ext cx="5532120" cy="146304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281928" y="2971800"/>
            <a:ext cx="457200" cy="457200"/>
          </a:xfrm>
          <a:prstGeom prst="ellipse">
            <a:avLst/>
          </a:prstGeom>
          <a:solidFill>
            <a:srgbClr val="F2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1" i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2926080"/>
            <a:ext cx="475488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450" b="1" i="0">
                <a:solidFill>
                  <a:srgbClr val="122E55"/>
                </a:solidFill>
                <a:latin typeface="Microsoft YaHei"/>
                <a:ea typeface="Microsoft YaHei"/>
                <a:cs typeface="Microsoft YaHei"/>
              </a:rPr>
              <a:t>交叉：主动跨学科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0" y="3383280"/>
            <a:ext cx="4754880" cy="914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摩擦学 × 控制 × 材料 × 信息；与数学、物理、材料学院合作；关注半导体、机器人等新需求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" y="4434840"/>
            <a:ext cx="5532120" cy="146304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12648" y="4572000"/>
            <a:ext cx="457200" cy="457200"/>
          </a:xfrm>
          <a:prstGeom prst="ellipse">
            <a:avLst/>
          </a:prstGeom>
          <a:solidFill>
            <a:srgbClr val="009E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88720" y="4526280"/>
            <a:ext cx="475488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450" b="1" i="0">
                <a:solidFill>
                  <a:srgbClr val="122E55"/>
                </a:solidFill>
                <a:latin typeface="Microsoft YaHei"/>
                <a:ea typeface="Microsoft YaHei"/>
                <a:cs typeface="Microsoft YaHei"/>
              </a:rPr>
              <a:t>转化：以“可用”为目标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88720" y="4983480"/>
            <a:ext cx="4754880" cy="914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成果形态可以是模型/软件/标准/测试方法，不必都是“产品”；与企业共同定义验收指标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172200" y="4434840"/>
            <a:ext cx="5532120" cy="146304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6281928" y="4572000"/>
            <a:ext cx="457200" cy="457200"/>
          </a:xfrm>
          <a:prstGeom prst="ellipse">
            <a:avLst/>
          </a:prstGeom>
          <a:solidFill>
            <a:srgbClr val="F2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1" i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0" y="4526280"/>
            <a:ext cx="475488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450" b="1" i="0">
                <a:solidFill>
                  <a:srgbClr val="122E55"/>
                </a:solidFill>
                <a:latin typeface="Microsoft YaHei"/>
                <a:ea typeface="Microsoft YaHei"/>
                <a:cs typeface="Microsoft YaHei"/>
              </a:rPr>
              <a:t>视野：关注国际前沿与标准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0" y="4983480"/>
            <a:ext cx="4754880" cy="914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跟踪 CIRP、ASPE、euspen、ISO/TC 等；积极参与国际学术共同体与标准组织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5720"/>
          </a:xfrm>
          <a:prstGeom prst="rect">
            <a:avLst/>
          </a:prstGeom>
          <a:solidFill>
            <a:srgbClr val="009E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950976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总结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21792"/>
            <a:ext cx="969264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0" i="0">
                <a:solidFill>
                  <a:srgbClr val="DDF4F8"/>
                </a:solidFill>
                <a:latin typeface="Microsoft YaHei"/>
                <a:ea typeface="Microsoft YaHei"/>
                <a:cs typeface="Microsoft YaHei"/>
              </a:rPr>
              <a:t>三句话带走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82735" y="201168"/>
            <a:ext cx="265176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1200" b="0" i="0">
                <a:solidFill>
                  <a:srgbClr val="8D99AE"/>
                </a:solidFill>
                <a:latin typeface="Microsoft YaHei"/>
                <a:ea typeface="Microsoft YaHei"/>
                <a:cs typeface="Microsoft YaHei"/>
              </a:rPr>
              <a:t>第五部分 · 趋势与建议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6419088"/>
            <a:ext cx="11185855" cy="0"/>
          </a:xfrm>
          <a:prstGeom prst="line">
            <a:avLst/>
          </a:prstGeom>
          <a:ln w="9525">
            <a:solidFill>
              <a:srgbClr val="D9DE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2920" y="6446520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000" b="0" i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先进制造装备关键零部件研发及前沿技术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17175" y="6446520"/>
            <a:ext cx="13716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1000" b="0" i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57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234440"/>
            <a:ext cx="822960" cy="1325880"/>
          </a:xfrm>
          <a:prstGeom prst="rect">
            <a:avLst/>
          </a:prstGeom>
          <a:solidFill>
            <a:srgbClr val="009E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234440"/>
            <a:ext cx="822960" cy="13258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325880" y="1234440"/>
            <a:ext cx="10362895" cy="132588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08760" y="1325880"/>
            <a:ext cx="9997135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700" b="1" i="0">
                <a:solidFill>
                  <a:srgbClr val="122E55"/>
                </a:solidFill>
                <a:latin typeface="Microsoft YaHei"/>
                <a:ea typeface="Microsoft YaHei"/>
                <a:cs typeface="Microsoft YaHei"/>
              </a:rPr>
              <a:t>关键零部件是先进制造装备的“性能之源、可靠之本”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08760" y="1783080"/>
            <a:ext cx="9997135" cy="7772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装备的精度、速度、可靠性最终由轴承、传动、驱动、控制、感知等基础零部件决定；差距的本质是材料—工艺—检测—数据的工程积累，而非单点原理。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2743200"/>
            <a:ext cx="822960" cy="1325880"/>
          </a:xfrm>
          <a:prstGeom prst="rect">
            <a:avLst/>
          </a:prstGeom>
          <a:solidFill>
            <a:srgbClr val="122E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2743200"/>
            <a:ext cx="822960" cy="13258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325880" y="2743200"/>
            <a:ext cx="10362895" cy="132588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508760" y="2834640"/>
            <a:ext cx="9997135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700" b="1" i="0">
                <a:solidFill>
                  <a:srgbClr val="122E55"/>
                </a:solidFill>
                <a:latin typeface="Microsoft YaHei"/>
                <a:ea typeface="Microsoft YaHei"/>
                <a:cs typeface="Microsoft YaHei"/>
              </a:rPr>
              <a:t>共性使能技术是突破口，也是学术界的主战场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3291840"/>
            <a:ext cx="9997135" cy="7772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超精密加工、精密装配、材料热处理、表面工程、多场耦合设计、可靠性工程、测试评价与数字化研发贯穿所有零部件，蕴含大量跨尺度、跨学科的科学问题。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4251960"/>
            <a:ext cx="822960" cy="1325880"/>
          </a:xfrm>
          <a:prstGeom prst="rect">
            <a:avLst/>
          </a:prstGeom>
          <a:solidFill>
            <a:srgbClr val="F2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4251960"/>
            <a:ext cx="822960" cy="13258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3600" b="1" i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325880" y="4251960"/>
            <a:ext cx="10362895" cy="132588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508760" y="4343400"/>
            <a:ext cx="9997135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700" b="1" i="0">
                <a:solidFill>
                  <a:srgbClr val="122E55"/>
                </a:solidFill>
                <a:latin typeface="Microsoft YaHei"/>
                <a:ea typeface="Microsoft YaHei"/>
                <a:cs typeface="Microsoft YaHei"/>
              </a:rPr>
              <a:t>前沿技术正在重塑零部件的形态与研发范式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08760" y="4800600"/>
            <a:ext cx="9997135" cy="7772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智能化、增材、非接触支承、新材料、AI、PHM、新型驱动与极端制造，使零部件从“被动机械要素”走向“主动信息物理单元”，研发从“经验试错”走向“模型与数据驱动”。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5806440"/>
            <a:ext cx="11185855" cy="457200"/>
          </a:xfrm>
          <a:prstGeom prst="rect">
            <a:avLst/>
          </a:prstGeom>
          <a:solidFill>
            <a:srgbClr val="FDF1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02920" y="5806440"/>
            <a:ext cx="73152" cy="457200"/>
          </a:xfrm>
          <a:prstGeom prst="rect">
            <a:avLst/>
          </a:prstGeom>
          <a:solidFill>
            <a:srgbClr val="F2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7512" y="5806440"/>
            <a:ext cx="10957255" cy="4572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300" b="1" i="0">
                <a:solidFill>
                  <a:srgbClr val="122E55"/>
                </a:solidFill>
                <a:latin typeface="Microsoft YaHei"/>
                <a:ea typeface="Microsoft YaHei"/>
                <a:cs typeface="Microsoft YaHei"/>
              </a:rPr>
              <a:t>“把简单的事情做到极致，就是高端” —— 零部件研发没有捷径，但有方法：机理、数据、平台与耐心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5720"/>
          </a:xfrm>
          <a:prstGeom prst="rect">
            <a:avLst/>
          </a:prstGeom>
          <a:solidFill>
            <a:srgbClr val="009E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950976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参考文献与推荐阅读（示例）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21792"/>
            <a:ext cx="969264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0" i="0">
                <a:solidFill>
                  <a:srgbClr val="DDF4F8"/>
                </a:solidFill>
                <a:latin typeface="Microsoft YaHei"/>
                <a:ea typeface="Microsoft YaHei"/>
                <a:cs typeface="Microsoft YaHei"/>
              </a:rPr>
              <a:t>报告中数据与观点的主要来源类型；请以最新版本为准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82735" y="201168"/>
            <a:ext cx="265176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1200" b="0" i="0">
                <a:solidFill>
                  <a:srgbClr val="8D99AE"/>
                </a:solidFill>
                <a:latin typeface="Microsoft YaHei"/>
                <a:ea typeface="Microsoft YaHei"/>
                <a:cs typeface="Microsoft YaHei"/>
              </a:rPr>
              <a:t>第五部分 · 趋势与建议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6419088"/>
            <a:ext cx="11185855" cy="0"/>
          </a:xfrm>
          <a:prstGeom prst="line">
            <a:avLst/>
          </a:prstGeom>
          <a:ln w="9525">
            <a:solidFill>
              <a:srgbClr val="D9DE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2920" y="6446520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000" b="0" i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先进制造装备关键零部件研发及前沿技术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17175" y="6446520"/>
            <a:ext cx="13716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1000" b="0" i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58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234440"/>
            <a:ext cx="11185855" cy="502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650" b="0" i="0">
                <a:solidFill>
                  <a:srgbClr val="009EB8"/>
                </a:solidFill>
                <a:latin typeface="Microsoft YaHei"/>
                <a:ea typeface="Microsoft YaHei"/>
                <a:cs typeface="Microsoft YaHei"/>
              </a:rPr>
              <a:t>■ </a:t>
            </a:r>
            <a:r>
              <a:rPr sz="1350" b="1" i="0">
                <a:solidFill>
                  <a:srgbClr val="122E55"/>
                </a:solidFill>
                <a:latin typeface="Microsoft YaHei"/>
                <a:ea typeface="Microsoft YaHei"/>
                <a:cs typeface="Microsoft YaHei"/>
              </a:rPr>
              <a:t>政策与规划</a:t>
            </a:r>
            <a:r>
              <a:rPr sz="135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：《中国制造 2025》（2015）；《工业强基工程实施指南（2016—2020）》；《“十四五”智能制造发展规划》（2021）；“高档数控机床与基础制造装备”科技重大专项相关总结材料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650" b="0" i="0">
                <a:solidFill>
                  <a:srgbClr val="009EB8"/>
                </a:solidFill>
                <a:latin typeface="Microsoft YaHei"/>
                <a:ea typeface="Microsoft YaHei"/>
                <a:cs typeface="Microsoft YaHei"/>
              </a:rPr>
              <a:t>■ </a:t>
            </a:r>
            <a:r>
              <a:rPr sz="1350" b="1" i="0">
                <a:solidFill>
                  <a:srgbClr val="122E55"/>
                </a:solidFill>
                <a:latin typeface="Microsoft YaHei"/>
                <a:ea typeface="Microsoft YaHei"/>
                <a:cs typeface="Microsoft YaHei"/>
              </a:rPr>
              <a:t>学术期刊</a:t>
            </a:r>
            <a:r>
              <a:rPr sz="135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：CIRP Annals – Manufacturing Technology；Precision Engineering；International Journal of Machine Tools and Manufacture；Tribology International；Mechanical Systems and Signal Processing；机械工程学报；中国机械工程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650" b="0" i="0">
                <a:solidFill>
                  <a:srgbClr val="009EB8"/>
                </a:solidFill>
                <a:latin typeface="Microsoft YaHei"/>
                <a:ea typeface="Microsoft YaHei"/>
                <a:cs typeface="Microsoft YaHei"/>
              </a:rPr>
              <a:t>■ </a:t>
            </a:r>
            <a:r>
              <a:rPr sz="1350" b="1" i="0">
                <a:solidFill>
                  <a:srgbClr val="122E55"/>
                </a:solidFill>
                <a:latin typeface="Microsoft YaHei"/>
                <a:ea typeface="Microsoft YaHei"/>
                <a:cs typeface="Microsoft YaHei"/>
              </a:rPr>
              <a:t>学术组织与会议</a:t>
            </a:r>
            <a:r>
              <a:rPr sz="135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：CIRP（国际生产工程科学院）；ASPE / euspen（精密工程）；ISO/TC 39（机床）、TC 4（滚动轴承）、TC 60（齿轮）、TC 213（产品几何技术规范）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650" b="0" i="0">
                <a:solidFill>
                  <a:srgbClr val="009EB8"/>
                </a:solidFill>
                <a:latin typeface="Microsoft YaHei"/>
                <a:ea typeface="Microsoft YaHei"/>
                <a:cs typeface="Microsoft YaHei"/>
              </a:rPr>
              <a:t>■ </a:t>
            </a:r>
            <a:r>
              <a:rPr sz="1350" b="1" i="0">
                <a:solidFill>
                  <a:srgbClr val="122E55"/>
                </a:solidFill>
                <a:latin typeface="Microsoft YaHei"/>
                <a:ea typeface="Microsoft YaHei"/>
                <a:cs typeface="Microsoft YaHei"/>
              </a:rPr>
              <a:t>行业报告</a:t>
            </a:r>
            <a:r>
              <a:rPr sz="135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：中国机床工具工业协会、中国轴承工业协会、中国机器人产业联盟年度报告；国际机器人联合会（IFR）World Robotics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650" b="0" i="0">
                <a:solidFill>
                  <a:srgbClr val="009EB8"/>
                </a:solidFill>
                <a:latin typeface="Microsoft YaHei"/>
                <a:ea typeface="Microsoft YaHei"/>
                <a:cs typeface="Microsoft YaHei"/>
              </a:rPr>
              <a:t>■ </a:t>
            </a:r>
            <a:r>
              <a:rPr sz="1350" b="1" i="0">
                <a:solidFill>
                  <a:srgbClr val="122E55"/>
                </a:solidFill>
                <a:latin typeface="Microsoft YaHei"/>
                <a:ea typeface="Microsoft YaHei"/>
                <a:cs typeface="Microsoft YaHei"/>
              </a:rPr>
              <a:t>经典著作</a:t>
            </a:r>
            <a:r>
              <a:rPr sz="135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：Harris &amp; Kotzalas, Rolling Bearing Analysis；Slocum, Precision Machine Design；Altintas, Manufacturing Automation；Schweitzer &amp; Maslen, Magnetic Bearings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650" b="0" i="0">
                <a:solidFill>
                  <a:srgbClr val="009EB8"/>
                </a:solidFill>
                <a:latin typeface="Microsoft YaHei"/>
                <a:ea typeface="Microsoft YaHei"/>
                <a:cs typeface="Microsoft YaHei"/>
              </a:rPr>
              <a:t>■ </a:t>
            </a:r>
            <a:r>
              <a:rPr sz="1350" b="1" i="0">
                <a:solidFill>
                  <a:srgbClr val="122E55"/>
                </a:solidFill>
                <a:latin typeface="Microsoft YaHei"/>
                <a:ea typeface="Microsoft YaHei"/>
                <a:cs typeface="Microsoft YaHei"/>
              </a:rPr>
              <a:t>说明</a:t>
            </a:r>
            <a:r>
              <a:rPr sz="135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：报告中的国产化率、成本占比、性能指标等为公开资料整理的大致区间，用于说明趋势，具体数值请以权威统计与最新文献为准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754880"/>
            <a:ext cx="12191695" cy="2103120"/>
          </a:xfrm>
          <a:prstGeom prst="rect">
            <a:avLst/>
          </a:prstGeom>
          <a:solidFill>
            <a:srgbClr val="122E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265615" y="457200"/>
            <a:ext cx="274320" cy="274320"/>
          </a:xfrm>
          <a:prstGeom prst="ellipse">
            <a:avLst/>
          </a:prstGeom>
          <a:solidFill>
            <a:srgbClr val="009E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677095" y="731520"/>
            <a:ext cx="274320" cy="274320"/>
          </a:xfrm>
          <a:prstGeom prst="ellipse">
            <a:avLst/>
          </a:prstGeom>
          <a:solidFill>
            <a:srgbClr val="F2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088575" y="1005840"/>
            <a:ext cx="274320" cy="274320"/>
          </a:xfrm>
          <a:prstGeom prst="ellipse">
            <a:avLst/>
          </a:prstGeom>
          <a:solidFill>
            <a:srgbClr val="009E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00055" y="1280160"/>
            <a:ext cx="274320" cy="274320"/>
          </a:xfrm>
          <a:prstGeom prst="ellipse">
            <a:avLst/>
          </a:prstGeom>
          <a:solidFill>
            <a:srgbClr val="F2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911535" y="1554480"/>
            <a:ext cx="274320" cy="274320"/>
          </a:xfrm>
          <a:prstGeom prst="ellipse">
            <a:avLst/>
          </a:prstGeom>
          <a:solidFill>
            <a:srgbClr val="009E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323015" y="1828800"/>
            <a:ext cx="274320" cy="274320"/>
          </a:xfrm>
          <a:prstGeom prst="ellipse">
            <a:avLst/>
          </a:prstGeom>
          <a:solidFill>
            <a:srgbClr val="F2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828800"/>
            <a:ext cx="10972800" cy="10972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4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谢谢！欢迎讨论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017520"/>
            <a:ext cx="1097280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2000" b="0" i="1">
                <a:solidFill>
                  <a:srgbClr val="8D99AE"/>
                </a:solidFill>
                <a:latin typeface="Microsoft YaHei"/>
                <a:ea typeface="Microsoft YaHei"/>
                <a:cs typeface="Microsoft YaHei"/>
              </a:rPr>
              <a:t>Thank you — Questions &amp; Discussion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3749039"/>
            <a:ext cx="1463040" cy="54864"/>
          </a:xfrm>
          <a:prstGeom prst="rect">
            <a:avLst/>
          </a:prstGeom>
          <a:solidFill>
            <a:srgbClr val="F2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5074920"/>
            <a:ext cx="1097280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500" b="1" i="0">
                <a:solidFill>
                  <a:srgbClr val="DDF4F8"/>
                </a:solidFill>
                <a:latin typeface="Microsoft YaHei"/>
                <a:ea typeface="Microsoft YaHei"/>
                <a:cs typeface="Microsoft YaHei"/>
              </a:rPr>
              <a:t>讨论议题建议：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5486400"/>
            <a:ext cx="10972800" cy="10972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① 您所在领域中，哪些零部件瓶颈最亟待学术界介入？    ② 产学研长期合作机制如何设计？</a:t>
            </a:r>
          </a:p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③ AI 与数字孪生在零部件研发中的边界在哪里？    ④ 极端制造需求对基础研究提出了哪些新问题？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