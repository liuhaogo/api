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43400" cy="6858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1234440"/>
            <a:ext cx="4389120" cy="43891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645920"/>
            <a:ext cx="3566160" cy="35661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1828800"/>
            <a:ext cx="3200400" cy="3200400"/>
          </a:xfrm>
          <a:prstGeom prst="ellipse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15400" y="2331720"/>
            <a:ext cx="2194560" cy="2194560"/>
          </a:xfrm>
          <a:prstGeom prst="ellipse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08960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AIR
BEARING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40280"/>
            <a:ext cx="109728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68580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6858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00B4D8"/>
                </a:solidFill>
                <a:latin typeface="Microsoft YaHei"/>
              </a:rPr>
              <a:t>Air Bearing Technology  |  原理 · 分类 · 性能 · 应用 · 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8D99AE"/>
                </a:solidFill>
                <a:latin typeface="Microsoft YaHei"/>
              </a:rPr>
              <a:t>汇报人：____________        日期：____________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6304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7276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什么是气浮轴承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6596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定义与核心思想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5176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6148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工作原理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546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气膜形成与承载机制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4048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4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5020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分类与结构形式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434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静压 / 动压，径向 / 止推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2920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13892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节流方式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53212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小孔、多孔质、狭缝、表面节流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6304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60020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57276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关键性能指标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96596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承载力、刚度、气膜厚度、稳定性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65176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78892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76148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优势与局限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1546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与其他轴承的对比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84048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97764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95020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典型应用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3434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半导体、精密机床、计量仪器等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029200"/>
            <a:ext cx="521208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16636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138928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设计要点与发展趋势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53212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关键技术与未来方向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什么是气浮轴承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Air Bearing / Gas Bearing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669280" cy="1463040"/>
          </a:xfrm>
          <a:prstGeom prst="rect">
            <a:avLst/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530352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Microsoft YaHei"/>
              </a:rPr>
              <a:t>气浮轴承是一种利用压缩气体（通常为空气）在相对运动表面之间形成一层极薄的高压气膜，以气膜压力支撑载荷、使两表面完全脱离接触的非接触式轴承。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6692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600">
                <a:solidFill>
                  <a:srgbClr val="222222"/>
                </a:solidFill>
                <a:latin typeface="Microsoft YaHei"/>
              </a:rPr>
              <a:t>润滑介质：空气 / 氮气等气体，而非润滑油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600">
                <a:solidFill>
                  <a:srgbClr val="222222"/>
                </a:solidFill>
                <a:latin typeface="Microsoft YaHei"/>
              </a:rPr>
              <a:t>气膜厚度：通常 5 ~ 30 μm，相当于头发丝直径的 1/10 左右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600">
                <a:solidFill>
                  <a:srgbClr val="222222"/>
                </a:solidFill>
                <a:latin typeface="Microsoft YaHei"/>
              </a:rPr>
              <a:t>运动副之间无固体接触 → 几乎零摩擦、零磨损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600">
                <a:solidFill>
                  <a:srgbClr val="222222"/>
                </a:solidFill>
                <a:latin typeface="Microsoft YaHei"/>
              </a:rPr>
              <a:t>最早可追溯至 19 世纪中叶，20 世纪 60 年代起随精密加工与航天需求快速发展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4206240"/>
            <a:ext cx="4572000" cy="6400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29768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导轨 / 轴（运动面）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4041648"/>
            <a:ext cx="3474720" cy="16459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18520" y="393192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icrosoft YaHei"/>
              </a:rPr>
              <a:t>气膜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377440"/>
            <a:ext cx="3474720" cy="164592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743200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气浮轴承体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365760" cy="54864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7830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7931E"/>
                </a:solidFill>
                <a:latin typeface="Microsoft YaHei"/>
              </a:rPr>
              <a:t>压缩空气进气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863840" y="3429000"/>
            <a:ext cx="274320" cy="548640"/>
          </a:xfrm>
          <a:prstGeom prst="down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8778240" y="3429000"/>
            <a:ext cx="274320" cy="548640"/>
          </a:xfrm>
          <a:prstGeom prst="down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9692640" y="3429000"/>
            <a:ext cx="274320" cy="548640"/>
          </a:xfrm>
          <a:prstGeom prst="down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10607040" y="3429000"/>
            <a:ext cx="274320" cy="548640"/>
          </a:xfrm>
          <a:prstGeom prst="down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98348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Microsoft YaHei"/>
              </a:rPr>
              <a:t>气膜厚度 h ≈ 5 ~ 30 μm（放大示意）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工作原理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从压缩气体到稳定承载的四个环节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60320" cy="6858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2560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① 供气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5603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压缩机 / 气源提供洁净、干燥、稳压的压缩空气（典型 0.3 ~ 0.6 MPa）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10128" y="1874519"/>
            <a:ext cx="237744" cy="320040"/>
          </a:xfrm>
          <a:prstGeom prst="right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1691640"/>
            <a:ext cx="2560320" cy="6858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91640"/>
            <a:ext cx="2560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② 节流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68880"/>
            <a:ext cx="25603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气体经节流器（小孔 / 多孔质等）降压后进入轴承间隙，节流器是产生刚度的关键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44768" y="1874519"/>
            <a:ext cx="237744" cy="320040"/>
          </a:xfrm>
          <a:prstGeom prst="right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2560320" cy="6858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2560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③ 成膜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5603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气体在间隙内形成压力分布，向四周排出；压力积分即承载力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79408" y="1874519"/>
            <a:ext cx="237744" cy="320040"/>
          </a:xfrm>
          <a:prstGeom prst="rightArrow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691640"/>
            <a:ext cx="2560320" cy="6858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691640"/>
            <a:ext cx="2560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④ 自平衡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5603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载荷↑ → 间隙↓ → 排气阻力↑ → 气膜压力↑ → 恢复平衡，形成刚度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4526280"/>
            <a:ext cx="4572000" cy="82296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0160" y="5239512"/>
            <a:ext cx="4572000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4114800"/>
            <a:ext cx="274320" cy="4114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40233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7931E"/>
                </a:solidFill>
                <a:latin typeface="Microsoft YaHei"/>
              </a:rPr>
              <a:t>节流孔 Ps</a:t>
            </a:r>
          </a:p>
        </p:txBody>
      </p:sp>
      <p:sp>
        <p:nvSpPr>
          <p:cNvPr id="29" name="Isosceles Triangle 28"/>
          <p:cNvSpPr/>
          <p:nvPr/>
        </p:nvSpPr>
        <p:spPr>
          <a:xfrm rot="10800000">
            <a:off x="1280160" y="5715000"/>
            <a:ext cx="4572000" cy="365760"/>
          </a:xfrm>
          <a:prstGeom prst="triangle">
            <a:avLst/>
          </a:prstGeom>
          <a:solidFill>
            <a:srgbClr val="CAF0F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099048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Microsoft YaHei"/>
              </a:rPr>
              <a:t>气膜压力分布 p(x)：中心高、边缘降至大气压 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520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气膜压力分布示意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840480"/>
            <a:ext cx="493776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承载力 W = ∫(p − Pa) dA，与供气压力、承载面积成正比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刚度 K = −dW/dh，取决于节流器与间隙的匹配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气体可压缩，设计不当会产生“气锤”自激振动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理论基础：雷诺方程（Reynolds Equation）+ 气体状态方程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分类与结构形式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按气膜压力来源分为静压、动压两大类；按承载方向分为径向、止推等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73152" cy="2286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Microsoft YaHei"/>
              </a:rPr>
              <a:t>静压气浮轴承（Aerostatic）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12064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• 依靠外部气源供气，在轴承间隙内建立压力
• 静止状态即可承载，启停无磨损
• 刚度和承载力可通过供气压力调节
• 需配套气源、过滤与稳压系统
• 应用：精密机床、测量仪器、光刻机工件台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9164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91640"/>
            <a:ext cx="73152" cy="22860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Microsoft YaHei"/>
              </a:rPr>
              <a:t>动压气浮轴承（Aerodynamic）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8463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• 依靠表面高速相对运动将气体“楔入”间隙形成动压
• 无需外部气源，结构简单、自给自足
• 低速启停时存在干摩擦，需耐磨涂层
• 典型结构：箔片轴承、螺旋槽轴承
• 应用：涡轮增压器、空气循环机、高速鼓风机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Microsoft YaHei"/>
              </a:rPr>
              <a:t>按承载方向 / 结构形式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2011680" cy="1600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08760" y="47091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径向轴承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Microsoft YaHei"/>
              </a:rPr>
              <a:t>承受径向载荷
支撑旋转主轴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572000"/>
            <a:ext cx="2011680" cy="1600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03320" y="47091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52120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止推轴承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532120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Microsoft YaHei"/>
              </a:rPr>
              <a:t>承受轴向载荷
圆盘 / 环形结构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572000"/>
            <a:ext cx="2011680" cy="1600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97880" y="47091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52120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球面轴承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532120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Microsoft YaHei"/>
              </a:rPr>
              <a:t>多自由度支撑
自动调心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572000"/>
            <a:ext cx="2011680" cy="1600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92440" y="47091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52120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平面导轨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532120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Microsoft YaHei"/>
              </a:rPr>
              <a:t>直线运动导向
气浮工作台 / 平台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4572000"/>
            <a:ext cx="2011680" cy="1600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87000" y="47091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52120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多孔质轴承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532120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Microsoft YaHei"/>
              </a:rPr>
              <a:t>整面均匀出气
刚度高、抗气锤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节流方式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节流器决定了静压气浮轴承的刚度、承载力与稳定性，是设计的核心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260604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64792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小孔节流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Orifice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697480"/>
            <a:ext cx="1783080" cy="6858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383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3474720"/>
            <a:ext cx="1783080" cy="2743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65960" y="2697480"/>
            <a:ext cx="137160" cy="6858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在轴承面加工 φ0.1 ~ 0.3 mm 的小孔，气体经小孔降压进入间隙。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120640"/>
            <a:ext cx="233172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22402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结构简单、成本低；刚度中等；需防止气锤振动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1691640"/>
            <a:ext cx="2606040" cy="82296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764792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多孔质节流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14884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Porous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697480"/>
            <a:ext cx="1783080" cy="6858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1920" y="3383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3474720"/>
            <a:ext cx="1783080" cy="2743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1648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272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72584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82896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93208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3832" y="3200400"/>
            <a:ext cx="73152" cy="18288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38862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采用多孔石墨、烧结金属或陶瓷作为轴承面，气体从整个表面均匀渗出。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120640"/>
            <a:ext cx="233172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5166360"/>
            <a:ext cx="22402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刚度高、承载均匀、抗气锤能力强；渗透率一致性要求高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1691640"/>
            <a:ext cx="260604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1764792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狭缝节流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14884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Slot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2697480"/>
            <a:ext cx="1783080" cy="6858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20840" y="3383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20840" y="3474720"/>
            <a:ext cx="1783080" cy="2743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40880" y="2697480"/>
            <a:ext cx="54864" cy="6858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29016" y="2697480"/>
            <a:ext cx="54864" cy="6858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8862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通过环形或条形狭缝供气，气体沿缝隙分布进入间隙。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5120640"/>
            <a:ext cx="233172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166360"/>
            <a:ext cx="22402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出气均匀、承载力大；加工难度较高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98280" y="1691640"/>
            <a:ext cx="2606040" cy="82296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1764792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表面节流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214884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Surface-Restricted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2697480"/>
            <a:ext cx="1783080" cy="6858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09760" y="3383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09760" y="3474720"/>
            <a:ext cx="1783080" cy="2743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32720" y="2697480"/>
            <a:ext cx="109728" cy="54864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84080" y="3246120"/>
            <a:ext cx="1234440" cy="9144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38862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利用轴承面上极浅的均压槽或微结构进行节流。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5120640"/>
            <a:ext cx="233172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5166360"/>
            <a:ext cx="22402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耗气量小、稳定性好；对加工精度要求极高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关键性能指标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评价气浮轴承的主要参数及影响因素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2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承载力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202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Load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气膜压力对承载面积的积分。
影响因素：供气压力、有效承载面积、节流方式。
典型值：0.1 ~ 0.5 MPa × 有效面积。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69164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856232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刚度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202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Stiffness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33172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单位位移所需的载荷变化量，决定抗扰动能力。
典型值：10 ~ 500 N/μm。
多孔质 &gt; 狭缝 &gt; 小孔。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9164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56232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气膜厚度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9202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Film Thickness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3172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一般 5 ~ 30 μm。过厚刚度下降、耗气量增加；
过薄易碰磨。设计常取最大刚度点对应间隙。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4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3520440" cy="7315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42232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耗气量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Air Consumption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决定气源成本与噪声。
与间隙三次方成正比（h³），对间隙极为敏感。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97764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977640"/>
            <a:ext cx="3520440" cy="7315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142232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运动精度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Motion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61772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气膜的均化效应可使运动误差小于零件加工误差。
回转精度可达 10 ~ 50 nm，直线度可达亚微米。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97764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977640"/>
            <a:ext cx="3520440" cy="7315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142232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稳定性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Stability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61772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需避免“气锤”自激振动及高速涡动。
措施：减小气腔容积、采用多孔质节流、增加阻尼。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核心优势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为什么高端装备选择气浮轴承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08 / 16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极高精度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4884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气膜均化效应，回转误差可达纳米级，远优于滚动轴承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916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零摩擦 零磨损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14884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非接触运行，无静摩擦、无爬行，寿命几乎无限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20040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15468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高速性能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61188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气体黏度低，发热小，适合超高转速（可达数十万 rpm）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20040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00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15468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洁净无污染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1188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无油润滑，适用于洁净室、真空、食品与医疗环境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66344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61772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低振动 低噪声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07492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无滚动体，运行平稳，振动量级极低</a:t>
            </a:r>
          </a:p>
        </p:txBody>
      </p:sp>
      <p:sp>
        <p:nvSpPr>
          <p:cNvPr id="29" name="Oval 28"/>
          <p:cNvSpPr/>
          <p:nvPr/>
        </p:nvSpPr>
        <p:spPr>
          <a:xfrm>
            <a:off x="6355080" y="466344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6634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61772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宽温度范围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07492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气体黏度随温度变化小，极端温度下仍可工作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局限与挑战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应用气浮轴承需要面对的现实问题及应对思路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09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局限 / 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691640"/>
            <a:ext cx="42062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169164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原因说明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4290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91640"/>
            <a:ext cx="3429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应对措施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48840"/>
            <a:ext cx="292608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148840"/>
            <a:ext cx="420624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48840"/>
            <a:ext cx="342900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1488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承载力与刚度相对较低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4884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气体黏度仅为油的约 1/1000，同尺寸下承载能力远低于液体静压轴承。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48840"/>
            <a:ext cx="32461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增大承载面积、提高供气压力、采用多孔质或真空预载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2971800"/>
            <a:ext cx="4206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971800"/>
            <a:ext cx="34290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依赖洁净稳定的气源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7180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需要压缩机、干燥器、多级过滤与稳压装置，系统复杂度与运行成本增加。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971800"/>
            <a:ext cx="32461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配置 0.01 μm 级过滤、精密减压阀、储气罐缓冲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94760"/>
            <a:ext cx="292608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3794760"/>
            <a:ext cx="420624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947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加工与装配精度要求极高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79476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间隙仅十余微米，零件平面度、圆度需达到亚微米级。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94760"/>
            <a:ext cx="32461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超精密磨削 / 研磨 / 刮研，恒温装配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61772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4617720"/>
            <a:ext cx="4206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617720"/>
            <a:ext cx="34290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61772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稳定性问题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61772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气体可压缩性导致气锤振动；高速动压轴承存在半速涡动。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617720"/>
            <a:ext cx="32461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优化节流参数、减小气腔容积、增加阻尼结构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440680"/>
            <a:ext cx="292608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49039" y="5440680"/>
            <a:ext cx="420624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5440680"/>
            <a:ext cx="342900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44068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断气风险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44068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Microsoft YaHei"/>
              </a:rPr>
              <a:t>一旦供气中断轴承即刻接触，可能造成划伤或抱死。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440680"/>
            <a:ext cx="32461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设置备用气源、断气报警、耐磨涂层保护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与其他轴承的对比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气浮轴承 vs 滚动轴承 vs 液体静压轴承 vs 磁悬浮轴承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10 /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91640"/>
          <a:ext cx="10744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77440"/>
                <a:gridCol w="2103120"/>
                <a:gridCol w="2194560"/>
                <a:gridCol w="2331720"/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对比项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气浮轴承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滚动轴承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液体静压轴承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磁悬浮轴承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摩擦 / 磨损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几乎为零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存在滚动摩擦与磨损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极低（液膜）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回转精度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★★★★★  (nm 级)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★★☆☆☆  (μm 级)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★★★★☆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★★★☆☆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承载力 / 刚度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较低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很高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中等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极限转速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很高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中等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中等（发热）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很高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洁净度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无油，洁净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需润滑脂 / 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有油污染风险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洁净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辅助系统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气源 + 过滤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液压站 + 冷却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控制器 + 传感器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成本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中高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低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很高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典型场景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Microsoft YaHei"/>
                        </a:rPr>
                        <a:t>光刻机、测量机、精密主轴</a:t>
                      </a:r>
                    </a:p>
                  </a:txBody>
                  <a:tcPr anchor="ctr" marL="73152" marR="73152"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通用机械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重型精密机床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高速透平、飞轮储能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典型应用领域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凡是追求“极致精度、极高转速、绝对洁净”的场合，几乎都有气浮轴承的身影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260604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半导体装备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光刻机工件台 / 掩模台、晶圆检测、划片机主轴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691640"/>
            <a:ext cx="260604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691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超精密机床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14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金刚石车床、超精密磨床、非球面加工主轴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2606040" cy="6858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精密计量仪器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三坐标测量机（CMM）、圆度仪、轮廓仪、激光干涉台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691640"/>
            <a:ext cx="2606040" cy="6858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691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高速旋转机械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14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涡轮增压器、空气循环机、高速电主轴、牙科手机（50 万 rpm）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977640"/>
            <a:ext cx="260604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77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航空航天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00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惯性导航陀螺、卫星姿控飞轮、低温透平膨胀机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977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20440" y="3977640"/>
            <a:ext cx="260604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977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电子与信息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800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硬盘磁头（动压气膜）、PCB 钻孔主轴、晶圆搬运机器人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977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977640"/>
            <a:ext cx="2606040" cy="6858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977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医疗与科研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800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CT 旋转机架、显微镜载物台、同步辐射光束线精密平台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3977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280" y="3977640"/>
            <a:ext cx="2606040" cy="6858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977640"/>
            <a:ext cx="2606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能源与低温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800600"/>
            <a:ext cx="2331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氦气透平、LNG 膨胀机、燃料电池空压机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应用聚焦：光刻机气浮工件台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气浮轴承在超精密运动系统中的典型集成方案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5486400" cy="82296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5486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花岗岩基座（平面度 &lt; 1 μm）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4681728"/>
            <a:ext cx="3657600" cy="16459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3566160"/>
            <a:ext cx="3657600" cy="1115568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3657600" cy="11155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气浮滑块 / 工件台
（底部多个气浮垫 + 真空预载）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017520"/>
            <a:ext cx="2560320" cy="54864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01752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晶圆 / 掩模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914400" y="3931920"/>
            <a:ext cx="731520" cy="365760"/>
          </a:xfrm>
          <a:prstGeom prst="left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486400" y="3931920"/>
            <a:ext cx="731520" cy="365760"/>
          </a:xfrm>
          <a:prstGeom prst="right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3774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Microsoft YaHei"/>
              </a:rPr>
              <a:t>直线电机驱动 + 激光干涉仪 / 光栅反馈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6177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Microsoft YaHei"/>
              </a:rPr>
              <a:t>气膜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48463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需求：纳米级定位精度 + 米/秒级高速扫描 + 洁净无尘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方案：静压气浮垫承载，真空预载提高刚度、消除间隙漂移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导向：花岗岩导轨 + 多组气浮垫形成闭环约束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驱动：直线电机非接触驱动，与气浮轴承配合实现“全非接触”运动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反馈：双频激光干涉仪，分辨率 &lt; 1 nm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8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400">
                <a:solidFill>
                  <a:srgbClr val="222222"/>
                </a:solidFill>
                <a:latin typeface="Microsoft YaHei"/>
              </a:rPr>
              <a:t>效果：重复定位精度 ±几 nm，无磨损、无爬行、使用寿命长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设计要点与关键技术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一套可靠的气浮轴承系统 = 结构设计 + 加工工艺 + 气源保障 + 仿真验证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520440" cy="2103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74520"/>
            <a:ext cx="109728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013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结构参数设计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间隙、节流孔径 / 数量、气腔容积的匹配优化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最大刚度点设计，兼顾耗气量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预载方式：重力 / 真空 / 磁力 / 对置轴承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520440" cy="2103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874520"/>
            <a:ext cx="109728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8013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材料选择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3172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轴承体：铝合金、不锈钢、陶瓷、多孔石墨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导轨：花岗岩、陶瓷、硬质合金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考虑热膨胀匹配与耐磨性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520440" cy="2103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74520"/>
            <a:ext cx="109728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8013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超精密加工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平面度 / 圆度 ≤ 0.5 μm，表面粗糙度 Ra ≤ 0.1 μm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小孔微细加工（激光 / 电火花）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多孔质材料渗透率的均匀性控制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40"/>
            <a:ext cx="3520440" cy="2103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160520"/>
            <a:ext cx="109728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0873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气源系统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1772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多级过滤（≤ 0.01 μm）+ 冷冻 / 吸附干燥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精密减压稳压，压力波动 &lt; 1%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储气罐缓冲、断气保护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977640"/>
            <a:ext cx="3520440" cy="2103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160520"/>
            <a:ext cx="109728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0873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仿真与试验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61772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CFD / 雷诺方程求解压力分布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刚度、承载、稳定性（气锤）分析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电容测微 / 激光干涉测试气膜厚度与刚度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977640"/>
            <a:ext cx="3520440" cy="2103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4160520"/>
            <a:ext cx="109728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0873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集成与控制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2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与直线电机、光栅 / 干涉仪的集成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热管理与环境控制（恒温 ±0.1 ℃）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600">
                <a:solidFill>
                  <a:srgbClr val="00B4D8"/>
                </a:solidFill>
                <a:latin typeface="Microsoft YaHei"/>
              </a:rPr>
              <a:t>■ </a:t>
            </a:r>
            <a:r>
              <a:rPr sz="1200">
                <a:solidFill>
                  <a:srgbClr val="222222"/>
                </a:solidFill>
                <a:latin typeface="Microsoft YaHei"/>
              </a:rPr>
              <a:t>主动控制气浮轴承（可变节流）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发展趋势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气浮轴承技术的未来方向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14 / 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2103120"/>
            <a:ext cx="0" cy="402336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5568" y="1938528"/>
            <a:ext cx="329184" cy="32918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82880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更高刚度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多孔质 + 真空预载、复合节流、主动控制气浮轴承，突破气浮刚度瓶颈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2651760"/>
            <a:ext cx="329184" cy="32918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542032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智能化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42032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内置压力 / 位移传感器，实时监测气膜状态，实现故障预警与自适应调节</a:t>
            </a:r>
          </a:p>
        </p:txBody>
      </p:sp>
      <p:sp>
        <p:nvSpPr>
          <p:cNvPr id="16" name="Oval 15"/>
          <p:cNvSpPr/>
          <p:nvPr/>
        </p:nvSpPr>
        <p:spPr>
          <a:xfrm>
            <a:off x="1115568" y="3364992"/>
            <a:ext cx="329184" cy="32918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255264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新材料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55264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多孔陶瓷、碳纤维复合材料、新型多孔石墨，提升刚度、减轻重量、降低热变形</a:t>
            </a:r>
          </a:p>
        </p:txBody>
      </p:sp>
      <p:sp>
        <p:nvSpPr>
          <p:cNvPr id="19" name="Oval 18"/>
          <p:cNvSpPr/>
          <p:nvPr/>
        </p:nvSpPr>
        <p:spPr>
          <a:xfrm>
            <a:off x="1115568" y="4078224"/>
            <a:ext cx="329184" cy="32918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968496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集成化 / 模块化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68496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气浮轴承与直线电机、光栅尺一体化设计，形成标准化气浮运动模组</a:t>
            </a:r>
          </a:p>
        </p:txBody>
      </p:sp>
      <p:sp>
        <p:nvSpPr>
          <p:cNvPr id="22" name="Oval 21"/>
          <p:cNvSpPr/>
          <p:nvPr/>
        </p:nvSpPr>
        <p:spPr>
          <a:xfrm>
            <a:off x="1115568" y="4791456"/>
            <a:ext cx="329184" cy="32918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4681728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动压箔片轴承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81728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面向无油透平机械（燃料电池空压机、微型燃气轮机）的高温高速箔片轴承</a:t>
            </a:r>
          </a:p>
        </p:txBody>
      </p:sp>
      <p:sp>
        <p:nvSpPr>
          <p:cNvPr id="25" name="Oval 24"/>
          <p:cNvSpPr/>
          <p:nvPr/>
        </p:nvSpPr>
        <p:spPr>
          <a:xfrm>
            <a:off x="1115568" y="5504688"/>
            <a:ext cx="329184" cy="32918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539496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数字化设计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39496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多物理场耦合仿真、数字孪生与 AI 优化，缩短研发周期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D99AE"/>
                </a:solidFill>
                <a:latin typeface="Microsoft YaHei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463040" cy="7315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原理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554480"/>
            <a:ext cx="905256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压缩气体在微米级间隙内形成气膜，以压力支撑载荷，实现完全非接触运动。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68880"/>
            <a:ext cx="1463040" cy="7315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468880"/>
            <a:ext cx="905256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468880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静压（外部供气）与动压（自生压力）两大类；径向、止推、平面导轨等多种结构。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1463040" cy="7315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特点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383280"/>
            <a:ext cx="905256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383280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极高精度、零摩擦零磨损、高速洁净；但承载刚度较低、依赖气源、加工要求高。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1463040" cy="7315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应用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297680"/>
            <a:ext cx="905256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4297680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半导体光刻、超精密机床、精密计量、高速旋转机械、航空航天等高端领域的关键部件。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12080"/>
            <a:ext cx="1463040" cy="7315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趋势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212080"/>
            <a:ext cx="905256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5212080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高刚度化、智能化、新材料、模块化集成与数字化设计。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210312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00B4D8"/>
                </a:solidFill>
                <a:latin typeface="Microsoft YaHei"/>
              </a:rPr>
              <a:t>Thank You  |  欢迎交流与指正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8D99AE"/>
                </a:solidFill>
                <a:latin typeface="Microsoft YaHei"/>
              </a:rPr>
              <a:t>气浮轴承技术介绍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